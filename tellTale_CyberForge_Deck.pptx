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Behaviour</c:v>
                </c:pt>
              </c:strCache>
            </c:strRef>
          </c:tx>
          <c:spPr>
            <a:solidFill>
              <a:srgbClr val="009A65"/>
            </a:solidFill>
            <a:ln w="50800" cap="flat">
              <a:solidFill>
                <a:srgbClr val="009A6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9A65"/>
              </a:solidFill>
              <a:ln w="9525" cap="flat">
                <a:solidFill>
                  <a:srgbClr val="009A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</c:v>
                </c:pt>
                <c:pt idx="1">
                  <c:v>10.4</c:v>
                </c:pt>
                <c:pt idx="2">
                  <c:v>9.8</c:v>
                </c:pt>
                <c:pt idx="3">
                  <c:v>10.5</c:v>
                </c:pt>
                <c:pt idx="4">
                  <c:v>10</c:v>
                </c:pt>
                <c:pt idx="5">
                  <c:v>10.3</c:v>
                </c:pt>
                <c:pt idx="6">
                  <c:v>9.9</c:v>
                </c:pt>
                <c:pt idx="7">
                  <c:v>10.2</c:v>
                </c:pt>
                <c:pt idx="8">
                  <c:v>10.1</c:v>
                </c:pt>
                <c:pt idx="9">
                  <c:v>10.6</c:v>
                </c:pt>
                <c:pt idx="10">
                  <c:v>11.5</c:v>
                </c:pt>
                <c:pt idx="11">
                  <c:v>13.5</c:v>
                </c:pt>
                <c:pt idx="12">
                  <c:v>17</c:v>
                </c:pt>
                <c:pt idx="13">
                  <c:v>22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9248" y="27432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38160" y="2743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A65"/>
                </a:solidFill>
              </a:rPr>
              <a:t>tellTale</a:t>
            </a:r>
            <a:endParaRPr lang="en-US" sz="15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91640" y="868680"/>
            <a:ext cx="3840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057400"/>
            <a:ext cx="4572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chart" Target="../charts/chart1.xml"/><Relationship Id="rId5" Type="http://schemas.openxmlformats.org/officeDocument/2006/relationships/image" Target="../media/image-1-4.png"/><Relationship Id="rId6" Type="http://schemas.openxmlformats.org/officeDocument/2006/relationships/image" Target="../media/image-1-5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Relationship Id="rId11" Type="http://schemas.openxmlformats.org/officeDocument/2006/relationships/image" Target="../media/image1.png"/><Relationship Id="rId12" Type="http://schemas.openxmlformats.org/officeDocument/2006/relationships/image" Target="../media/image2.png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2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Relationship Id="rId15" Type="http://schemas.openxmlformats.org/officeDocument/2006/relationships/image" Target="../media/image3.png"/><Relationship Id="rId16" Type="http://schemas.openxmlformats.org/officeDocument/2006/relationships/image" Target="../media/image4.png"/><Relationship Id="rId17" Type="http://schemas.openxmlformats.org/officeDocument/2006/relationships/image" Target="../media/image5.png"/><Relationship Id="rId18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hyperlink" Target="https://www.sei.cmu.edu/library/insider-threat-test-dataset/" TargetMode="External"/><Relationship Id="rId6" Type="http://schemas.openxmlformats.org/officeDocument/2006/relationships/image" Target="../media/image-18-5.png"/><Relationship Id="rId7" Type="http://schemas.openxmlformats.org/officeDocument/2006/relationships/hyperlink" Target="https://www.ieee-security.org/TC/SPW2013/papers/data/5017a098.pdf" TargetMode="External"/><Relationship Id="rId8" Type="http://schemas.openxmlformats.org/officeDocument/2006/relationships/image" Target="../media/image-18-6.png"/><Relationship Id="rId9" Type="http://schemas.openxmlformats.org/officeDocument/2006/relationships/hyperlink" Target="https://users.cs.utah.edu/~lifeifei/papers/deeplog.pdf" TargetMode="External"/><Relationship Id="rId10" Type="http://schemas.openxmlformats.org/officeDocument/2006/relationships/image" Target="../media/image-18-7.png"/><Relationship Id="rId11" Type="http://schemas.openxmlformats.org/officeDocument/2006/relationships/hyperlink" Target="https://arxiv.org/abs/2302.12173" TargetMode="External"/><Relationship Id="rId12" Type="http://schemas.openxmlformats.org/officeDocument/2006/relationships/image" Target="../media/image-18-8.png"/><Relationship Id="rId13" Type="http://schemas.openxmlformats.org/officeDocument/2006/relationships/hyperlink" Target="https://arxiv.org/abs/2005.12433" TargetMode="External"/><Relationship Id="rId14" Type="http://schemas.openxmlformats.org/officeDocument/2006/relationships/image" Target="../media/image-18-9.png"/><Relationship Id="rId15" Type="http://schemas.openxmlformats.org/officeDocument/2006/relationships/hyperlink" Target="https://attack.mitre.org" TargetMode="External"/><Relationship Id="rId16" Type="http://schemas.openxmlformats.org/officeDocument/2006/relationships/image" Target="../media/image-18-10.png"/><Relationship Id="rId17" Type="http://schemas.openxmlformats.org/officeDocument/2006/relationships/hyperlink" Target="https://schema.ocsf.io" TargetMode="External"/><Relationship Id="rId18" Type="http://schemas.openxmlformats.org/officeDocument/2006/relationships/image" Target="../media/image-18-11.png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6868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691640" y="8686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tellTale</a:t>
            </a:r>
            <a:endParaRPr lang="en-US" sz="5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0574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Finds compromised and insider accounts by noticing when their behaviour starts to change, and includes a work-time module for HR teams.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3154680"/>
            <a:ext cx="4206240" cy="640080"/>
          </a:xfrm>
          <a:prstGeom prst="roundRect">
            <a:avLst>
              <a:gd name="adj" fmla="val 11429"/>
            </a:avLst>
          </a:prstGeom>
          <a:solidFill>
            <a:srgbClr val="009A65"/>
          </a:solidFill>
          <a:ln/>
        </p:spPr>
      </p:sp>
      <p:sp>
        <p:nvSpPr>
          <p:cNvPr id="6" name="Shape 3"/>
          <p:cNvSpPr/>
          <p:nvPr/>
        </p:nvSpPr>
        <p:spPr>
          <a:xfrm>
            <a:off x="658368" y="328269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40" y="3374868"/>
            <a:ext cx="199705" cy="19970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52144" y="3200400"/>
            <a:ext cx="3511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Purple Crocs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Aarav Gupta and Aankhi Roy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3931920"/>
            <a:ext cx="4206240" cy="548640"/>
          </a:xfrm>
          <a:prstGeom prst="roundRect">
            <a:avLst>
              <a:gd name="adj" fmla="val 13333"/>
            </a:avLst>
          </a:prstGeom>
          <a:solidFill>
            <a:srgbClr val="DBEAFE"/>
          </a:solidFill>
          <a:ln/>
        </p:spPr>
      </p:sp>
      <p:sp>
        <p:nvSpPr>
          <p:cNvPr id="10" name="Shape 6"/>
          <p:cNvSpPr/>
          <p:nvPr/>
        </p:nvSpPr>
        <p:spPr>
          <a:xfrm>
            <a:off x="658368" y="4014216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540" y="4106388"/>
            <a:ext cx="199705" cy="19970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52144" y="397764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CyberForge by Mitigata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Theme: AI and Cybersecurity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212080" y="868680"/>
            <a:ext cx="3474720" cy="3611880"/>
          </a:xfrm>
          <a:prstGeom prst="roundRect">
            <a:avLst>
              <a:gd name="adj" fmla="val 2632"/>
            </a:avLst>
          </a:prstGeom>
          <a:solidFill>
            <a:srgbClr val="ECFDF5"/>
          </a:solidFill>
          <a:ln/>
        </p:spPr>
      </p:sp>
      <p:graphicFrame>
        <p:nvGraphicFramePr>
          <p:cNvPr id="14" name="Chart 0" descr=""/>
          <p:cNvGraphicFramePr/>
          <p:nvPr/>
        </p:nvGraphicFramePr>
        <p:xfrm>
          <a:off x="5349240" y="914400"/>
          <a:ext cx="32004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Text 9"/>
          <p:cNvSpPr txBox="1"/>
          <p:nvPr/>
        </p:nvSpPr>
        <p:spPr>
          <a:xfrm>
            <a:off x="5440680" y="248716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 routine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6858000" y="248716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changes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349240" y="2816352"/>
            <a:ext cx="320040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18" name="Shape 12"/>
          <p:cNvSpPr/>
          <p:nvPr/>
        </p:nvSpPr>
        <p:spPr>
          <a:xfrm>
            <a:off x="5458968" y="2898648"/>
            <a:ext cx="292608" cy="292608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9194" y="2968874"/>
            <a:ext cx="152156" cy="15215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861304" y="2862072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part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hijacked and insider accounts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5349240" y="3364992"/>
            <a:ext cx="3200400" cy="4572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/>
        </p:spPr>
      </p:sp>
      <p:sp>
        <p:nvSpPr>
          <p:cNvPr id="22" name="Shape 15"/>
          <p:cNvSpPr/>
          <p:nvPr/>
        </p:nvSpPr>
        <p:spPr>
          <a:xfrm>
            <a:off x="5458968" y="3447288"/>
            <a:ext cx="292608" cy="292608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9194" y="3517514"/>
            <a:ext cx="152156" cy="15215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861304" y="3410712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part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time, idle time and app usage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5349240" y="3913632"/>
            <a:ext cx="320040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/>
        </p:spPr>
      </p:sp>
      <p:sp>
        <p:nvSpPr>
          <p:cNvPr id="26" name="Shape 18"/>
          <p:cNvSpPr/>
          <p:nvPr/>
        </p:nvSpPr>
        <p:spPr>
          <a:xfrm>
            <a:off x="5458968" y="3995928"/>
            <a:ext cx="292608" cy="292608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29194" y="4066154"/>
            <a:ext cx="152156" cy="152156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861304" y="3959352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one laptop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GPU, works fully offline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An example week for one engineer’s work account. Each step is allowed on its own.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463040" cy="1207008"/>
          </a:xfrm>
          <a:prstGeom prst="roundRect">
            <a:avLst>
              <a:gd name="adj" fmla="val 6061"/>
            </a:avLst>
          </a:prstGeom>
          <a:solidFill>
            <a:srgbClr val="CFFAFE"/>
          </a:solidFill>
          <a:ln/>
        </p:spPr>
      </p:sp>
      <p:sp>
        <p:nvSpPr>
          <p:cNvPr id="5" name="Shape 3"/>
          <p:cNvSpPr/>
          <p:nvPr/>
        </p:nvSpPr>
        <p:spPr>
          <a:xfrm>
            <a:off x="585216" y="1271016"/>
            <a:ext cx="310896" cy="310896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831" y="1345631"/>
            <a:ext cx="161666" cy="16166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5216" y="165506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192024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coding work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938528" y="1746504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148840" y="1143000"/>
            <a:ext cx="1463040" cy="1207008"/>
          </a:xfrm>
          <a:prstGeom prst="roundRect">
            <a:avLst>
              <a:gd name="adj" fmla="val 6061"/>
            </a:avLst>
          </a:prstGeom>
          <a:solidFill>
            <a:srgbClr val="CFFAFE"/>
          </a:solidFill>
          <a:ln/>
        </p:spPr>
      </p:sp>
      <p:sp>
        <p:nvSpPr>
          <p:cNvPr id="11" name="Shape 8"/>
          <p:cNvSpPr/>
          <p:nvPr/>
        </p:nvSpPr>
        <p:spPr>
          <a:xfrm>
            <a:off x="2276856" y="1271016"/>
            <a:ext cx="310896" cy="310896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1471" y="1345631"/>
            <a:ext cx="161666" cy="16166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76856" y="165506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276856" y="192024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 runbook outside their role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630168" y="1746504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840480" y="1143000"/>
            <a:ext cx="1463040" cy="1207008"/>
          </a:xfrm>
          <a:prstGeom prst="roundRect">
            <a:avLst>
              <a:gd name="adj" fmla="val 6061"/>
            </a:avLst>
          </a:prstGeom>
          <a:solidFill>
            <a:srgbClr val="CFFAFE"/>
          </a:solidFill>
          <a:ln/>
        </p:spPr>
      </p:sp>
      <p:sp>
        <p:nvSpPr>
          <p:cNvPr id="17" name="Shape 13"/>
          <p:cNvSpPr/>
          <p:nvPr/>
        </p:nvSpPr>
        <p:spPr>
          <a:xfrm>
            <a:off x="3968496" y="1271016"/>
            <a:ext cx="310896" cy="310896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111" y="1345631"/>
            <a:ext cx="161666" cy="16166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968496" y="165506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968496" y="192024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 another team’s code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321808" y="1746504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532120" y="1143000"/>
            <a:ext cx="1463040" cy="1207008"/>
          </a:xfrm>
          <a:prstGeom prst="roundRect">
            <a:avLst>
              <a:gd name="adj" fmla="val 6061"/>
            </a:avLst>
          </a:prstGeom>
          <a:solidFill>
            <a:srgbClr val="CFFAFE"/>
          </a:solidFill>
          <a:ln/>
        </p:spPr>
      </p:sp>
      <p:sp>
        <p:nvSpPr>
          <p:cNvPr id="23" name="Shape 18"/>
          <p:cNvSpPr/>
          <p:nvPr/>
        </p:nvSpPr>
        <p:spPr>
          <a:xfrm>
            <a:off x="5660136" y="1271016"/>
            <a:ext cx="310896" cy="310896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4751" y="1345631"/>
            <a:ext cx="161666" cy="16166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660136" y="165506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660136" y="192024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personal access key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7013448" y="1746504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7223760" y="1143000"/>
            <a:ext cx="1463040" cy="1207008"/>
          </a:xfrm>
          <a:prstGeom prst="roundRect">
            <a:avLst>
              <a:gd name="adj" fmla="val 6061"/>
            </a:avLst>
          </a:prstGeom>
          <a:solidFill>
            <a:srgbClr val="EA580C"/>
          </a:solidFill>
          <a:ln/>
        </p:spPr>
      </p:sp>
      <p:sp>
        <p:nvSpPr>
          <p:cNvPr id="29" name="Shape 23"/>
          <p:cNvSpPr/>
          <p:nvPr/>
        </p:nvSpPr>
        <p:spPr>
          <a:xfrm>
            <a:off x="7351776" y="1271016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6391" y="1345631"/>
            <a:ext cx="161666" cy="16166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51776" y="165506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351776" y="192024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the code to an outside server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1188720" y="2350008"/>
            <a:ext cx="0" cy="210312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457200" y="2560320"/>
            <a:ext cx="2560320" cy="658368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/>
        </p:spPr>
      </p:sp>
      <p:sp>
        <p:nvSpPr>
          <p:cNvPr id="35" name="Shape 28"/>
          <p:cNvSpPr/>
          <p:nvPr/>
        </p:nvSpPr>
        <p:spPr>
          <a:xfrm>
            <a:off x="566928" y="2715768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321" y="2799161"/>
            <a:ext cx="180685" cy="18068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24128" y="2606040"/>
            <a:ext cx="190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normal tool sees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separate actions, each one allowed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3035808" y="2889504"/>
            <a:ext cx="23774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9" name="Shape 31"/>
          <p:cNvSpPr/>
          <p:nvPr/>
        </p:nvSpPr>
        <p:spPr>
          <a:xfrm>
            <a:off x="3291840" y="2560320"/>
            <a:ext cx="2560320" cy="658368"/>
          </a:xfrm>
          <a:prstGeom prst="roundRect">
            <a:avLst>
              <a:gd name="adj" fmla="val 11111"/>
            </a:avLst>
          </a:prstGeom>
          <a:solidFill>
            <a:srgbClr val="FFEDD5"/>
          </a:solidFill>
          <a:ln/>
        </p:spPr>
      </p:sp>
      <p:sp>
        <p:nvSpPr>
          <p:cNvPr id="40" name="Shape 32"/>
          <p:cNvSpPr/>
          <p:nvPr/>
        </p:nvSpPr>
        <p:spPr>
          <a:xfrm>
            <a:off x="3401568" y="2715768"/>
            <a:ext cx="347472" cy="347472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4961" y="2799161"/>
            <a:ext cx="180685" cy="180685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3858768" y="2606040"/>
            <a:ext cx="190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really happened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step-by-step plan to steal code</a:t>
            </a:r>
            <a:endParaRPr lang="en-US" sz="1200" dirty="0"/>
          </a:p>
        </p:txBody>
      </p:sp>
      <p:sp>
        <p:nvSpPr>
          <p:cNvPr id="43" name="Shape 34"/>
          <p:cNvSpPr/>
          <p:nvPr/>
        </p:nvSpPr>
        <p:spPr>
          <a:xfrm>
            <a:off x="5870448" y="2889504"/>
            <a:ext cx="23774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4" name="Shape 35"/>
          <p:cNvSpPr/>
          <p:nvPr/>
        </p:nvSpPr>
        <p:spPr>
          <a:xfrm>
            <a:off x="6126480" y="2560320"/>
            <a:ext cx="2560320" cy="658368"/>
          </a:xfrm>
          <a:prstGeom prst="roundRect">
            <a:avLst>
              <a:gd name="adj" fmla="val 11111"/>
            </a:avLst>
          </a:prstGeom>
          <a:solidFill>
            <a:srgbClr val="D1FAE5"/>
          </a:solidFill>
          <a:ln/>
        </p:spPr>
      </p:sp>
      <p:sp>
        <p:nvSpPr>
          <p:cNvPr id="45" name="Shape 36"/>
          <p:cNvSpPr/>
          <p:nvPr/>
        </p:nvSpPr>
        <p:spPr>
          <a:xfrm>
            <a:off x="6236208" y="2715768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9601" y="2799161"/>
            <a:ext cx="180685" cy="180685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6693408" y="2606040"/>
            <a:ext cx="190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tellTale looks for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in direction from Monday to Thursday</a:t>
            </a:r>
            <a:endParaRPr lang="en-US" sz="1200" dirty="0"/>
          </a:p>
        </p:txBody>
      </p:sp>
      <p:sp>
        <p:nvSpPr>
          <p:cNvPr id="48" name="Text 38"/>
          <p:cNvSpPr txBox="1"/>
          <p:nvPr/>
        </p:nvSpPr>
        <p:spPr>
          <a:xfrm>
            <a:off x="457200" y="33649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 to catch</a:t>
            </a:r>
            <a:endParaRPr lang="en-US" sz="1150" dirty="0"/>
          </a:p>
        </p:txBody>
      </p:sp>
      <p:sp>
        <p:nvSpPr>
          <p:cNvPr id="49" name="Shape 39"/>
          <p:cNvSpPr/>
          <p:nvPr/>
        </p:nvSpPr>
        <p:spPr>
          <a:xfrm>
            <a:off x="457200" y="361188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FCE7F3"/>
          </a:solidFill>
          <a:ln/>
        </p:spPr>
      </p:sp>
      <p:sp>
        <p:nvSpPr>
          <p:cNvPr id="50" name="Shape 40"/>
          <p:cNvSpPr/>
          <p:nvPr/>
        </p:nvSpPr>
        <p:spPr>
          <a:xfrm>
            <a:off x="566928" y="3826764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5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321" y="3910157"/>
            <a:ext cx="180685" cy="180685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1024128" y="3657600"/>
            <a:ext cx="1901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work changes too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Promotions, transfers and 2am incidents look the same</a:t>
            </a:r>
            <a:endParaRPr lang="en-US" sz="1200" dirty="0"/>
          </a:p>
        </p:txBody>
      </p:sp>
      <p:sp>
        <p:nvSpPr>
          <p:cNvPr id="53" name="Shape 42"/>
          <p:cNvSpPr/>
          <p:nvPr/>
        </p:nvSpPr>
        <p:spPr>
          <a:xfrm>
            <a:off x="3035808" y="4000500"/>
            <a:ext cx="23774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4" name="Shape 43"/>
          <p:cNvSpPr/>
          <p:nvPr/>
        </p:nvSpPr>
        <p:spPr>
          <a:xfrm>
            <a:off x="3291840" y="361188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</p:sp>
      <p:sp>
        <p:nvSpPr>
          <p:cNvPr id="55" name="Shape 44"/>
          <p:cNvSpPr/>
          <p:nvPr/>
        </p:nvSpPr>
        <p:spPr>
          <a:xfrm>
            <a:off x="3401568" y="3826764"/>
            <a:ext cx="347472" cy="347472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5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84961" y="3910157"/>
            <a:ext cx="180685" cy="180685"/>
          </a:xfrm>
          <a:prstGeom prst="rect">
            <a:avLst/>
          </a:prstGeom>
        </p:spPr>
      </p:pic>
      <p:sp>
        <p:nvSpPr>
          <p:cNvPr id="57" name="Text 45"/>
          <p:cNvSpPr txBox="1"/>
          <p:nvPr/>
        </p:nvSpPr>
        <p:spPr>
          <a:xfrm>
            <a:off x="3858768" y="3657600"/>
            <a:ext cx="1901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theft hides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a night for 60 days never crosses a fixed daily limit</a:t>
            </a:r>
            <a:endParaRPr lang="en-US" sz="1200" dirty="0"/>
          </a:p>
        </p:txBody>
      </p:sp>
      <p:sp>
        <p:nvSpPr>
          <p:cNvPr id="58" name="Shape 46"/>
          <p:cNvSpPr/>
          <p:nvPr/>
        </p:nvSpPr>
        <p:spPr>
          <a:xfrm>
            <a:off x="5870448" y="4000500"/>
            <a:ext cx="23774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9" name="Shape 47"/>
          <p:cNvSpPr/>
          <p:nvPr/>
        </p:nvSpPr>
        <p:spPr>
          <a:xfrm>
            <a:off x="6126480" y="361188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/>
        </p:spPr>
      </p:sp>
      <p:sp>
        <p:nvSpPr>
          <p:cNvPr id="60" name="Shape 48"/>
          <p:cNvSpPr/>
          <p:nvPr/>
        </p:nvSpPr>
        <p:spPr>
          <a:xfrm>
            <a:off x="6236208" y="3826764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6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9601" y="3910157"/>
            <a:ext cx="180685" cy="180685"/>
          </a:xfrm>
          <a:prstGeom prst="rect">
            <a:avLst/>
          </a:prstGeom>
        </p:spPr>
      </p:pic>
      <p:sp>
        <p:nvSpPr>
          <p:cNvPr id="62" name="Text 49"/>
          <p:cNvSpPr txBox="1"/>
          <p:nvPr/>
        </p:nvSpPr>
        <p:spPr>
          <a:xfrm>
            <a:off x="6693408" y="3657600"/>
            <a:ext cx="1901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is slow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staff report 2 to 4 hours to investigate a single alert</a:t>
            </a:r>
            <a:endParaRPr lang="en-US" sz="1200" dirty="0"/>
          </a:p>
        </p:txBody>
      </p:sp>
      <p:sp>
        <p:nvSpPr>
          <p:cNvPr id="63" name="Text 50"/>
          <p:cNvSpPr txBox="1"/>
          <p:nvPr/>
        </p:nvSpPr>
        <p:spPr>
          <a:xfrm>
            <a:off x="457200" y="44988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 to 4 hour figure comes from practitioner reports, not our own measurement.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current tools fall short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Three gaps lead to muted alerts. Each gap maps to a tellTale fix below it.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/>
        </p:spPr>
      </p:sp>
      <p:sp>
        <p:nvSpPr>
          <p:cNvPr id="5" name="Shape 3"/>
          <p:cNvSpPr/>
          <p:nvPr/>
        </p:nvSpPr>
        <p:spPr>
          <a:xfrm>
            <a:off x="585216" y="1271016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609" y="1354409"/>
            <a:ext cx="180685" cy="1806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5216" y="169164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 at a time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195681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limits miss order and slow build-up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258568" y="1783080"/>
            <a:ext cx="32918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606040" y="114300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FCE7F3"/>
          </a:solidFill>
          <a:ln/>
        </p:spPr>
      </p:sp>
      <p:sp>
        <p:nvSpPr>
          <p:cNvPr id="11" name="Shape 8"/>
          <p:cNvSpPr/>
          <p:nvPr/>
        </p:nvSpPr>
        <p:spPr>
          <a:xfrm>
            <a:off x="2734056" y="1271016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7449" y="1354409"/>
            <a:ext cx="180685" cy="1806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34056" y="169164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business context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734056" y="195681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Tickets, on-call shifts and HR records are never checked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407408" y="1783080"/>
            <a:ext cx="32918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754880" y="114300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/>
        </p:spPr>
      </p:sp>
      <p:sp>
        <p:nvSpPr>
          <p:cNvPr id="17" name="Shape 13"/>
          <p:cNvSpPr/>
          <p:nvPr/>
        </p:nvSpPr>
        <p:spPr>
          <a:xfrm>
            <a:off x="4882896" y="1271016"/>
            <a:ext cx="347472" cy="347472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289" y="1354409"/>
            <a:ext cx="180685" cy="18068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82896" y="169164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reasons given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4882896" y="195681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score like 87 means hours of manual digging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556248" y="1783080"/>
            <a:ext cx="32918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903720" y="114300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EA580C"/>
          </a:solidFill>
          <a:ln/>
        </p:spPr>
      </p:sp>
      <p:sp>
        <p:nvSpPr>
          <p:cNvPr id="23" name="Shape 18"/>
          <p:cNvSpPr/>
          <p:nvPr/>
        </p:nvSpPr>
        <p:spPr>
          <a:xfrm>
            <a:off x="7031736" y="1271016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5129" y="1354409"/>
            <a:ext cx="180685" cy="18068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031736" y="169164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get muted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7031736" y="195681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turn the tool down and real attacks slip through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1348740" y="2423160"/>
            <a:ext cx="0" cy="22860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457200" y="265176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D1FAE5"/>
          </a:solidFill>
          <a:ln/>
        </p:spPr>
      </p:sp>
      <p:sp>
        <p:nvSpPr>
          <p:cNvPr id="29" name="Shape 23"/>
          <p:cNvSpPr/>
          <p:nvPr/>
        </p:nvSpPr>
        <p:spPr>
          <a:xfrm>
            <a:off x="585216" y="2779776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09" y="2863169"/>
            <a:ext cx="180685" cy="18068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85216" y="320040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order and drift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585216" y="346557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sequences and compares with a frozen earlier snapshot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3497580" y="2423160"/>
            <a:ext cx="0" cy="22860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2606040" y="265176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D1FAE5"/>
          </a:solidFill>
          <a:ln/>
        </p:spPr>
      </p:sp>
      <p:sp>
        <p:nvSpPr>
          <p:cNvPr id="35" name="Shape 28"/>
          <p:cNvSpPr/>
          <p:nvPr/>
        </p:nvSpPr>
        <p:spPr>
          <a:xfrm>
            <a:off x="2734056" y="2779776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7449" y="2863169"/>
            <a:ext cx="180685" cy="18068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2734056" y="320040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checks records</a:t>
            </a:r>
            <a:endParaRPr lang="en-US" sz="1200" dirty="0"/>
          </a:p>
        </p:txBody>
      </p:sp>
      <p:sp>
        <p:nvSpPr>
          <p:cNvPr id="38" name="Text 30"/>
          <p:cNvSpPr txBox="1"/>
          <p:nvPr/>
        </p:nvSpPr>
        <p:spPr>
          <a:xfrm>
            <a:off x="2734056" y="346557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tickets, on-call and HR status, and spots fakes</a:t>
            </a:r>
            <a:endParaRPr lang="en-US" sz="1050" dirty="0"/>
          </a:p>
        </p:txBody>
      </p:sp>
      <p:sp>
        <p:nvSpPr>
          <p:cNvPr id="39" name="Shape 31"/>
          <p:cNvSpPr/>
          <p:nvPr/>
        </p:nvSpPr>
        <p:spPr>
          <a:xfrm>
            <a:off x="5646420" y="2423160"/>
            <a:ext cx="0" cy="22860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4754880" y="265176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D1FAE5"/>
          </a:solidFill>
          <a:ln/>
        </p:spPr>
      </p:sp>
      <p:sp>
        <p:nvSpPr>
          <p:cNvPr id="41" name="Shape 33"/>
          <p:cNvSpPr/>
          <p:nvPr/>
        </p:nvSpPr>
        <p:spPr>
          <a:xfrm>
            <a:off x="4882896" y="2779776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6289" y="2863169"/>
            <a:ext cx="180685" cy="180685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4882896" y="320040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explains alerts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4882896" y="346557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file with every event, plus an AI assistant</a:t>
            </a:r>
            <a:endParaRPr lang="en-US" sz="1050" dirty="0"/>
          </a:p>
        </p:txBody>
      </p:sp>
      <p:sp>
        <p:nvSpPr>
          <p:cNvPr id="45" name="Shape 36"/>
          <p:cNvSpPr/>
          <p:nvPr/>
        </p:nvSpPr>
        <p:spPr>
          <a:xfrm>
            <a:off x="6556248" y="3291840"/>
            <a:ext cx="34747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6" name="Shape 37"/>
          <p:cNvSpPr/>
          <p:nvPr/>
        </p:nvSpPr>
        <p:spPr>
          <a:xfrm>
            <a:off x="6903720" y="265176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0891B2"/>
          </a:solidFill>
          <a:ln/>
        </p:spPr>
      </p:sp>
      <p:sp>
        <p:nvSpPr>
          <p:cNvPr id="47" name="Shape 38"/>
          <p:cNvSpPr/>
          <p:nvPr/>
        </p:nvSpPr>
        <p:spPr>
          <a:xfrm>
            <a:off x="7031736" y="2779776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5129" y="2863169"/>
            <a:ext cx="180685" cy="180685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7031736" y="320040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Fewer, clearer alerts</a:t>
            </a:r>
            <a:endParaRPr lang="en-US" sz="1200" dirty="0"/>
          </a:p>
        </p:txBody>
      </p:sp>
      <p:sp>
        <p:nvSpPr>
          <p:cNvPr id="50" name="Text 40"/>
          <p:cNvSpPr txBox="1"/>
          <p:nvPr/>
        </p:nvSpPr>
        <p:spPr>
          <a:xfrm>
            <a:off x="7031736" y="346557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can be checked in minutes</a:t>
            </a:r>
            <a:endParaRPr lang="en-US" sz="1050" dirty="0"/>
          </a:p>
        </p:txBody>
      </p:sp>
      <p:sp>
        <p:nvSpPr>
          <p:cNvPr id="51" name="Shape 41"/>
          <p:cNvSpPr/>
          <p:nvPr/>
        </p:nvSpPr>
        <p:spPr>
          <a:xfrm>
            <a:off x="7795260" y="3931920"/>
            <a:ext cx="0" cy="18288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2" name="Shape 42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/>
        </p:spPr>
      </p:sp>
      <p:sp>
        <p:nvSpPr>
          <p:cNvPr id="53" name="Shape 43"/>
          <p:cNvSpPr/>
          <p:nvPr/>
        </p:nvSpPr>
        <p:spPr>
          <a:xfrm>
            <a:off x="566928" y="4219956"/>
            <a:ext cx="292608" cy="292608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154" y="4290182"/>
            <a:ext cx="152156" cy="152156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969264" y="4160520"/>
            <a:ext cx="7626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target: remove at least half of a basic tool’s false alarms while still catching 90% of attacks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tools and where tellTale differs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The market is not empty. These are the main products and the gap each one leaves.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097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falls short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1097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tellTale does instead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4416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43560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5" y="1501445"/>
            <a:ext cx="142646" cy="14264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50976" y="1389888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Purview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532888" y="157276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743200" y="1344168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871216" y="1389888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inside Microsoft 365, thin on GitHub and AWS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596128" y="157276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806440" y="1344168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34456" y="138988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Okta, Google, GitHub and AWS stacks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189280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18" name="Shape 15"/>
          <p:cNvSpPr/>
          <p:nvPr/>
        </p:nvSpPr>
        <p:spPr>
          <a:xfrm>
            <a:off x="566928" y="198424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65" y="2050085"/>
            <a:ext cx="142646" cy="14264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50976" y="1938528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Exabeam, Securonix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532888" y="212140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2743200" y="1892808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2871216" y="1938528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Log-heavy setup, often 45 to 90 days before useful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596128" y="212140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5806440" y="1892808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5934456" y="193852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from 90 days of existing history on day one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457200" y="244144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28" name="Shape 24"/>
          <p:cNvSpPr/>
          <p:nvPr/>
        </p:nvSpPr>
        <p:spPr>
          <a:xfrm>
            <a:off x="566928" y="253288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5" y="2598725"/>
            <a:ext cx="142646" cy="142646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50976" y="2487168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DTEX, Proofpoint ITM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2532888" y="267004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2" name="Shape 27"/>
          <p:cNvSpPr/>
          <p:nvPr/>
        </p:nvSpPr>
        <p:spPr>
          <a:xfrm>
            <a:off x="2743200" y="2441448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2871216" y="2487168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an agent installed on every laptop first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5596128" y="267004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0"/>
          <p:cNvSpPr/>
          <p:nvPr/>
        </p:nvSpPr>
        <p:spPr>
          <a:xfrm>
            <a:off x="5806440" y="2441448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5934456" y="248716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part works with no agent at all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457200" y="299008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38" name="Shape 33"/>
          <p:cNvSpPr/>
          <p:nvPr/>
        </p:nvSpPr>
        <p:spPr>
          <a:xfrm>
            <a:off x="566928" y="308152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5" y="3147365"/>
            <a:ext cx="142646" cy="142646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950976" y="3035808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Okta ITP, CrowdStrike Identity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2532888" y="321868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2" name="Shape 36"/>
          <p:cNvSpPr/>
          <p:nvPr/>
        </p:nvSpPr>
        <p:spPr>
          <a:xfrm>
            <a:off x="2743200" y="2990088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43" name="Text 37"/>
          <p:cNvSpPr txBox="1"/>
          <p:nvPr/>
        </p:nvSpPr>
        <p:spPr>
          <a:xfrm>
            <a:off x="2871216" y="3035808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the login, not what happens after it</a:t>
            </a:r>
            <a:endParaRPr lang="en-US" sz="1050" dirty="0"/>
          </a:p>
        </p:txBody>
      </p:sp>
      <p:sp>
        <p:nvSpPr>
          <p:cNvPr id="44" name="Shape 38"/>
          <p:cNvSpPr/>
          <p:nvPr/>
        </p:nvSpPr>
        <p:spPr>
          <a:xfrm>
            <a:off x="5596128" y="321868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39"/>
          <p:cNvSpPr/>
          <p:nvPr/>
        </p:nvSpPr>
        <p:spPr>
          <a:xfrm>
            <a:off x="5806440" y="2990088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46" name="Text 40"/>
          <p:cNvSpPr txBox="1"/>
          <p:nvPr/>
        </p:nvSpPr>
        <p:spPr>
          <a:xfrm>
            <a:off x="5934456" y="303580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the actions that follow a login</a:t>
            </a:r>
            <a:endParaRPr 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457200" y="353872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48" name="Shape 42"/>
          <p:cNvSpPr/>
          <p:nvPr/>
        </p:nvSpPr>
        <p:spPr>
          <a:xfrm>
            <a:off x="566928" y="363016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5" y="3696005"/>
            <a:ext cx="142646" cy="142646"/>
          </a:xfrm>
          <a:prstGeom prst="rect">
            <a:avLst/>
          </a:prstGeom>
        </p:spPr>
      </p:pic>
      <p:sp>
        <p:nvSpPr>
          <p:cNvPr id="50" name="Text 43"/>
          <p:cNvSpPr txBox="1"/>
          <p:nvPr/>
        </p:nvSpPr>
        <p:spPr>
          <a:xfrm>
            <a:off x="950976" y="3584448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ActivTrak, Hubstaff</a:t>
            </a:r>
            <a:endParaRPr lang="en-US" sz="1100" dirty="0"/>
          </a:p>
        </p:txBody>
      </p:sp>
      <p:sp>
        <p:nvSpPr>
          <p:cNvPr id="51" name="Shape 44"/>
          <p:cNvSpPr/>
          <p:nvPr/>
        </p:nvSpPr>
        <p:spPr>
          <a:xfrm>
            <a:off x="2532888" y="376732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2" name="Shape 45"/>
          <p:cNvSpPr/>
          <p:nvPr/>
        </p:nvSpPr>
        <p:spPr>
          <a:xfrm>
            <a:off x="2743200" y="3538728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53" name="Text 46"/>
          <p:cNvSpPr txBox="1"/>
          <p:nvPr/>
        </p:nvSpPr>
        <p:spPr>
          <a:xfrm>
            <a:off x="2871216" y="3584448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work time but detect no threats</a:t>
            </a:r>
            <a:endParaRPr lang="en-US" sz="1050" dirty="0"/>
          </a:p>
        </p:txBody>
      </p:sp>
      <p:sp>
        <p:nvSpPr>
          <p:cNvPr id="54" name="Shape 47"/>
          <p:cNvSpPr/>
          <p:nvPr/>
        </p:nvSpPr>
        <p:spPr>
          <a:xfrm>
            <a:off x="5596128" y="376732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5" name="Shape 48"/>
          <p:cNvSpPr/>
          <p:nvPr/>
        </p:nvSpPr>
        <p:spPr>
          <a:xfrm>
            <a:off x="5806440" y="3538728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56" name="Text 49"/>
          <p:cNvSpPr txBox="1"/>
          <p:nvPr/>
        </p:nvSpPr>
        <p:spPr>
          <a:xfrm>
            <a:off x="5934456" y="358444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time and threat detection from one agent</a:t>
            </a:r>
            <a:endParaRPr lang="en-US" sz="1050" dirty="0"/>
          </a:p>
        </p:txBody>
      </p:sp>
      <p:sp>
        <p:nvSpPr>
          <p:cNvPr id="57" name="Shape 50"/>
          <p:cNvSpPr/>
          <p:nvPr/>
        </p:nvSpPr>
        <p:spPr>
          <a:xfrm>
            <a:off x="457200" y="408736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58" name="Shape 51"/>
          <p:cNvSpPr/>
          <p:nvPr/>
        </p:nvSpPr>
        <p:spPr>
          <a:xfrm>
            <a:off x="566928" y="417880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765" y="4244645"/>
            <a:ext cx="142646" cy="142646"/>
          </a:xfrm>
          <a:prstGeom prst="rect">
            <a:avLst/>
          </a:prstGeom>
        </p:spPr>
      </p:pic>
      <p:sp>
        <p:nvSpPr>
          <p:cNvPr id="60" name="Text 52"/>
          <p:cNvSpPr txBox="1"/>
          <p:nvPr/>
        </p:nvSpPr>
        <p:spPr>
          <a:xfrm>
            <a:off x="950976" y="4133088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Varonis</a:t>
            </a:r>
            <a:endParaRPr lang="en-US" sz="1100" dirty="0"/>
          </a:p>
        </p:txBody>
      </p:sp>
      <p:sp>
        <p:nvSpPr>
          <p:cNvPr id="61" name="Shape 53"/>
          <p:cNvSpPr/>
          <p:nvPr/>
        </p:nvSpPr>
        <p:spPr>
          <a:xfrm>
            <a:off x="2532888" y="431596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2" name="Shape 54"/>
          <p:cNvSpPr/>
          <p:nvPr/>
        </p:nvSpPr>
        <p:spPr>
          <a:xfrm>
            <a:off x="2743200" y="4087368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63" name="Text 55"/>
          <p:cNvSpPr txBox="1"/>
          <p:nvPr/>
        </p:nvSpPr>
        <p:spPr>
          <a:xfrm>
            <a:off x="2871216" y="4133088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on file permissions, limited on identity</a:t>
            </a:r>
            <a:endParaRPr lang="en-US" sz="1050" dirty="0"/>
          </a:p>
        </p:txBody>
      </p:sp>
      <p:sp>
        <p:nvSpPr>
          <p:cNvPr id="64" name="Shape 56"/>
          <p:cNvSpPr/>
          <p:nvPr/>
        </p:nvSpPr>
        <p:spPr>
          <a:xfrm>
            <a:off x="5596128" y="431596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5" name="Shape 57"/>
          <p:cNvSpPr/>
          <p:nvPr/>
        </p:nvSpPr>
        <p:spPr>
          <a:xfrm>
            <a:off x="5806440" y="4087368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66" name="Text 58"/>
          <p:cNvSpPr txBox="1"/>
          <p:nvPr/>
        </p:nvSpPr>
        <p:spPr>
          <a:xfrm>
            <a:off x="5934456" y="413308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alongside it as a partner, not a rival</a:t>
            </a:r>
            <a:endParaRPr lang="en-US" sz="1050" dirty="0"/>
          </a:p>
        </p:txBody>
      </p:sp>
      <p:sp>
        <p:nvSpPr>
          <p:cNvPr id="67" name="Text 59"/>
          <p:cNvSpPr txBox="1"/>
          <p:nvPr/>
        </p:nvSpPr>
        <p:spPr>
          <a:xfrm>
            <a:off x="457200" y="45720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vendor documentation and practitioner reports; time-to-value figures are estimates.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tellTale is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One system with two parts. They share data but are kept apart.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335024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1418417"/>
            <a:ext cx="180685" cy="1806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4128" y="118872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apps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Okta, Google, GitHub, AWS audit logs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670048" y="1508760"/>
            <a:ext cx="34747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57200" y="201168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66928" y="2203704"/>
            <a:ext cx="347472" cy="347472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" y="2287097"/>
            <a:ext cx="180685" cy="18068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24128" y="205740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records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tickets, HR status, PagerDuty on-call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670048" y="2377440"/>
            <a:ext cx="34747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57200" y="288036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FCE7F3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928" y="3072384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1" y="3155777"/>
            <a:ext cx="180685" cy="18068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24128" y="292608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agent (optional)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and idle time, apps, files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670048" y="3246120"/>
            <a:ext cx="34747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3017520" y="1143000"/>
            <a:ext cx="1874520" cy="2468880"/>
          </a:xfrm>
          <a:prstGeom prst="roundRect">
            <a:avLst>
              <a:gd name="adj" fmla="val 3902"/>
            </a:avLst>
          </a:prstGeom>
          <a:solidFill>
            <a:srgbClr val="009A65"/>
          </a:solidFill>
          <a:ln/>
        </p:spPr>
      </p:sp>
      <p:sp>
        <p:nvSpPr>
          <p:cNvPr id="20" name="Shape 15"/>
          <p:cNvSpPr/>
          <p:nvPr/>
        </p:nvSpPr>
        <p:spPr>
          <a:xfrm>
            <a:off x="3145536" y="127101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0875" y="1376355"/>
            <a:ext cx="228234" cy="22823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145536" y="1783080"/>
            <a:ext cx="161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tellTale core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3145536" y="2084832"/>
            <a:ext cx="1618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events, turns them into one format, replaces names with IDs and keeps everything in one database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910328" y="1737360"/>
            <a:ext cx="3931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4910328" y="3017520"/>
            <a:ext cx="3931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5303520" y="1234440"/>
            <a:ext cx="3383280" cy="1005840"/>
          </a:xfrm>
          <a:prstGeom prst="roundRect">
            <a:avLst>
              <a:gd name="adj" fmla="val 7273"/>
            </a:avLst>
          </a:prstGeom>
          <a:solidFill>
            <a:srgbClr val="CFFAFE"/>
          </a:solidFill>
          <a:ln/>
        </p:spPr>
      </p:sp>
      <p:sp>
        <p:nvSpPr>
          <p:cNvPr id="27" name="Shape 21"/>
          <p:cNvSpPr/>
          <p:nvPr/>
        </p:nvSpPr>
        <p:spPr>
          <a:xfrm>
            <a:off x="5413248" y="1531620"/>
            <a:ext cx="411480" cy="41148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2003" y="1630375"/>
            <a:ext cx="213970" cy="21397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934456" y="1280160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part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security team: spots risky behaviour changes and ranks them into cases with evidence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303520" y="2514600"/>
            <a:ext cx="3383280" cy="1005840"/>
          </a:xfrm>
          <a:prstGeom prst="roundRect">
            <a:avLst>
              <a:gd name="adj" fmla="val 7273"/>
            </a:avLst>
          </a:prstGeom>
          <a:solidFill>
            <a:srgbClr val="FFEDD5"/>
          </a:solidFill>
          <a:ln/>
        </p:spPr>
      </p:sp>
      <p:sp>
        <p:nvSpPr>
          <p:cNvPr id="31" name="Shape 24"/>
          <p:cNvSpPr/>
          <p:nvPr/>
        </p:nvSpPr>
        <p:spPr>
          <a:xfrm>
            <a:off x="5413248" y="2811780"/>
            <a:ext cx="411480" cy="41148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2003" y="2910535"/>
            <a:ext cx="213970" cy="21397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34456" y="2560320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part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HR and operations: active time, idle time, app usage, attendance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6995160" y="3520440"/>
            <a:ext cx="0" cy="27432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27"/>
          <p:cNvSpPr/>
          <p:nvPr/>
        </p:nvSpPr>
        <p:spPr>
          <a:xfrm>
            <a:off x="5303520" y="3794760"/>
            <a:ext cx="3383280" cy="685800"/>
          </a:xfrm>
          <a:prstGeom prst="roundRect">
            <a:avLst>
              <a:gd name="adj" fmla="val 10667"/>
            </a:avLst>
          </a:prstGeom>
          <a:solidFill>
            <a:srgbClr val="F1F5F9"/>
          </a:solidFill>
          <a:ln/>
        </p:spPr>
      </p:sp>
      <p:sp>
        <p:nvSpPr>
          <p:cNvPr id="36" name="Shape 28"/>
          <p:cNvSpPr/>
          <p:nvPr/>
        </p:nvSpPr>
        <p:spPr>
          <a:xfrm>
            <a:off x="5413248" y="3973068"/>
            <a:ext cx="329184" cy="329184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2252" y="4052072"/>
            <a:ext cx="171176" cy="171176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5852160" y="38404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apart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never sees risk scores. Security never sees productivity.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457200" y="3794760"/>
            <a:ext cx="4434840" cy="685800"/>
          </a:xfrm>
          <a:prstGeom prst="roundRect">
            <a:avLst>
              <a:gd name="adj" fmla="val 10667"/>
            </a:avLst>
          </a:prstGeom>
          <a:solidFill>
            <a:srgbClr val="F1F5F9"/>
          </a:solidFill>
          <a:ln/>
        </p:spPr>
      </p:sp>
      <p:sp>
        <p:nvSpPr>
          <p:cNvPr id="40" name="Shape 31"/>
          <p:cNvSpPr/>
          <p:nvPr/>
        </p:nvSpPr>
        <p:spPr>
          <a:xfrm>
            <a:off x="566928" y="3973068"/>
            <a:ext cx="329184" cy="329184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932" y="4052072"/>
            <a:ext cx="171176" cy="171176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05840" y="384048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access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tellTale connects with read-only permissions and never changes company systems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  <p:pic>
        <p:nvPicPr>
          <p:cNvPr id="43" name="Logo Okta" descr="Okta logo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2223" y="1271016"/>
            <a:ext cx="146304" cy="146304"/>
          </a:xfrm>
          <a:prstGeom prst="rect">
            <a:avLst/>
          </a:prstGeom>
        </p:spPr>
      </p:pic>
      <p:pic>
        <p:nvPicPr>
          <p:cNvPr id="44" name="Logo Google Workspace" descr="Google Workspace logo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93391" y="1271016"/>
            <a:ext cx="146304" cy="146304"/>
          </a:xfrm>
          <a:prstGeom prst="rect">
            <a:avLst/>
          </a:prstGeom>
        </p:spPr>
      </p:pic>
      <p:pic>
        <p:nvPicPr>
          <p:cNvPr id="45" name="Logo GitHub" descr="GitHub 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94560" y="1271016"/>
            <a:ext cx="146304" cy="146304"/>
          </a:xfrm>
          <a:prstGeom prst="rect">
            <a:avLst/>
          </a:prstGeom>
        </p:spPr>
      </p:pic>
      <p:pic>
        <p:nvPicPr>
          <p:cNvPr id="46" name="Logo AWS CloudTrail" descr="AWS CloudTrail logo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395728" y="1271016"/>
            <a:ext cx="146304" cy="146304"/>
          </a:xfrm>
          <a:prstGeom prst="rect">
            <a:avLst/>
          </a:prstGeom>
        </p:spPr>
      </p:pic>
      <p:pic>
        <p:nvPicPr>
          <p:cNvPr id="47" name="Logo Jira" descr="Jira logo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94560" y="2139696"/>
            <a:ext cx="146304" cy="146304"/>
          </a:xfrm>
          <a:prstGeom prst="rect">
            <a:avLst/>
          </a:prstGeom>
        </p:spPr>
      </p:pic>
      <p:pic>
        <p:nvPicPr>
          <p:cNvPr id="48" name="Logo PagerDuty" descr="PagerDuty logo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95728" y="2139696"/>
            <a:ext cx="146304" cy="1463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security part works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Every action passes four steps before anyone is alerted.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463040" cy="16002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585216" y="1271016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609" y="1354409"/>
            <a:ext cx="180685" cy="1806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5216" y="169164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activity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2103120"/>
            <a:ext cx="120700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Logins, downloads, shares and cloud actions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938528" y="19431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148840" y="1143000"/>
            <a:ext cx="1463040" cy="1600200"/>
          </a:xfrm>
          <a:prstGeom prst="roundRect">
            <a:avLst>
              <a:gd name="adj" fmla="val 5000"/>
            </a:avLst>
          </a:prstGeom>
          <a:solidFill>
            <a:srgbClr val="D1FAE5"/>
          </a:solidFill>
          <a:ln/>
        </p:spPr>
      </p:sp>
      <p:sp>
        <p:nvSpPr>
          <p:cNvPr id="11" name="Shape 8"/>
          <p:cNvSpPr/>
          <p:nvPr/>
        </p:nvSpPr>
        <p:spPr>
          <a:xfrm>
            <a:off x="2276856" y="1271016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249" y="1354409"/>
            <a:ext cx="180685" cy="1806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76856" y="169164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Unusual?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276856" y="2103120"/>
            <a:ext cx="120700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own past, usual order and teammates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630168" y="19431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840480" y="1143000"/>
            <a:ext cx="1463040" cy="160020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/>
        </p:spPr>
      </p:sp>
      <p:sp>
        <p:nvSpPr>
          <p:cNvPr id="17" name="Shape 13"/>
          <p:cNvSpPr/>
          <p:nvPr/>
        </p:nvSpPr>
        <p:spPr>
          <a:xfrm>
            <a:off x="3968496" y="1271016"/>
            <a:ext cx="347472" cy="347472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1889" y="1354409"/>
            <a:ext cx="180685" cy="18068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968496" y="169164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Approved?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968496" y="2103120"/>
            <a:ext cx="120700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for a genuine ticket, on-call shift or HR record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321808" y="19431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532120" y="1143000"/>
            <a:ext cx="1463040" cy="1600200"/>
          </a:xfrm>
          <a:prstGeom prst="roundRect">
            <a:avLst>
              <a:gd name="adj" fmla="val 5000"/>
            </a:avLst>
          </a:prstGeom>
          <a:solidFill>
            <a:srgbClr val="FCE7F3"/>
          </a:solidFill>
          <a:ln/>
        </p:spPr>
      </p:sp>
      <p:sp>
        <p:nvSpPr>
          <p:cNvPr id="23" name="Shape 18"/>
          <p:cNvSpPr/>
          <p:nvPr/>
        </p:nvSpPr>
        <p:spPr>
          <a:xfrm>
            <a:off x="5660136" y="1271016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529" y="1354409"/>
            <a:ext cx="180685" cy="18068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660136" y="169164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How serious?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660136" y="2103120"/>
            <a:ext cx="120700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probability, weighted by how valuable the system is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7013448" y="19431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7223760" y="1143000"/>
            <a:ext cx="1463040" cy="1600200"/>
          </a:xfrm>
          <a:prstGeom prst="roundRect">
            <a:avLst>
              <a:gd name="adj" fmla="val 5000"/>
            </a:avLst>
          </a:prstGeom>
          <a:solidFill>
            <a:srgbClr val="CFFAFE"/>
          </a:solidFill>
          <a:ln/>
        </p:spPr>
      </p:sp>
      <p:sp>
        <p:nvSpPr>
          <p:cNvPr id="29" name="Shape 23"/>
          <p:cNvSpPr/>
          <p:nvPr/>
        </p:nvSpPr>
        <p:spPr>
          <a:xfrm>
            <a:off x="7351776" y="1271016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5169" y="1354409"/>
            <a:ext cx="180685" cy="18068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51776" y="169164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Explain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351776" y="2103120"/>
            <a:ext cx="120700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file and AI assistant; a person makes the call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4114800" y="2743200"/>
            <a:ext cx="0" cy="22860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2743200" y="297180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FFAFE"/>
          </a:solidFill>
          <a:ln/>
        </p:spPr>
      </p:sp>
      <p:sp>
        <p:nvSpPr>
          <p:cNvPr id="35" name="Shape 28"/>
          <p:cNvSpPr/>
          <p:nvPr/>
        </p:nvSpPr>
        <p:spPr>
          <a:xfrm>
            <a:off x="2852928" y="3095244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36321" y="3178637"/>
            <a:ext cx="180685" cy="18068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3310128" y="301752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Explained by real work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for audit, no alert raised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7955280" y="2743200"/>
            <a:ext cx="0" cy="22860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9" name="Shape 31"/>
          <p:cNvSpPr/>
          <p:nvPr/>
        </p:nvSpPr>
        <p:spPr>
          <a:xfrm>
            <a:off x="6035040" y="2971800"/>
            <a:ext cx="2651760" cy="594360"/>
          </a:xfrm>
          <a:prstGeom prst="roundRect">
            <a:avLst>
              <a:gd name="adj" fmla="val 12308"/>
            </a:avLst>
          </a:prstGeom>
          <a:solidFill>
            <a:srgbClr val="EA580C"/>
          </a:solidFill>
          <a:ln/>
        </p:spPr>
      </p:sp>
      <p:sp>
        <p:nvSpPr>
          <p:cNvPr id="40" name="Shape 32"/>
          <p:cNvSpPr/>
          <p:nvPr/>
        </p:nvSpPr>
        <p:spPr>
          <a:xfrm>
            <a:off x="6144768" y="309524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8161" y="3178637"/>
            <a:ext cx="180685" cy="180685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6601968" y="3017520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case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to the security team’s queue</a:t>
            </a:r>
            <a:endParaRPr lang="en-US" sz="1200" dirty="0"/>
          </a:p>
        </p:txBody>
      </p:sp>
      <p:sp>
        <p:nvSpPr>
          <p:cNvPr id="43" name="Text 34"/>
          <p:cNvSpPr txBox="1"/>
          <p:nvPr/>
        </p:nvSpPr>
        <p:spPr>
          <a:xfrm>
            <a:off x="457200" y="37307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queue stays manageable</a:t>
            </a:r>
            <a:endParaRPr lang="en-US" sz="1150" dirty="0"/>
          </a:p>
        </p:txBody>
      </p:sp>
      <p:sp>
        <p:nvSpPr>
          <p:cNvPr id="44" name="Shape 35"/>
          <p:cNvSpPr/>
          <p:nvPr/>
        </p:nvSpPr>
        <p:spPr>
          <a:xfrm>
            <a:off x="457200" y="397764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45" name="Shape 36"/>
          <p:cNvSpPr/>
          <p:nvPr/>
        </p:nvSpPr>
        <p:spPr>
          <a:xfrm>
            <a:off x="566928" y="4151376"/>
            <a:ext cx="292608" cy="292608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154" y="4221602"/>
            <a:ext cx="152156" cy="152156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969264" y="4023360"/>
            <a:ext cx="1956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arrives every 1 to 5 minutes; scoring takes under a millisecond</a:t>
            </a:r>
            <a:endParaRPr lang="en-US" sz="1200" dirty="0"/>
          </a:p>
        </p:txBody>
      </p:sp>
      <p:sp>
        <p:nvSpPr>
          <p:cNvPr id="48" name="Shape 38"/>
          <p:cNvSpPr/>
          <p:nvPr/>
        </p:nvSpPr>
        <p:spPr>
          <a:xfrm>
            <a:off x="3291840" y="397764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49" name="Shape 39"/>
          <p:cNvSpPr/>
          <p:nvPr/>
        </p:nvSpPr>
        <p:spPr>
          <a:xfrm>
            <a:off x="3401568" y="4151376"/>
            <a:ext cx="292608" cy="292608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71794" y="4221602"/>
            <a:ext cx="152156" cy="152156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3803904" y="4023360"/>
            <a:ext cx="1956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signals become one case per account, not six alerts</a:t>
            </a:r>
            <a:endParaRPr lang="en-US" sz="1200" dirty="0"/>
          </a:p>
        </p:txBody>
      </p:sp>
      <p:sp>
        <p:nvSpPr>
          <p:cNvPr id="52" name="Shape 41"/>
          <p:cNvSpPr/>
          <p:nvPr/>
        </p:nvSpPr>
        <p:spPr>
          <a:xfrm>
            <a:off x="6126480" y="397764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53" name="Shape 42"/>
          <p:cNvSpPr/>
          <p:nvPr/>
        </p:nvSpPr>
        <p:spPr>
          <a:xfrm>
            <a:off x="6236208" y="4151376"/>
            <a:ext cx="292608" cy="292608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6434" y="4221602"/>
            <a:ext cx="152156" cy="152156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6638544" y="4023360"/>
            <a:ext cx="1956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to the team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shows what fits the team’s daily checking time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is the behaviour unusual?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Three independent checks, each catching a different kind of attack, plus extra inputs.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204368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2127077"/>
            <a:ext cx="180685" cy="1806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4128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activity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into sessions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148840" y="2217420"/>
            <a:ext cx="246888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95728" y="1463040"/>
            <a:ext cx="0" cy="1664208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95728" y="1463040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651760" y="1143000"/>
            <a:ext cx="3154680" cy="640080"/>
          </a:xfrm>
          <a:prstGeom prst="roundRect">
            <a:avLst>
              <a:gd name="adj" fmla="val 11429"/>
            </a:avLst>
          </a:prstGeom>
          <a:solidFill>
            <a:srgbClr val="D1FAE5"/>
          </a:solidFill>
          <a:ln/>
        </p:spPr>
      </p:sp>
      <p:sp>
        <p:nvSpPr>
          <p:cNvPr id="12" name="Shape 9"/>
          <p:cNvSpPr/>
          <p:nvPr/>
        </p:nvSpPr>
        <p:spPr>
          <a:xfrm>
            <a:off x="2761488" y="1289304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881" y="1372697"/>
            <a:ext cx="180685" cy="18068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18688" y="1188720"/>
            <a:ext cx="2496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against the person’s own normal days, using medians so one busy day doesn’t skew it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806440" y="1463040"/>
            <a:ext cx="246888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95728" y="2286000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2651760" y="1965960"/>
            <a:ext cx="3154680" cy="640080"/>
          </a:xfrm>
          <a:prstGeom prst="roundRect">
            <a:avLst>
              <a:gd name="adj" fmla="val 11429"/>
            </a:avLst>
          </a:prstGeom>
          <a:solidFill>
            <a:srgbClr val="FCE7F3"/>
          </a:solidFill>
          <a:ln/>
        </p:spPr>
      </p:sp>
      <p:sp>
        <p:nvSpPr>
          <p:cNvPr id="18" name="Shape 14"/>
          <p:cNvSpPr/>
          <p:nvPr/>
        </p:nvSpPr>
        <p:spPr>
          <a:xfrm>
            <a:off x="2761488" y="2112264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881" y="2195657"/>
            <a:ext cx="180685" cy="18068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218688" y="2011680"/>
            <a:ext cx="2496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what order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how often one action follows another across the company; rare chains stand out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806440" y="2286000"/>
            <a:ext cx="246888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2395728" y="3108960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2651760" y="2788920"/>
            <a:ext cx="3154680" cy="640080"/>
          </a:xfrm>
          <a:prstGeom prst="roundRect">
            <a:avLst>
              <a:gd name="adj" fmla="val 11429"/>
            </a:avLst>
          </a:prstGeom>
          <a:solidFill>
            <a:srgbClr val="CFFAFE"/>
          </a:solidFill>
          <a:ln/>
        </p:spPr>
      </p:sp>
      <p:sp>
        <p:nvSpPr>
          <p:cNvPr id="24" name="Shape 19"/>
          <p:cNvSpPr/>
          <p:nvPr/>
        </p:nvSpPr>
        <p:spPr>
          <a:xfrm>
            <a:off x="2761488" y="2935224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4881" y="3018617"/>
            <a:ext cx="180685" cy="18068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3218688" y="2834640"/>
            <a:ext cx="2496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from teammates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a frozen earlier snapshot and with peers, so slow change still shows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5806440" y="3108960"/>
            <a:ext cx="246888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053328" y="1463040"/>
            <a:ext cx="0" cy="1664208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053328" y="2217420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6309360" y="18288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D97706"/>
          </a:solidFill>
          <a:ln/>
        </p:spPr>
      </p:sp>
      <p:sp>
        <p:nvSpPr>
          <p:cNvPr id="31" name="Shape 25"/>
          <p:cNvSpPr/>
          <p:nvPr/>
        </p:nvSpPr>
        <p:spPr>
          <a:xfrm>
            <a:off x="6419088" y="204368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481" y="2127077"/>
            <a:ext cx="180685" cy="18068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876288" y="187452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score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on to Step 2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7498080" y="2834640"/>
            <a:ext cx="0" cy="-210312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28"/>
          <p:cNvSpPr/>
          <p:nvPr/>
        </p:nvSpPr>
        <p:spPr>
          <a:xfrm>
            <a:off x="6309360" y="283464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F1F5F9"/>
          </a:solidFill>
          <a:ln/>
        </p:spPr>
      </p:sp>
      <p:sp>
        <p:nvSpPr>
          <p:cNvPr id="36" name="Shape 29"/>
          <p:cNvSpPr/>
          <p:nvPr/>
        </p:nvSpPr>
        <p:spPr>
          <a:xfrm>
            <a:off x="6419088" y="2880360"/>
            <a:ext cx="237744" cy="237744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6147" y="2937419"/>
            <a:ext cx="123627" cy="123627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76656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 files no honest user opens</a:t>
            </a:r>
            <a:endParaRPr lang="en-US" sz="1050" dirty="0"/>
          </a:p>
        </p:txBody>
      </p:sp>
      <p:sp>
        <p:nvSpPr>
          <p:cNvPr id="39" name="Shape 31"/>
          <p:cNvSpPr/>
          <p:nvPr/>
        </p:nvSpPr>
        <p:spPr>
          <a:xfrm>
            <a:off x="6309360" y="3218688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F1F5F9"/>
          </a:solidFill>
          <a:ln/>
        </p:spPr>
      </p:sp>
      <p:sp>
        <p:nvSpPr>
          <p:cNvPr id="40" name="Shape 32"/>
          <p:cNvSpPr/>
          <p:nvPr/>
        </p:nvSpPr>
        <p:spPr>
          <a:xfrm>
            <a:off x="6419088" y="3264408"/>
            <a:ext cx="237744" cy="237744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6147" y="3321467"/>
            <a:ext cx="123627" cy="123627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6766560" y="32644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who talks to whom</a:t>
            </a:r>
            <a:endParaRPr lang="en-US" sz="1050" dirty="0"/>
          </a:p>
        </p:txBody>
      </p:sp>
      <p:sp>
        <p:nvSpPr>
          <p:cNvPr id="43" name="Shape 34"/>
          <p:cNvSpPr/>
          <p:nvPr/>
        </p:nvSpPr>
        <p:spPr>
          <a:xfrm>
            <a:off x="6309360" y="3602736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F1F5F9"/>
          </a:solidFill>
          <a:ln/>
        </p:spPr>
      </p:sp>
      <p:sp>
        <p:nvSpPr>
          <p:cNvPr id="44" name="Shape 35"/>
          <p:cNvSpPr/>
          <p:nvPr/>
        </p:nvSpPr>
        <p:spPr>
          <a:xfrm>
            <a:off x="6419088" y="3648456"/>
            <a:ext cx="237744" cy="237744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6147" y="3705515"/>
            <a:ext cx="123627" cy="123627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6766560" y="36484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joiners vs role peers</a:t>
            </a:r>
            <a:endParaRPr lang="en-US" sz="1050" dirty="0"/>
          </a:p>
        </p:txBody>
      </p:sp>
      <p:sp>
        <p:nvSpPr>
          <p:cNvPr id="47" name="Text 37"/>
          <p:cNvSpPr txBox="1"/>
          <p:nvPr/>
        </p:nvSpPr>
        <p:spPr>
          <a:xfrm>
            <a:off x="457200" y="38404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of an unusual order (illustrative numbers)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457200" y="411480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F1F5F9"/>
          </a:solidFill>
          <a:ln/>
        </p:spPr>
      </p:sp>
      <p:sp>
        <p:nvSpPr>
          <p:cNvPr id="49" name="Text 39"/>
          <p:cNvSpPr txBox="1"/>
          <p:nvPr/>
        </p:nvSpPr>
        <p:spPr>
          <a:xfrm>
            <a:off x="585216" y="4160520"/>
            <a:ext cx="115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code</a:t>
            </a:r>
            <a:endParaRPr lang="en-US" sz="1150" dirty="0"/>
          </a:p>
        </p:txBody>
      </p:sp>
      <p:sp>
        <p:nvSpPr>
          <p:cNvPr id="50" name="Shape 40"/>
          <p:cNvSpPr/>
          <p:nvPr/>
        </p:nvSpPr>
        <p:spPr>
          <a:xfrm>
            <a:off x="1847088" y="4306824"/>
            <a:ext cx="23774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1" name="Shape 41"/>
          <p:cNvSpPr/>
          <p:nvPr/>
        </p:nvSpPr>
        <p:spPr>
          <a:xfrm>
            <a:off x="2103120" y="411480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F1F5F9"/>
          </a:solidFill>
          <a:ln/>
        </p:spPr>
      </p:sp>
      <p:sp>
        <p:nvSpPr>
          <p:cNvPr id="52" name="Text 42"/>
          <p:cNvSpPr txBox="1"/>
          <p:nvPr/>
        </p:nvSpPr>
        <p:spPr>
          <a:xfrm>
            <a:off x="2231136" y="4160520"/>
            <a:ext cx="115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it</a:t>
            </a:r>
            <a:endParaRPr lang="en-US" sz="1150" dirty="0"/>
          </a:p>
        </p:txBody>
      </p:sp>
      <p:sp>
        <p:nvSpPr>
          <p:cNvPr id="53" name="Shape 43"/>
          <p:cNvSpPr/>
          <p:nvPr/>
        </p:nvSpPr>
        <p:spPr>
          <a:xfrm>
            <a:off x="3493008" y="4306824"/>
            <a:ext cx="23774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4" name="Shape 44"/>
          <p:cNvSpPr/>
          <p:nvPr/>
        </p:nvSpPr>
        <p:spPr>
          <a:xfrm>
            <a:off x="3749040" y="411480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/>
        </p:spPr>
      </p:sp>
      <p:sp>
        <p:nvSpPr>
          <p:cNvPr id="55" name="Text 45"/>
          <p:cNvSpPr txBox="1"/>
          <p:nvPr/>
        </p:nvSpPr>
        <p:spPr>
          <a:xfrm>
            <a:off x="3877056" y="4160520"/>
            <a:ext cx="115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outside</a:t>
            </a:r>
            <a:endParaRPr lang="en-US" sz="1150" dirty="0"/>
          </a:p>
        </p:txBody>
      </p:sp>
      <p:sp>
        <p:nvSpPr>
          <p:cNvPr id="56" name="Shape 46"/>
          <p:cNvSpPr/>
          <p:nvPr/>
        </p:nvSpPr>
        <p:spPr>
          <a:xfrm>
            <a:off x="5138928" y="4306824"/>
            <a:ext cx="23774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7" name="Shape 47"/>
          <p:cNvSpPr/>
          <p:nvPr/>
        </p:nvSpPr>
        <p:spPr>
          <a:xfrm>
            <a:off x="5394960" y="4114800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FEF3C7"/>
          </a:solidFill>
          <a:ln/>
        </p:spPr>
      </p:sp>
      <p:sp>
        <p:nvSpPr>
          <p:cNvPr id="58" name="Text 48"/>
          <p:cNvSpPr txBox="1"/>
          <p:nvPr/>
        </p:nvSpPr>
        <p:spPr>
          <a:xfrm>
            <a:off x="5522976" y="4160520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about 1 time in 2,500 in our example data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was it approved?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Most unusual activity is real work, so tellTale checks the records and checks they are genuine.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691640" cy="73152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38074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1464137"/>
            <a:ext cx="180685" cy="1806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4128" y="1234440"/>
            <a:ext cx="1033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 activity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2103120"/>
            <a:ext cx="1691640" cy="73152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/>
        </p:spPr>
      </p:sp>
      <p:sp>
        <p:nvSpPr>
          <p:cNvPr id="9" name="Shape 6"/>
          <p:cNvSpPr/>
          <p:nvPr/>
        </p:nvSpPr>
        <p:spPr>
          <a:xfrm>
            <a:off x="566928" y="229514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" y="2378537"/>
            <a:ext cx="180685" cy="18068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24128" y="2148840"/>
            <a:ext cx="1033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Ticket, on-call or HR record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148840" y="1554480"/>
            <a:ext cx="18288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148840" y="2468880"/>
            <a:ext cx="18288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331720" y="1554480"/>
            <a:ext cx="0" cy="91440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331720" y="2011680"/>
            <a:ext cx="18288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2514600" y="118872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D1FAE5"/>
          </a:solidFill>
          <a:ln/>
        </p:spPr>
      </p:sp>
      <p:sp>
        <p:nvSpPr>
          <p:cNvPr id="17" name="Shape 13"/>
          <p:cNvSpPr/>
          <p:nvPr/>
        </p:nvSpPr>
        <p:spPr>
          <a:xfrm>
            <a:off x="2642616" y="1316736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009" y="1400129"/>
            <a:ext cx="180685" cy="18068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642616" y="173736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before?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2642616" y="2148840"/>
            <a:ext cx="1115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at least 30 minutes before the activity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3895344" y="2011680"/>
            <a:ext cx="18288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087368" y="118872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FCE7F3"/>
          </a:solidFill>
          <a:ln/>
        </p:spPr>
      </p:sp>
      <p:sp>
        <p:nvSpPr>
          <p:cNvPr id="23" name="Shape 18"/>
          <p:cNvSpPr/>
          <p:nvPr/>
        </p:nvSpPr>
        <p:spPr>
          <a:xfrm>
            <a:off x="4215384" y="1316736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8777" y="1400129"/>
            <a:ext cx="180685" cy="18068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215384" y="173736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else assigned it?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4215384" y="2148840"/>
            <a:ext cx="1115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Self-assigned work counts for little or nothing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5468112" y="2011680"/>
            <a:ext cx="18288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5660136" y="118872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CFFAFE"/>
          </a:solidFill>
          <a:ln/>
        </p:spPr>
      </p:sp>
      <p:sp>
        <p:nvSpPr>
          <p:cNvPr id="29" name="Shape 23"/>
          <p:cNvSpPr/>
          <p:nvPr/>
        </p:nvSpPr>
        <p:spPr>
          <a:xfrm>
            <a:off x="5788152" y="1316736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1545" y="1400129"/>
            <a:ext cx="180685" cy="18068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788152" y="173736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this system?</a:t>
            </a:r>
            <a:endParaRPr lang="en-US" sz="1150" dirty="0"/>
          </a:p>
        </p:txBody>
      </p:sp>
      <p:sp>
        <p:nvSpPr>
          <p:cNvPr id="32" name="Text 25"/>
          <p:cNvSpPr txBox="1"/>
          <p:nvPr/>
        </p:nvSpPr>
        <p:spPr>
          <a:xfrm>
            <a:off x="5788152" y="2148840"/>
            <a:ext cx="1115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ticket for one project can’t cover another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7040880" y="2011680"/>
            <a:ext cx="18288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7232904" y="118872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/>
        </p:spPr>
      </p:sp>
      <p:sp>
        <p:nvSpPr>
          <p:cNvPr id="35" name="Shape 28"/>
          <p:cNvSpPr/>
          <p:nvPr/>
        </p:nvSpPr>
        <p:spPr>
          <a:xfrm>
            <a:off x="7360920" y="1316736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4313" y="1400129"/>
            <a:ext cx="180685" cy="18068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360920" y="173736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amount?</a:t>
            </a:r>
            <a:endParaRPr lang="en-US" sz="1150" dirty="0"/>
          </a:p>
        </p:txBody>
      </p:sp>
      <p:sp>
        <p:nvSpPr>
          <p:cNvPr id="38" name="Text 30"/>
          <p:cNvSpPr txBox="1"/>
          <p:nvPr/>
        </p:nvSpPr>
        <p:spPr>
          <a:xfrm>
            <a:off x="7360920" y="2148840"/>
            <a:ext cx="1115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task can’t explain copying 40 projects</a:t>
            </a:r>
            <a:endParaRPr lang="en-US" sz="1050" dirty="0"/>
          </a:p>
        </p:txBody>
      </p:sp>
      <p:sp>
        <p:nvSpPr>
          <p:cNvPr id="39" name="Shape 31"/>
          <p:cNvSpPr/>
          <p:nvPr/>
        </p:nvSpPr>
        <p:spPr>
          <a:xfrm>
            <a:off x="5550408" y="2834640"/>
            <a:ext cx="0" cy="18288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3657600" y="3017520"/>
            <a:ext cx="374904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3657600" y="3017520"/>
            <a:ext cx="0" cy="18288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2" name="Shape 34"/>
          <p:cNvSpPr/>
          <p:nvPr/>
        </p:nvSpPr>
        <p:spPr>
          <a:xfrm>
            <a:off x="7406640" y="3017520"/>
            <a:ext cx="0" cy="18288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3" name="Shape 35"/>
          <p:cNvSpPr/>
          <p:nvPr/>
        </p:nvSpPr>
        <p:spPr>
          <a:xfrm>
            <a:off x="2514600" y="32004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CFFAFE"/>
          </a:solidFill>
          <a:ln/>
        </p:spPr>
      </p:sp>
      <p:sp>
        <p:nvSpPr>
          <p:cNvPr id="44" name="Shape 36"/>
          <p:cNvSpPr/>
          <p:nvPr/>
        </p:nvSpPr>
        <p:spPr>
          <a:xfrm>
            <a:off x="2624328" y="3346704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7721" y="3430097"/>
            <a:ext cx="180685" cy="180685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3081528" y="324612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checks pass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lowered and the reason logged</a:t>
            </a:r>
            <a:endParaRPr lang="en-US" sz="1200" dirty="0"/>
          </a:p>
        </p:txBody>
      </p:sp>
      <p:sp>
        <p:nvSpPr>
          <p:cNvPr id="47" name="Shape 38"/>
          <p:cNvSpPr/>
          <p:nvPr/>
        </p:nvSpPr>
        <p:spPr>
          <a:xfrm>
            <a:off x="6217920" y="320040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EA580C"/>
          </a:solidFill>
          <a:ln/>
        </p:spPr>
      </p:sp>
      <p:sp>
        <p:nvSpPr>
          <p:cNvPr id="48" name="Shape 39"/>
          <p:cNvSpPr/>
          <p:nvPr/>
        </p:nvSpPr>
        <p:spPr>
          <a:xfrm>
            <a:off x="6327648" y="334670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1041" y="3430097"/>
            <a:ext cx="180685" cy="180685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6784848" y="32461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or faked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Faking a ticket raises its own alarm</a:t>
            </a:r>
            <a:endParaRPr lang="en-US" sz="1200" dirty="0"/>
          </a:p>
        </p:txBody>
      </p:sp>
      <p:sp>
        <p:nvSpPr>
          <p:cNvPr id="51" name="Text 41"/>
          <p:cNvSpPr txBox="1"/>
          <p:nvPr/>
        </p:nvSpPr>
        <p:spPr>
          <a:xfrm>
            <a:off x="457200" y="3977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that keep the check honest</a:t>
            </a:r>
            <a:endParaRPr lang="en-US" sz="1150" dirty="0"/>
          </a:p>
        </p:txBody>
      </p:sp>
      <p:sp>
        <p:nvSpPr>
          <p:cNvPr id="52" name="Shape 42"/>
          <p:cNvSpPr/>
          <p:nvPr/>
        </p:nvSpPr>
        <p:spPr>
          <a:xfrm>
            <a:off x="457200" y="4224528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F1F5F9"/>
          </a:solidFill>
          <a:ln/>
        </p:spPr>
      </p:sp>
      <p:sp>
        <p:nvSpPr>
          <p:cNvPr id="53" name="Shape 43"/>
          <p:cNvSpPr/>
          <p:nvPr/>
        </p:nvSpPr>
        <p:spPr>
          <a:xfrm>
            <a:off x="566928" y="4293108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765" y="4358945"/>
            <a:ext cx="142646" cy="142646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950976" y="4270248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lowered score is logged with its reason</a:t>
            </a:r>
            <a:endParaRPr lang="en-US" sz="1100" dirty="0"/>
          </a:p>
        </p:txBody>
      </p:sp>
      <p:sp>
        <p:nvSpPr>
          <p:cNvPr id="56" name="Shape 45"/>
          <p:cNvSpPr/>
          <p:nvPr/>
        </p:nvSpPr>
        <p:spPr>
          <a:xfrm>
            <a:off x="3291840" y="4224528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F1F5F9"/>
          </a:solidFill>
          <a:ln/>
        </p:spPr>
      </p:sp>
      <p:sp>
        <p:nvSpPr>
          <p:cNvPr id="57" name="Shape 46"/>
          <p:cNvSpPr/>
          <p:nvPr/>
        </p:nvSpPr>
        <p:spPr>
          <a:xfrm>
            <a:off x="3401568" y="4293108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67405" y="4358945"/>
            <a:ext cx="142646" cy="142646"/>
          </a:xfrm>
          <a:prstGeom prst="rect">
            <a:avLst/>
          </a:prstGeom>
        </p:spPr>
      </p:pic>
      <p:sp>
        <p:nvSpPr>
          <p:cNvPr id="59" name="Text 47"/>
          <p:cNvSpPr txBox="1"/>
          <p:nvPr/>
        </p:nvSpPr>
        <p:spPr>
          <a:xfrm>
            <a:off x="3785616" y="4270248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ticket can reduce risk, never erase it</a:t>
            </a:r>
            <a:endParaRPr lang="en-US" sz="1100" dirty="0"/>
          </a:p>
        </p:txBody>
      </p:sp>
      <p:sp>
        <p:nvSpPr>
          <p:cNvPr id="60" name="Shape 48"/>
          <p:cNvSpPr/>
          <p:nvPr/>
        </p:nvSpPr>
        <p:spPr>
          <a:xfrm>
            <a:off x="6126480" y="4224528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F1F5F9"/>
          </a:solidFill>
          <a:ln/>
        </p:spPr>
      </p:sp>
      <p:sp>
        <p:nvSpPr>
          <p:cNvPr id="61" name="Shape 49"/>
          <p:cNvSpPr/>
          <p:nvPr/>
        </p:nvSpPr>
        <p:spPr>
          <a:xfrm>
            <a:off x="6236208" y="4293108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2045" y="4358945"/>
            <a:ext cx="142646" cy="142646"/>
          </a:xfrm>
          <a:prstGeom prst="rect">
            <a:avLst/>
          </a:prstGeom>
        </p:spPr>
      </p:pic>
      <p:sp>
        <p:nvSpPr>
          <p:cNvPr id="63" name="Text 50"/>
          <p:cNvSpPr txBox="1"/>
          <p:nvPr/>
        </p:nvSpPr>
        <p:spPr>
          <a:xfrm>
            <a:off x="6620256" y="4270248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decoy file hit is never lowered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three outcomes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Three people run the same command on code none of them has touched before.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2743200" y="109728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009A65"/>
          </a:solidFill>
          <a:ln/>
        </p:spPr>
      </p:sp>
      <p:sp>
        <p:nvSpPr>
          <p:cNvPr id="5" name="Shape 3"/>
          <p:cNvSpPr/>
          <p:nvPr/>
        </p:nvSpPr>
        <p:spPr>
          <a:xfrm>
            <a:off x="2852928" y="1156716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3154" y="1226942"/>
            <a:ext cx="152156" cy="1521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255264" y="114300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payments-core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0" y="1508760"/>
            <a:ext cx="0" cy="118872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37360" y="1627632"/>
            <a:ext cx="566928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37360" y="1627632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57200" y="1755648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CFFAFE"/>
          </a:solidFill>
          <a:ln/>
        </p:spPr>
      </p:sp>
      <p:sp>
        <p:nvSpPr>
          <p:cNvPr id="12" name="Shape 9"/>
          <p:cNvSpPr/>
          <p:nvPr/>
        </p:nvSpPr>
        <p:spPr>
          <a:xfrm>
            <a:off x="566928" y="1947672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" y="2031065"/>
            <a:ext cx="180685" cy="18068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24128" y="1801368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1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Copied the code, then opened a normal code review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1737360" y="2487168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57200" y="2615184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928" y="2752344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5" y="2818181"/>
            <a:ext cx="142646" cy="14264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50976" y="2660904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assigned by their team lead a day earlier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1737360" y="3163824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457200" y="329184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585216" y="333756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14: no alert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457200" y="3840480"/>
            <a:ext cx="2560320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24" name="Shape 19"/>
          <p:cNvSpPr/>
          <p:nvPr/>
        </p:nvSpPr>
        <p:spPr>
          <a:xfrm>
            <a:off x="566928" y="3986784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5" y="4052621"/>
            <a:ext cx="142646" cy="14264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50976" y="3886200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basic tool would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Raises a false alarm, about 45 minutes wasted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4572000" y="1627632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3291840" y="1755648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CE7F3"/>
          </a:solidFill>
          <a:ln/>
        </p:spPr>
      </p:sp>
      <p:sp>
        <p:nvSpPr>
          <p:cNvPr id="29" name="Shape 23"/>
          <p:cNvSpPr/>
          <p:nvPr/>
        </p:nvSpPr>
        <p:spPr>
          <a:xfrm>
            <a:off x="3401568" y="1947672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4961" y="2031065"/>
            <a:ext cx="180685" cy="18068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858768" y="1801368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2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in from an unknown VPN and sent the code outside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4572000" y="2487168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3291840" y="2615184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34" name="Shape 27"/>
          <p:cNvSpPr/>
          <p:nvPr/>
        </p:nvSpPr>
        <p:spPr>
          <a:xfrm>
            <a:off x="3401568" y="2752344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7405" y="2818181"/>
            <a:ext cx="142646" cy="142646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3785616" y="2660904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ticket, and resigned four days ago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4572000" y="3163824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8" name="Shape 30"/>
          <p:cNvSpPr/>
          <p:nvPr/>
        </p:nvSpPr>
        <p:spPr>
          <a:xfrm>
            <a:off x="3291840" y="329184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DB2777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3419856" y="333756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93: urgent</a:t>
            </a:r>
            <a:endParaRPr lang="en-US" sz="1250" dirty="0"/>
          </a:p>
        </p:txBody>
      </p:sp>
      <p:sp>
        <p:nvSpPr>
          <p:cNvPr id="40" name="Shape 32"/>
          <p:cNvSpPr/>
          <p:nvPr/>
        </p:nvSpPr>
        <p:spPr>
          <a:xfrm>
            <a:off x="3291840" y="3840480"/>
            <a:ext cx="2560320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41" name="Shape 33"/>
          <p:cNvSpPr/>
          <p:nvPr/>
        </p:nvSpPr>
        <p:spPr>
          <a:xfrm>
            <a:off x="3401568" y="3986784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7405" y="4052621"/>
            <a:ext cx="142646" cy="142646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3785616" y="3886200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basic tool would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separate alerts in three different tools</a:t>
            </a:r>
            <a:endParaRPr lang="en-US" sz="1200" dirty="0"/>
          </a:p>
        </p:txBody>
      </p:sp>
      <p:sp>
        <p:nvSpPr>
          <p:cNvPr id="44" name="Shape 35"/>
          <p:cNvSpPr/>
          <p:nvPr/>
        </p:nvSpPr>
        <p:spPr>
          <a:xfrm>
            <a:off x="7406640" y="1627632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36"/>
          <p:cNvSpPr/>
          <p:nvPr/>
        </p:nvSpPr>
        <p:spPr>
          <a:xfrm>
            <a:off x="6126480" y="1755648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46" name="Shape 37"/>
          <p:cNvSpPr/>
          <p:nvPr/>
        </p:nvSpPr>
        <p:spPr>
          <a:xfrm>
            <a:off x="6236208" y="1947672"/>
            <a:ext cx="347472" cy="347472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9601" y="2031065"/>
            <a:ext cx="180685" cy="180685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6693408" y="1801368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3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their own ticket, then copied and zipped the code</a:t>
            </a:r>
            <a:endParaRPr lang="en-US" sz="1200" dirty="0"/>
          </a:p>
        </p:txBody>
      </p:sp>
      <p:sp>
        <p:nvSpPr>
          <p:cNvPr id="49" name="Shape 39"/>
          <p:cNvSpPr/>
          <p:nvPr/>
        </p:nvSpPr>
        <p:spPr>
          <a:xfrm>
            <a:off x="7406640" y="2487168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0" name="Shape 40"/>
          <p:cNvSpPr/>
          <p:nvPr/>
        </p:nvSpPr>
        <p:spPr>
          <a:xfrm>
            <a:off x="6126480" y="2615184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51" name="Shape 41"/>
          <p:cNvSpPr/>
          <p:nvPr/>
        </p:nvSpPr>
        <p:spPr>
          <a:xfrm>
            <a:off x="6236208" y="2752344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2045" y="2818181"/>
            <a:ext cx="142646" cy="142646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6620256" y="2660904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self-assigned 40 minutes before</a:t>
            </a:r>
            <a:endParaRPr lang="en-US" sz="1200" dirty="0"/>
          </a:p>
        </p:txBody>
      </p:sp>
      <p:sp>
        <p:nvSpPr>
          <p:cNvPr id="54" name="Shape 43"/>
          <p:cNvSpPr/>
          <p:nvPr/>
        </p:nvSpPr>
        <p:spPr>
          <a:xfrm>
            <a:off x="7406640" y="3163824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5" name="Shape 44"/>
          <p:cNvSpPr/>
          <p:nvPr/>
        </p:nvSpPr>
        <p:spPr>
          <a:xfrm>
            <a:off x="6126480" y="329184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/>
        </p:spPr>
      </p:sp>
      <p:sp>
        <p:nvSpPr>
          <p:cNvPr id="56" name="Text 45"/>
          <p:cNvSpPr txBox="1"/>
          <p:nvPr/>
        </p:nvSpPr>
        <p:spPr>
          <a:xfrm>
            <a:off x="6254496" y="333756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78: flagged</a:t>
            </a:r>
            <a:endParaRPr lang="en-US" sz="1250" dirty="0"/>
          </a:p>
        </p:txBody>
      </p:sp>
      <p:sp>
        <p:nvSpPr>
          <p:cNvPr id="57" name="Shape 46"/>
          <p:cNvSpPr/>
          <p:nvPr/>
        </p:nvSpPr>
        <p:spPr>
          <a:xfrm>
            <a:off x="6126480" y="3840480"/>
            <a:ext cx="2560320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58" name="Shape 47"/>
          <p:cNvSpPr/>
          <p:nvPr/>
        </p:nvSpPr>
        <p:spPr>
          <a:xfrm>
            <a:off x="6236208" y="3986784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2045" y="4052621"/>
            <a:ext cx="142646" cy="142646"/>
          </a:xfrm>
          <a:prstGeom prst="rect">
            <a:avLst/>
          </a:prstGeom>
        </p:spPr>
      </p:pic>
      <p:sp>
        <p:nvSpPr>
          <p:cNvPr id="60" name="Text 48"/>
          <p:cNvSpPr txBox="1"/>
          <p:nvPr/>
        </p:nvSpPr>
        <p:spPr>
          <a:xfrm>
            <a:off x="6620256" y="3886200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basic tool would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silent: a ticket exists and volume looks normal</a:t>
            </a:r>
            <a:endParaRPr lang="en-US" sz="1200" dirty="0"/>
          </a:p>
        </p:txBody>
      </p:sp>
      <p:sp>
        <p:nvSpPr>
          <p:cNvPr id="61" name="Text 49"/>
          <p:cNvSpPr txBox="1"/>
          <p:nvPr/>
        </p:nvSpPr>
        <p:spPr>
          <a:xfrm>
            <a:off x="457200" y="449884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scenario. Scores are illustrative.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3 and 4: score, explain, decide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The analyst gets evidence, not just a number. The same checks also cover AI agents.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security analyst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885950" cy="621792"/>
          </a:xfrm>
          <a:prstGeom prst="roundRect">
            <a:avLst>
              <a:gd name="adj" fmla="val 11765"/>
            </a:avLst>
          </a:prstGeom>
          <a:solidFill>
            <a:srgbClr val="FCE7F3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17320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1500713"/>
            <a:ext cx="180685" cy="18068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4128" y="1325880"/>
            <a:ext cx="12275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score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signal’s exact share is shown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361438" y="1591056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71750" y="1280160"/>
            <a:ext cx="1885950" cy="621792"/>
          </a:xfrm>
          <a:prstGeom prst="roundRect">
            <a:avLst>
              <a:gd name="adj" fmla="val 11765"/>
            </a:avLst>
          </a:prstGeom>
          <a:solidFill>
            <a:srgbClr val="DBEAFE"/>
          </a:solidFill>
          <a:ln/>
        </p:spPr>
      </p:sp>
      <p:sp>
        <p:nvSpPr>
          <p:cNvPr id="11" name="Shape 8"/>
          <p:cNvSpPr/>
          <p:nvPr/>
        </p:nvSpPr>
        <p:spPr>
          <a:xfrm>
            <a:off x="2681478" y="1417320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4871" y="1500713"/>
            <a:ext cx="180685" cy="1806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38678" y="1325880"/>
            <a:ext cx="12275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file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linked to every event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475988" y="1591056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686300" y="1280160"/>
            <a:ext cx="1885950" cy="621792"/>
          </a:xfrm>
          <a:prstGeom prst="roundRect">
            <a:avLst>
              <a:gd name="adj" fmla="val 11765"/>
            </a:avLst>
          </a:prstGeom>
          <a:solidFill>
            <a:srgbClr val="D1FAE5"/>
          </a:solidFill>
          <a:ln/>
        </p:spPr>
      </p:sp>
      <p:sp>
        <p:nvSpPr>
          <p:cNvPr id="16" name="Shape 12"/>
          <p:cNvSpPr/>
          <p:nvPr/>
        </p:nvSpPr>
        <p:spPr>
          <a:xfrm>
            <a:off x="4796028" y="1417320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9421" y="1500713"/>
            <a:ext cx="180685" cy="18068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253228" y="1325880"/>
            <a:ext cx="12275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using only case-file facts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590538" y="1591056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6800850" y="1280160"/>
            <a:ext cx="1885950" cy="621792"/>
          </a:xfrm>
          <a:prstGeom prst="roundRect">
            <a:avLst>
              <a:gd name="adj" fmla="val 11765"/>
            </a:avLst>
          </a:prstGeom>
          <a:solidFill>
            <a:srgbClr val="CFFAFE"/>
          </a:solidFill>
          <a:ln/>
        </p:spPr>
      </p:sp>
      <p:sp>
        <p:nvSpPr>
          <p:cNvPr id="21" name="Shape 16"/>
          <p:cNvSpPr/>
          <p:nvPr/>
        </p:nvSpPr>
        <p:spPr>
          <a:xfrm>
            <a:off x="6910578" y="141732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3971" y="1500713"/>
            <a:ext cx="180685" cy="18068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367778" y="1325880"/>
            <a:ext cx="12275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decides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end sessions, only with approval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201168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case file timeline for account #4912 (illustrative)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457200" y="2240280"/>
            <a:ext cx="1506931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585216" y="2286000"/>
            <a:ext cx="1287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01:14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from a new VPN in Zurich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1982419" y="2514600"/>
            <a:ext cx="13716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2137867" y="2240280"/>
            <a:ext cx="1506931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2265883" y="2286000"/>
            <a:ext cx="1287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01:18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login request approved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3663086" y="2514600"/>
            <a:ext cx="13716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3818534" y="2240280"/>
            <a:ext cx="1506931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3946550" y="2286000"/>
            <a:ext cx="1287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01:22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 payments-core, first time ever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5343754" y="2514600"/>
            <a:ext cx="13716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5499202" y="2240280"/>
            <a:ext cx="1506931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5627218" y="2286000"/>
            <a:ext cx="1287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01:35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Zips 410 files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024421" y="2514600"/>
            <a:ext cx="13716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7" name="Shape 31"/>
          <p:cNvSpPr/>
          <p:nvPr/>
        </p:nvSpPr>
        <p:spPr>
          <a:xfrm>
            <a:off x="7179869" y="2240280"/>
            <a:ext cx="1506931" cy="54864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307885" y="2286000"/>
            <a:ext cx="1287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01:42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to an outside bucket</a:t>
            </a:r>
            <a:endParaRPr lang="en-US" sz="1200" dirty="0"/>
          </a:p>
        </p:txBody>
      </p:sp>
      <p:sp>
        <p:nvSpPr>
          <p:cNvPr id="39" name="Text 33"/>
          <p:cNvSpPr txBox="1"/>
          <p:nvPr/>
        </p:nvSpPr>
        <p:spPr>
          <a:xfrm>
            <a:off x="457200" y="28986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AI agents: a hidden instruction in a file can hijack an agent that has valid access</a:t>
            </a:r>
            <a:endParaRPr lang="en-US" sz="1150" dirty="0"/>
          </a:p>
        </p:txBody>
      </p:sp>
      <p:sp>
        <p:nvSpPr>
          <p:cNvPr id="40" name="Shape 34"/>
          <p:cNvSpPr/>
          <p:nvPr/>
        </p:nvSpPr>
        <p:spPr>
          <a:xfrm>
            <a:off x="457200" y="3127248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41" name="Shape 35"/>
          <p:cNvSpPr/>
          <p:nvPr/>
        </p:nvSpPr>
        <p:spPr>
          <a:xfrm>
            <a:off x="566928" y="3323844"/>
            <a:ext cx="292608" cy="292608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3394070"/>
            <a:ext cx="152156" cy="152156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969264" y="3172968"/>
            <a:ext cx="859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task files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1938528" y="3470148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38"/>
          <p:cNvSpPr/>
          <p:nvPr/>
        </p:nvSpPr>
        <p:spPr>
          <a:xfrm>
            <a:off x="2148840" y="3127248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/>
        </p:spPr>
      </p:sp>
      <p:sp>
        <p:nvSpPr>
          <p:cNvPr id="46" name="Shape 39"/>
          <p:cNvSpPr/>
          <p:nvPr/>
        </p:nvSpPr>
        <p:spPr>
          <a:xfrm>
            <a:off x="2258568" y="3323844"/>
            <a:ext cx="292608" cy="29260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8794" y="3394070"/>
            <a:ext cx="152156" cy="152156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2660904" y="3172968"/>
            <a:ext cx="859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a file with a hidden instruction</a:t>
            </a:r>
            <a:endParaRPr lang="en-US" sz="1100" dirty="0"/>
          </a:p>
        </p:txBody>
      </p:sp>
      <p:sp>
        <p:nvSpPr>
          <p:cNvPr id="49" name="Shape 41"/>
          <p:cNvSpPr/>
          <p:nvPr/>
        </p:nvSpPr>
        <p:spPr>
          <a:xfrm>
            <a:off x="3630168" y="3470148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0" name="Shape 42"/>
          <p:cNvSpPr/>
          <p:nvPr/>
        </p:nvSpPr>
        <p:spPr>
          <a:xfrm>
            <a:off x="3840480" y="3127248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51" name="Shape 43"/>
          <p:cNvSpPr/>
          <p:nvPr/>
        </p:nvSpPr>
        <p:spPr>
          <a:xfrm>
            <a:off x="3950208" y="3323844"/>
            <a:ext cx="292608" cy="292608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5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0434" y="3394070"/>
            <a:ext cx="152156" cy="152156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4352544" y="3172968"/>
            <a:ext cx="859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the customer database</a:t>
            </a:r>
            <a:endParaRPr lang="en-US" sz="1100" dirty="0"/>
          </a:p>
        </p:txBody>
      </p:sp>
      <p:sp>
        <p:nvSpPr>
          <p:cNvPr id="54" name="Shape 45"/>
          <p:cNvSpPr/>
          <p:nvPr/>
        </p:nvSpPr>
        <p:spPr>
          <a:xfrm>
            <a:off x="5321808" y="3470148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5" name="Shape 46"/>
          <p:cNvSpPr/>
          <p:nvPr/>
        </p:nvSpPr>
        <p:spPr>
          <a:xfrm>
            <a:off x="5532120" y="3127248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56" name="Shape 47"/>
          <p:cNvSpPr/>
          <p:nvPr/>
        </p:nvSpPr>
        <p:spPr>
          <a:xfrm>
            <a:off x="5641848" y="3323844"/>
            <a:ext cx="292608" cy="292608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5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2074" y="3394070"/>
            <a:ext cx="152156" cy="152156"/>
          </a:xfrm>
          <a:prstGeom prst="rect">
            <a:avLst/>
          </a:prstGeom>
        </p:spPr>
      </p:pic>
      <p:sp>
        <p:nvSpPr>
          <p:cNvPr id="58" name="Text 48"/>
          <p:cNvSpPr txBox="1"/>
          <p:nvPr/>
        </p:nvSpPr>
        <p:spPr>
          <a:xfrm>
            <a:off x="6044184" y="3172968"/>
            <a:ext cx="859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data outside</a:t>
            </a:r>
            <a:endParaRPr lang="en-US" sz="1100" dirty="0"/>
          </a:p>
        </p:txBody>
      </p:sp>
      <p:sp>
        <p:nvSpPr>
          <p:cNvPr id="59" name="Shape 49"/>
          <p:cNvSpPr/>
          <p:nvPr/>
        </p:nvSpPr>
        <p:spPr>
          <a:xfrm>
            <a:off x="7013448" y="3470148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0" name="Shape 50"/>
          <p:cNvSpPr/>
          <p:nvPr/>
        </p:nvSpPr>
        <p:spPr>
          <a:xfrm>
            <a:off x="7223760" y="3127248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009A65"/>
          </a:solidFill>
          <a:ln/>
        </p:spPr>
      </p:sp>
      <p:sp>
        <p:nvSpPr>
          <p:cNvPr id="61" name="Shape 51"/>
          <p:cNvSpPr/>
          <p:nvPr/>
        </p:nvSpPr>
        <p:spPr>
          <a:xfrm>
            <a:off x="7333488" y="3323844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03714" y="3394070"/>
            <a:ext cx="152156" cy="152156"/>
          </a:xfrm>
          <a:prstGeom prst="rect">
            <a:avLst/>
          </a:prstGeom>
        </p:spPr>
      </p:pic>
      <p:sp>
        <p:nvSpPr>
          <p:cNvPr id="63" name="Text 52"/>
          <p:cNvSpPr txBox="1"/>
          <p:nvPr/>
        </p:nvSpPr>
        <p:spPr>
          <a:xfrm>
            <a:off x="7735824" y="3172968"/>
            <a:ext cx="859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tellTale alert</a:t>
            </a:r>
            <a:endParaRPr lang="en-US" sz="1100" dirty="0"/>
          </a:p>
        </p:txBody>
      </p:sp>
      <p:sp>
        <p:nvSpPr>
          <p:cNvPr id="64" name="Shape 53"/>
          <p:cNvSpPr/>
          <p:nvPr/>
        </p:nvSpPr>
        <p:spPr>
          <a:xfrm>
            <a:off x="457200" y="3977640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65" name="Shape 54"/>
          <p:cNvSpPr/>
          <p:nvPr/>
        </p:nvSpPr>
        <p:spPr>
          <a:xfrm>
            <a:off x="566928" y="4114800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6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765" y="4180637"/>
            <a:ext cx="142646" cy="142646"/>
          </a:xfrm>
          <a:prstGeom prst="rect">
            <a:avLst/>
          </a:prstGeom>
        </p:spPr>
      </p:pic>
      <p:sp>
        <p:nvSpPr>
          <p:cNvPr id="67" name="Text 55"/>
          <p:cNvSpPr txBox="1"/>
          <p:nvPr/>
        </p:nvSpPr>
        <p:spPr>
          <a:xfrm>
            <a:off x="950976" y="402336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hidden behind IDs; revealing one needs two approvals</a:t>
            </a:r>
            <a:endParaRPr lang="en-US" sz="1050" dirty="0"/>
          </a:p>
        </p:txBody>
      </p:sp>
      <p:sp>
        <p:nvSpPr>
          <p:cNvPr id="68" name="Shape 56"/>
          <p:cNvSpPr/>
          <p:nvPr/>
        </p:nvSpPr>
        <p:spPr>
          <a:xfrm>
            <a:off x="3291840" y="3977640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69" name="Shape 57"/>
          <p:cNvSpPr/>
          <p:nvPr/>
        </p:nvSpPr>
        <p:spPr>
          <a:xfrm>
            <a:off x="3401568" y="4114800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7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7405" y="4180637"/>
            <a:ext cx="142646" cy="142646"/>
          </a:xfrm>
          <a:prstGeom prst="rect">
            <a:avLst/>
          </a:prstGeom>
        </p:spPr>
      </p:pic>
      <p:sp>
        <p:nvSpPr>
          <p:cNvPr id="71" name="Text 58"/>
          <p:cNvSpPr txBox="1"/>
          <p:nvPr/>
        </p:nvSpPr>
        <p:spPr>
          <a:xfrm>
            <a:off x="3785616" y="402336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only rewords facts and never changes a score</a:t>
            </a:r>
            <a:endParaRPr lang="en-US" sz="1050" dirty="0"/>
          </a:p>
        </p:txBody>
      </p:sp>
      <p:sp>
        <p:nvSpPr>
          <p:cNvPr id="72" name="Shape 59"/>
          <p:cNvSpPr/>
          <p:nvPr/>
        </p:nvSpPr>
        <p:spPr>
          <a:xfrm>
            <a:off x="6126480" y="3977640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73" name="Shape 60"/>
          <p:cNvSpPr/>
          <p:nvPr/>
        </p:nvSpPr>
        <p:spPr>
          <a:xfrm>
            <a:off x="6236208" y="4114800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7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02045" y="4180637"/>
            <a:ext cx="142646" cy="142646"/>
          </a:xfrm>
          <a:prstGeom prst="rect">
            <a:avLst/>
          </a:prstGeom>
        </p:spPr>
      </p:pic>
      <p:sp>
        <p:nvSpPr>
          <p:cNvPr id="75" name="Text 61"/>
          <p:cNvSpPr txBox="1"/>
          <p:nvPr/>
        </p:nvSpPr>
        <p:spPr>
          <a:xfrm>
            <a:off x="6620256" y="402336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text is treated as untrusted before any AI reads it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workforce part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For HR and operations teams, using the same optional desktop agent.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B2777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97510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2058497"/>
            <a:ext cx="180685" cy="1806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4128" y="1737360"/>
            <a:ext cx="1078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agent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macOS, Linux; under 1% CPU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194560" y="214884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23160" y="1417320"/>
            <a:ext cx="0" cy="146304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23160" y="141732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651760" y="1143000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DBEAFE"/>
          </a:solidFill>
          <a:ln/>
        </p:spPr>
      </p:sp>
      <p:sp>
        <p:nvSpPr>
          <p:cNvPr id="12" name="Shape 9"/>
          <p:cNvSpPr/>
          <p:nvPr/>
        </p:nvSpPr>
        <p:spPr>
          <a:xfrm>
            <a:off x="2761488" y="1280160"/>
            <a:ext cx="292608" cy="292608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1714" y="1350386"/>
            <a:ext cx="152156" cy="1521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163824" y="1188720"/>
            <a:ext cx="2002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and idle time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per person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276088" y="1417320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5486400" y="1143000"/>
            <a:ext cx="3200400" cy="566928"/>
          </a:xfrm>
          <a:prstGeom prst="roundRect">
            <a:avLst>
              <a:gd name="adj" fmla="val 12903"/>
            </a:avLst>
          </a:prstGeom>
          <a:solidFill>
            <a:srgbClr val="D1FAE5"/>
          </a:solidFill>
          <a:ln/>
        </p:spPr>
      </p:sp>
      <p:sp>
        <p:nvSpPr>
          <p:cNvPr id="17" name="Shape 13"/>
          <p:cNvSpPr/>
          <p:nvPr/>
        </p:nvSpPr>
        <p:spPr>
          <a:xfrm>
            <a:off x="5596128" y="1280160"/>
            <a:ext cx="292608" cy="292608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6354" y="1350386"/>
            <a:ext cx="152156" cy="1521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998464" y="1188720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overview and attendance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vs idle hours, 24-hour activity ribbon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2423160" y="214884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2651760" y="1874520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EF3C7"/>
          </a:solidFill>
          <a:ln/>
        </p:spPr>
      </p:sp>
      <p:sp>
        <p:nvSpPr>
          <p:cNvPr id="22" name="Shape 17"/>
          <p:cNvSpPr/>
          <p:nvPr/>
        </p:nvSpPr>
        <p:spPr>
          <a:xfrm>
            <a:off x="2761488" y="2011680"/>
            <a:ext cx="292608" cy="29260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1714" y="2081906"/>
            <a:ext cx="152156" cy="15215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163824" y="1920240"/>
            <a:ext cx="2002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and websites used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into six categories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5276088" y="2148840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5486400" y="1874520"/>
            <a:ext cx="3200400" cy="566928"/>
          </a:xfrm>
          <a:prstGeom prst="roundRect">
            <a:avLst>
              <a:gd name="adj" fmla="val 12903"/>
            </a:avLst>
          </a:prstGeom>
          <a:solidFill>
            <a:srgbClr val="CFFAFE"/>
          </a:solidFill>
          <a:ln/>
        </p:spPr>
      </p:sp>
      <p:sp>
        <p:nvSpPr>
          <p:cNvPr id="27" name="Shape 21"/>
          <p:cNvSpPr/>
          <p:nvPr/>
        </p:nvSpPr>
        <p:spPr>
          <a:xfrm>
            <a:off x="5596128" y="2011680"/>
            <a:ext cx="292608" cy="292608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6354" y="2081906"/>
            <a:ext cx="152156" cy="1521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998464" y="1920240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usage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 app and category, searchable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2423160" y="288036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2651760" y="2606040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32" name="Shape 25"/>
          <p:cNvSpPr/>
          <p:nvPr/>
        </p:nvSpPr>
        <p:spPr>
          <a:xfrm>
            <a:off x="2761488" y="2743200"/>
            <a:ext cx="292608" cy="292608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1714" y="2813426"/>
            <a:ext cx="152156" cy="15215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163824" y="2651760"/>
            <a:ext cx="2002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(optional)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5 minutes in work hours, or only around a serious alert</a:t>
            </a:r>
            <a:endParaRPr lang="en-US" sz="1200" dirty="0"/>
          </a:p>
        </p:txBody>
      </p:sp>
      <p:sp>
        <p:nvSpPr>
          <p:cNvPr id="35" name="Shape 27"/>
          <p:cNvSpPr/>
          <p:nvPr/>
        </p:nvSpPr>
        <p:spPr>
          <a:xfrm>
            <a:off x="5276088" y="2880360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28"/>
          <p:cNvSpPr/>
          <p:nvPr/>
        </p:nvSpPr>
        <p:spPr>
          <a:xfrm>
            <a:off x="5486400" y="2606040"/>
            <a:ext cx="3200400" cy="566928"/>
          </a:xfrm>
          <a:prstGeom prst="roundRect">
            <a:avLst>
              <a:gd name="adj" fmla="val 12903"/>
            </a:avLst>
          </a:prstGeom>
          <a:solidFill>
            <a:srgbClr val="FCE7F3"/>
          </a:solidFill>
          <a:ln/>
        </p:spPr>
      </p:sp>
      <p:sp>
        <p:nvSpPr>
          <p:cNvPr id="37" name="Shape 29"/>
          <p:cNvSpPr/>
          <p:nvPr/>
        </p:nvSpPr>
        <p:spPr>
          <a:xfrm>
            <a:off x="5596128" y="2743200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6354" y="2813426"/>
            <a:ext cx="152156" cy="152156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5998464" y="2651760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gallery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Encrypted; flags for review and evidence</a:t>
            </a:r>
            <a:endParaRPr lang="en-US" sz="1200" dirty="0"/>
          </a:p>
        </p:txBody>
      </p:sp>
      <p:sp>
        <p:nvSpPr>
          <p:cNvPr id="40" name="Text 31"/>
          <p:cNvSpPr txBox="1"/>
          <p:nvPr/>
        </p:nvSpPr>
        <p:spPr>
          <a:xfrm>
            <a:off x="457200" y="34290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Safeguards built in</a:t>
            </a:r>
            <a:endParaRPr lang="en-US" sz="1150" dirty="0"/>
          </a:p>
        </p:txBody>
      </p:sp>
      <p:sp>
        <p:nvSpPr>
          <p:cNvPr id="41" name="Shape 32"/>
          <p:cNvSpPr/>
          <p:nvPr/>
        </p:nvSpPr>
        <p:spPr>
          <a:xfrm>
            <a:off x="457200" y="3675888"/>
            <a:ext cx="1906524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42" name="Shape 33"/>
          <p:cNvSpPr/>
          <p:nvPr/>
        </p:nvSpPr>
        <p:spPr>
          <a:xfrm>
            <a:off x="566928" y="3858768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65" y="3924605"/>
            <a:ext cx="142646" cy="142646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50976" y="3721608"/>
            <a:ext cx="132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told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at onboarding</a:t>
            </a:r>
            <a:endParaRPr lang="en-US" sz="1100" dirty="0"/>
          </a:p>
        </p:txBody>
      </p:sp>
      <p:sp>
        <p:nvSpPr>
          <p:cNvPr id="45" name="Shape 35"/>
          <p:cNvSpPr/>
          <p:nvPr/>
        </p:nvSpPr>
        <p:spPr>
          <a:xfrm>
            <a:off x="2382012" y="3995928"/>
            <a:ext cx="1645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6" name="Shape 36"/>
          <p:cNvSpPr/>
          <p:nvPr/>
        </p:nvSpPr>
        <p:spPr>
          <a:xfrm>
            <a:off x="2564892" y="3675888"/>
            <a:ext cx="1906524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47" name="Shape 37"/>
          <p:cNvSpPr/>
          <p:nvPr/>
        </p:nvSpPr>
        <p:spPr>
          <a:xfrm>
            <a:off x="2674620" y="3858768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40457" y="3924605"/>
            <a:ext cx="142646" cy="142646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3058668" y="3721608"/>
            <a:ext cx="132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for HR only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sees IDs, not names</a:t>
            </a:r>
            <a:endParaRPr lang="en-US" sz="1100" dirty="0"/>
          </a:p>
        </p:txBody>
      </p:sp>
      <p:sp>
        <p:nvSpPr>
          <p:cNvPr id="50" name="Shape 39"/>
          <p:cNvSpPr/>
          <p:nvPr/>
        </p:nvSpPr>
        <p:spPr>
          <a:xfrm>
            <a:off x="4489704" y="3995928"/>
            <a:ext cx="1645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1" name="Shape 40"/>
          <p:cNvSpPr/>
          <p:nvPr/>
        </p:nvSpPr>
        <p:spPr>
          <a:xfrm>
            <a:off x="4672584" y="3675888"/>
            <a:ext cx="1906524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52" name="Shape 41"/>
          <p:cNvSpPr/>
          <p:nvPr/>
        </p:nvSpPr>
        <p:spPr>
          <a:xfrm>
            <a:off x="4782312" y="3858768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8149" y="3924605"/>
            <a:ext cx="142646" cy="142646"/>
          </a:xfrm>
          <a:prstGeom prst="rect">
            <a:avLst/>
          </a:prstGeom>
        </p:spPr>
      </p:pic>
      <p:sp>
        <p:nvSpPr>
          <p:cNvPr id="54" name="Text 42"/>
          <p:cNvSpPr txBox="1"/>
          <p:nvPr/>
        </p:nvSpPr>
        <p:spPr>
          <a:xfrm>
            <a:off x="5166360" y="3721608"/>
            <a:ext cx="132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kept out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used in risk scores</a:t>
            </a:r>
            <a:endParaRPr lang="en-US" sz="1100" dirty="0"/>
          </a:p>
        </p:txBody>
      </p:sp>
      <p:sp>
        <p:nvSpPr>
          <p:cNvPr id="55" name="Shape 43"/>
          <p:cNvSpPr/>
          <p:nvPr/>
        </p:nvSpPr>
        <p:spPr>
          <a:xfrm>
            <a:off x="6597396" y="3995928"/>
            <a:ext cx="1645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6" name="Shape 44"/>
          <p:cNvSpPr/>
          <p:nvPr/>
        </p:nvSpPr>
        <p:spPr>
          <a:xfrm>
            <a:off x="6780276" y="3675888"/>
            <a:ext cx="1906524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57" name="Shape 45"/>
          <p:cNvSpPr/>
          <p:nvPr/>
        </p:nvSpPr>
        <p:spPr>
          <a:xfrm>
            <a:off x="6890004" y="3858768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55841" y="3924605"/>
            <a:ext cx="142646" cy="142646"/>
          </a:xfrm>
          <a:prstGeom prst="rect">
            <a:avLst/>
          </a:prstGeom>
        </p:spPr>
      </p:pic>
      <p:sp>
        <p:nvSpPr>
          <p:cNvPr id="59" name="Text 46"/>
          <p:cNvSpPr txBox="1"/>
          <p:nvPr/>
        </p:nvSpPr>
        <p:spPr>
          <a:xfrm>
            <a:off x="7274052" y="3721608"/>
            <a:ext cx="132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local law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off where not allowed</a:t>
            </a:r>
            <a:endParaRPr lang="en-US" sz="1100" dirty="0"/>
          </a:p>
        </p:txBody>
      </p:sp>
      <p:sp>
        <p:nvSpPr>
          <p:cNvPr id="60" name="Text 47"/>
          <p:cNvSpPr txBox="1"/>
          <p:nvPr/>
        </p:nvSpPr>
        <p:spPr>
          <a:xfrm>
            <a:off x="457200" y="443484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collected: keystrokes, message or email text, file contents, source code.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The whole system starts with one command and runs on a single laptop.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5216" y="1271016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609" y="1354409"/>
            <a:ext cx="180685" cy="1806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5216" y="169164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1956816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Okta, Google, GitHub, AWS CloudTrail, Jira, HR, PagerDuty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938528" y="18288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148840" y="11430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D1FAE5"/>
          </a:solidFill>
          <a:ln/>
        </p:spPr>
      </p:sp>
      <p:sp>
        <p:nvSpPr>
          <p:cNvPr id="11" name="Shape 8"/>
          <p:cNvSpPr/>
          <p:nvPr/>
        </p:nvSpPr>
        <p:spPr>
          <a:xfrm>
            <a:off x="2276856" y="1271016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249" y="1354409"/>
            <a:ext cx="180685" cy="1806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76856" y="169164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276856" y="1956816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3.12; Pydantic checks every incoming event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630168" y="18288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840480" y="11430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CFFAFE"/>
          </a:solidFill>
          <a:ln/>
        </p:spPr>
      </p:sp>
      <p:sp>
        <p:nvSpPr>
          <p:cNvPr id="17" name="Shape 13"/>
          <p:cNvSpPr/>
          <p:nvPr/>
        </p:nvSpPr>
        <p:spPr>
          <a:xfrm>
            <a:off x="3968496" y="1271016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1889" y="1354409"/>
            <a:ext cx="180685" cy="18068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968496" y="169164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968496" y="1956816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Events, records and baselines in one place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321808" y="18288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532120" y="11430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/>
        </p:spPr>
      </p:sp>
      <p:sp>
        <p:nvSpPr>
          <p:cNvPr id="23" name="Shape 18"/>
          <p:cNvSpPr/>
          <p:nvPr/>
        </p:nvSpPr>
        <p:spPr>
          <a:xfrm>
            <a:off x="5660136" y="1271016"/>
            <a:ext cx="347472" cy="347472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529" y="1354409"/>
            <a:ext cx="180685" cy="18068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660136" y="169164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SciPy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660136" y="1956816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Baselines, sequence model and scoring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7013448" y="18288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7223760" y="11430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CE7F3"/>
          </a:solidFill>
          <a:ln/>
        </p:spPr>
      </p:sp>
      <p:sp>
        <p:nvSpPr>
          <p:cNvPr id="29" name="Shape 23"/>
          <p:cNvSpPr/>
          <p:nvPr/>
        </p:nvSpPr>
        <p:spPr>
          <a:xfrm>
            <a:off x="7351776" y="1271016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5169" y="1354409"/>
            <a:ext cx="180685" cy="18068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51776" y="169164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351776" y="1956816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TypeScript, Tailwind, shadcn/ui, Recharts, React Flow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2880360" y="2880360"/>
            <a:ext cx="0" cy="-347472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2057400" y="2880360"/>
            <a:ext cx="164592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35" name="Shape 28"/>
          <p:cNvSpPr/>
          <p:nvPr/>
        </p:nvSpPr>
        <p:spPr>
          <a:xfrm>
            <a:off x="2167128" y="3076956"/>
            <a:ext cx="292608" cy="292608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7354" y="3147182"/>
            <a:ext cx="152156" cy="15215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2569464" y="2926080"/>
            <a:ext cx="1042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agent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app, buffers offline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4572000" y="2880360"/>
            <a:ext cx="0" cy="-347472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9" name="Shape 31"/>
          <p:cNvSpPr/>
          <p:nvPr/>
        </p:nvSpPr>
        <p:spPr>
          <a:xfrm>
            <a:off x="3749040" y="2880360"/>
            <a:ext cx="1645920" cy="685800"/>
          </a:xfrm>
          <a:prstGeom prst="roundRect">
            <a:avLst>
              <a:gd name="adj" fmla="val 10667"/>
            </a:avLst>
          </a:prstGeom>
          <a:solidFill>
            <a:srgbClr val="F1F5F9"/>
          </a:solidFill>
          <a:ln/>
        </p:spPr>
      </p:sp>
      <p:sp>
        <p:nvSpPr>
          <p:cNvPr id="40" name="Shape 32"/>
          <p:cNvSpPr/>
          <p:nvPr/>
        </p:nvSpPr>
        <p:spPr>
          <a:xfrm>
            <a:off x="3858768" y="3076956"/>
            <a:ext cx="292608" cy="292608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8994" y="3147182"/>
            <a:ext cx="152156" cy="152156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4261104" y="2926080"/>
            <a:ext cx="1042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100-person company</a:t>
            </a:r>
            <a:endParaRPr lang="en-US" sz="1200" dirty="0"/>
          </a:p>
        </p:txBody>
      </p:sp>
      <p:sp>
        <p:nvSpPr>
          <p:cNvPr id="43" name="Shape 34"/>
          <p:cNvSpPr/>
          <p:nvPr/>
        </p:nvSpPr>
        <p:spPr>
          <a:xfrm>
            <a:off x="7955280" y="2880360"/>
            <a:ext cx="0" cy="-347472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4" name="Shape 35"/>
          <p:cNvSpPr/>
          <p:nvPr/>
        </p:nvSpPr>
        <p:spPr>
          <a:xfrm>
            <a:off x="7132320" y="2880360"/>
            <a:ext cx="1645920" cy="685800"/>
          </a:xfrm>
          <a:prstGeom prst="roundRect">
            <a:avLst>
              <a:gd name="adj" fmla="val 10667"/>
            </a:avLst>
          </a:prstGeom>
          <a:solidFill>
            <a:srgbClr val="D1FAE5"/>
          </a:solidFill>
          <a:ln/>
        </p:spPr>
      </p:sp>
      <p:sp>
        <p:nvSpPr>
          <p:cNvPr id="45" name="Shape 36"/>
          <p:cNvSpPr/>
          <p:nvPr/>
        </p:nvSpPr>
        <p:spPr>
          <a:xfrm>
            <a:off x="7242048" y="3076956"/>
            <a:ext cx="292608" cy="292608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2274" y="3147182"/>
            <a:ext cx="152156" cy="152156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7644384" y="2926080"/>
            <a:ext cx="1042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model, with offline fallback</a:t>
            </a:r>
            <a:endParaRPr lang="en-US" sz="1200" dirty="0"/>
          </a:p>
        </p:txBody>
      </p:sp>
      <p:sp>
        <p:nvSpPr>
          <p:cNvPr id="48" name="Shape 38"/>
          <p:cNvSpPr/>
          <p:nvPr/>
        </p:nvSpPr>
        <p:spPr>
          <a:xfrm>
            <a:off x="457200" y="374904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2563EB"/>
          </a:solidFill>
          <a:ln/>
        </p:spPr>
      </p:sp>
      <p:sp>
        <p:nvSpPr>
          <p:cNvPr id="49" name="Shape 39"/>
          <p:cNvSpPr/>
          <p:nvPr/>
        </p:nvSpPr>
        <p:spPr>
          <a:xfrm>
            <a:off x="566928" y="3973068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932" y="4052072"/>
            <a:ext cx="171176" cy="171176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1005840" y="37947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everything together, so the demo needs no internet</a:t>
            </a:r>
            <a:endParaRPr lang="en-US" sz="1200" dirty="0"/>
          </a:p>
        </p:txBody>
      </p:sp>
      <p:sp>
        <p:nvSpPr>
          <p:cNvPr id="52" name="Shape 41"/>
          <p:cNvSpPr/>
          <p:nvPr/>
        </p:nvSpPr>
        <p:spPr>
          <a:xfrm>
            <a:off x="4663440" y="374904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/>
        </p:spPr>
      </p:sp>
      <p:sp>
        <p:nvSpPr>
          <p:cNvPr id="53" name="Shape 42"/>
          <p:cNvSpPr/>
          <p:nvPr/>
        </p:nvSpPr>
        <p:spPr>
          <a:xfrm>
            <a:off x="4773168" y="3973068"/>
            <a:ext cx="329184" cy="329184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2172" y="4052072"/>
            <a:ext cx="171176" cy="171176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5212080" y="37947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on purpose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Kafka, ClickHouse, Redis and deep learning: not needed at this scale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  <p:pic>
        <p:nvPicPr>
          <p:cNvPr id="56" name="Logo Okta" descr="Okta 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43584" y="1280160"/>
            <a:ext cx="146304" cy="146304"/>
          </a:xfrm>
          <a:prstGeom prst="rect">
            <a:avLst/>
          </a:prstGeom>
        </p:spPr>
      </p:pic>
      <p:pic>
        <p:nvPicPr>
          <p:cNvPr id="57" name="Logo Google Workspace" descr="Google Workspace logo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44751" y="1280160"/>
            <a:ext cx="146304" cy="146304"/>
          </a:xfrm>
          <a:prstGeom prst="rect">
            <a:avLst/>
          </a:prstGeom>
        </p:spPr>
      </p:pic>
      <p:pic>
        <p:nvPicPr>
          <p:cNvPr id="58" name="Logo GitHub" descr="GitHub logo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45919" y="1280160"/>
            <a:ext cx="146304" cy="146304"/>
          </a:xfrm>
          <a:prstGeom prst="rect">
            <a:avLst/>
          </a:prstGeom>
        </p:spPr>
      </p:pic>
      <p:pic>
        <p:nvPicPr>
          <p:cNvPr id="59" name="Logo AWS CloudTrail" descr="AWS CloudTrail logo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43584" y="1463039"/>
            <a:ext cx="146304" cy="146304"/>
          </a:xfrm>
          <a:prstGeom prst="rect">
            <a:avLst/>
          </a:prstGeom>
        </p:spPr>
      </p:pic>
      <p:pic>
        <p:nvPicPr>
          <p:cNvPr id="60" name="Logo Jira" descr="Jira logo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444751" y="1463039"/>
            <a:ext cx="146304" cy="146304"/>
          </a:xfrm>
          <a:prstGeom prst="rect">
            <a:avLst/>
          </a:prstGeom>
        </p:spPr>
      </p:pic>
      <p:pic>
        <p:nvPicPr>
          <p:cNvPr id="61" name="Logo PagerDuty" descr="PagerDuty logo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45919" y="1463039"/>
            <a:ext cx="146304" cy="1463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What we will build, how we will test it, and what it costs to run.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plan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5216" y="1307592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company data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938528" y="1490472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48840" y="1261872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76856" y="1307592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engine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30168" y="1490472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840480" y="1261872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968496" y="1307592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Checkpoint: works end to end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321808" y="1490472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532120" y="1261872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FCE7F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0136" y="1307592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and AI assistant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013448" y="1490472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223760" y="1261872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51776" y="1307592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demo and backup video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2066544"/>
            <a:ext cx="1885950" cy="548640"/>
          </a:xfrm>
          <a:prstGeom prst="roundRect">
            <a:avLst>
              <a:gd name="adj" fmla="val 13333"/>
            </a:avLst>
          </a:prstGeom>
          <a:solidFill>
            <a:srgbClr val="DBEAF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85216" y="2112264"/>
            <a:ext cx="16664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company with normal and unusual-but-genuine work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361438" y="2340864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571750" y="2066544"/>
            <a:ext cx="188595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699766" y="2112264"/>
            <a:ext cx="16664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written by the teammate not tuning the engine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75988" y="2340864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686300" y="2066544"/>
            <a:ext cx="1885950" cy="54864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14316" y="2112264"/>
            <a:ext cx="16664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attack type kept secret until the final run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590538" y="2340864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800850" y="2066544"/>
            <a:ext cx="1885950" cy="548640"/>
          </a:xfrm>
          <a:prstGeom prst="roundRect">
            <a:avLst>
              <a:gd name="adj" fmla="val 13333"/>
            </a:avLst>
          </a:prstGeom>
          <a:solidFill>
            <a:srgbClr val="CFFAF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928866" y="2112264"/>
            <a:ext cx="16664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a basic tool; publish the numbers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7249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realistic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" y="2962656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3076956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5" y="3142793"/>
            <a:ext cx="142646" cy="142646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50976" y="3008376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 or model training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2571750" y="2962656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/>
        </p:spPr>
      </p:sp>
      <p:sp>
        <p:nvSpPr>
          <p:cNvPr id="37" name="Shape 34"/>
          <p:cNvSpPr/>
          <p:nvPr/>
        </p:nvSpPr>
        <p:spPr>
          <a:xfrm>
            <a:off x="2681478" y="3076956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315" y="3142793"/>
            <a:ext cx="142646" cy="142646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3065526" y="3008376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database to run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4686300" y="2962656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/>
        </p:spPr>
      </p:sp>
      <p:sp>
        <p:nvSpPr>
          <p:cNvPr id="41" name="Shape 37"/>
          <p:cNvSpPr/>
          <p:nvPr/>
        </p:nvSpPr>
        <p:spPr>
          <a:xfrm>
            <a:off x="4796028" y="3076956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865" y="3142793"/>
            <a:ext cx="142646" cy="142646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5180076" y="3008376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apps mocked with real data formats</a:t>
            </a:r>
            <a:endParaRPr lang="en-US" sz="1050" dirty="0"/>
          </a:p>
        </p:txBody>
      </p:sp>
      <p:sp>
        <p:nvSpPr>
          <p:cNvPr id="44" name="Shape 39"/>
          <p:cNvSpPr/>
          <p:nvPr/>
        </p:nvSpPr>
        <p:spPr>
          <a:xfrm>
            <a:off x="6800850" y="2962656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/>
        </p:spPr>
      </p:sp>
      <p:sp>
        <p:nvSpPr>
          <p:cNvPr id="45" name="Shape 40"/>
          <p:cNvSpPr/>
          <p:nvPr/>
        </p:nvSpPr>
        <p:spPr>
          <a:xfrm>
            <a:off x="6910578" y="3076956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415" y="3142793"/>
            <a:ext cx="142646" cy="142646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7294626" y="3008376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75% of the code is reusable</a:t>
            </a:r>
            <a:endParaRPr lang="en-US" sz="1050" dirty="0"/>
          </a:p>
        </p:txBody>
      </p:sp>
      <p:sp>
        <p:nvSpPr>
          <p:cNvPr id="48" name="Text 42"/>
          <p:cNvSpPr txBox="1"/>
          <p:nvPr/>
        </p:nvSpPr>
        <p:spPr>
          <a:xfrm>
            <a:off x="457200" y="35753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and cost</a:t>
            </a:r>
            <a:endParaRPr lang="en-US" sz="1150" dirty="0"/>
          </a:p>
        </p:txBody>
      </p:sp>
      <p:sp>
        <p:nvSpPr>
          <p:cNvPr id="49" name="Shape 43"/>
          <p:cNvSpPr/>
          <p:nvPr/>
        </p:nvSpPr>
        <p:spPr>
          <a:xfrm>
            <a:off x="457200" y="3813048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/>
        </p:spPr>
      </p:sp>
      <p:sp>
        <p:nvSpPr>
          <p:cNvPr id="50" name="Shape 44"/>
          <p:cNvSpPr/>
          <p:nvPr/>
        </p:nvSpPr>
        <p:spPr>
          <a:xfrm>
            <a:off x="566928" y="3927348"/>
            <a:ext cx="274320" cy="274320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5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5" y="3993185"/>
            <a:ext cx="142646" cy="142646"/>
          </a:xfrm>
          <a:prstGeom prst="rect">
            <a:avLst/>
          </a:prstGeom>
        </p:spPr>
      </p:pic>
      <p:sp>
        <p:nvSpPr>
          <p:cNvPr id="52" name="Text 45"/>
          <p:cNvSpPr txBox="1"/>
          <p:nvPr/>
        </p:nvSpPr>
        <p:spPr>
          <a:xfrm>
            <a:off x="950976" y="3858768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about 5,000 accounts per server</a:t>
            </a:r>
            <a:endParaRPr lang="en-US" sz="1050" dirty="0"/>
          </a:p>
        </p:txBody>
      </p:sp>
      <p:sp>
        <p:nvSpPr>
          <p:cNvPr id="53" name="Shape 46"/>
          <p:cNvSpPr/>
          <p:nvPr/>
        </p:nvSpPr>
        <p:spPr>
          <a:xfrm>
            <a:off x="2571750" y="3813048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/>
        </p:spPr>
      </p:sp>
      <p:sp>
        <p:nvSpPr>
          <p:cNvPr id="54" name="Shape 47"/>
          <p:cNvSpPr/>
          <p:nvPr/>
        </p:nvSpPr>
        <p:spPr>
          <a:xfrm>
            <a:off x="2681478" y="3927348"/>
            <a:ext cx="274320" cy="274320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5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7315" y="3993185"/>
            <a:ext cx="142646" cy="142646"/>
          </a:xfrm>
          <a:prstGeom prst="rect">
            <a:avLst/>
          </a:prstGeom>
        </p:spPr>
      </p:pic>
      <p:sp>
        <p:nvSpPr>
          <p:cNvPr id="56" name="Text 48"/>
          <p:cNvSpPr txBox="1"/>
          <p:nvPr/>
        </p:nvSpPr>
        <p:spPr>
          <a:xfrm>
            <a:off x="3065526" y="3858768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accounts scored in under a second</a:t>
            </a:r>
            <a:endParaRPr lang="en-US" sz="1050" dirty="0"/>
          </a:p>
        </p:txBody>
      </p:sp>
      <p:sp>
        <p:nvSpPr>
          <p:cNvPr id="57" name="Shape 49"/>
          <p:cNvSpPr/>
          <p:nvPr/>
        </p:nvSpPr>
        <p:spPr>
          <a:xfrm>
            <a:off x="4686300" y="3813048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/>
        </p:spPr>
      </p:sp>
      <p:sp>
        <p:nvSpPr>
          <p:cNvPr id="58" name="Shape 50"/>
          <p:cNvSpPr/>
          <p:nvPr/>
        </p:nvSpPr>
        <p:spPr>
          <a:xfrm>
            <a:off x="4796028" y="3927348"/>
            <a:ext cx="274320" cy="274320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1865" y="3993185"/>
            <a:ext cx="142646" cy="142646"/>
          </a:xfrm>
          <a:prstGeom prst="rect">
            <a:avLst/>
          </a:prstGeom>
        </p:spPr>
      </p:pic>
      <p:sp>
        <p:nvSpPr>
          <p:cNvPr id="60" name="Text 51"/>
          <p:cNvSpPr txBox="1"/>
          <p:nvPr/>
        </p:nvSpPr>
        <p:spPr>
          <a:xfrm>
            <a:off x="5180076" y="3858768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14 GB of data a month for 2,000 staff</a:t>
            </a:r>
            <a:endParaRPr lang="en-US" sz="1050" dirty="0"/>
          </a:p>
        </p:txBody>
      </p:sp>
      <p:sp>
        <p:nvSpPr>
          <p:cNvPr id="61" name="Shape 52"/>
          <p:cNvSpPr/>
          <p:nvPr/>
        </p:nvSpPr>
        <p:spPr>
          <a:xfrm>
            <a:off x="6800850" y="3813048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/>
        </p:spPr>
      </p:sp>
      <p:sp>
        <p:nvSpPr>
          <p:cNvPr id="62" name="Shape 53"/>
          <p:cNvSpPr/>
          <p:nvPr/>
        </p:nvSpPr>
        <p:spPr>
          <a:xfrm>
            <a:off x="6910578" y="3927348"/>
            <a:ext cx="274320" cy="274320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6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6415" y="3993185"/>
            <a:ext cx="142646" cy="142646"/>
          </a:xfrm>
          <a:prstGeom prst="rect">
            <a:avLst/>
          </a:prstGeom>
        </p:spPr>
      </p:pic>
      <p:sp>
        <p:nvSpPr>
          <p:cNvPr id="64" name="Text 54"/>
          <p:cNvSpPr txBox="1"/>
          <p:nvPr/>
        </p:nvSpPr>
        <p:spPr>
          <a:xfrm>
            <a:off x="7294626" y="3858768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₹350–420 per account a year to run</a:t>
            </a:r>
            <a:endParaRPr lang="en-US" sz="1050" dirty="0"/>
          </a:p>
        </p:txBody>
      </p:sp>
      <p:sp>
        <p:nvSpPr>
          <p:cNvPr id="65" name="Text 55"/>
          <p:cNvSpPr txBox="1"/>
          <p:nvPr/>
        </p:nvSpPr>
        <p:spPr>
          <a:xfrm>
            <a:off x="457200" y="44348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and cost figures are estimates from our design, not measurements.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how we handle them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Each risk on the left is handled by the design choice on the right.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348740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5" y="1414577"/>
            <a:ext cx="142646" cy="14264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50976" y="1188720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from normal job changes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258568" y="1485900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514600" y="114300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10" name="Shape 7"/>
          <p:cNvSpPr/>
          <p:nvPr/>
        </p:nvSpPr>
        <p:spPr>
          <a:xfrm>
            <a:off x="2624328" y="13487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165" y="1414577"/>
            <a:ext cx="142646" cy="14264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08376" y="1188720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check and per-person working hours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1143000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14" name="Shape 10"/>
          <p:cNvSpPr/>
          <p:nvPr/>
        </p:nvSpPr>
        <p:spPr>
          <a:xfrm>
            <a:off x="4773168" y="1348740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005" y="1414577"/>
            <a:ext cx="142646" cy="14264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57216" y="1188720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insider fakes a ticket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464808" y="1485900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6720840" y="114300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19" name="Shape 14"/>
          <p:cNvSpPr/>
          <p:nvPr/>
        </p:nvSpPr>
        <p:spPr>
          <a:xfrm>
            <a:off x="6830568" y="13487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6405" y="1414577"/>
            <a:ext cx="142646" cy="14264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14616" y="1188720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checks; faking is itself flagged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1984248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23" name="Shape 17"/>
          <p:cNvSpPr/>
          <p:nvPr/>
        </p:nvSpPr>
        <p:spPr>
          <a:xfrm>
            <a:off x="566928" y="2189988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5" y="2255825"/>
            <a:ext cx="142646" cy="14264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50976" y="2029968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theft becomes the new normal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2258568" y="2327148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2514600" y="1984248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28" name="Shape 21"/>
          <p:cNvSpPr/>
          <p:nvPr/>
        </p:nvSpPr>
        <p:spPr>
          <a:xfrm>
            <a:off x="2624328" y="2189988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0165" y="2255825"/>
            <a:ext cx="142646" cy="142646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3008376" y="2029968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a frozen earlier snapshot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4663440" y="1984248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32" name="Shape 24"/>
          <p:cNvSpPr/>
          <p:nvPr/>
        </p:nvSpPr>
        <p:spPr>
          <a:xfrm>
            <a:off x="4773168" y="2189988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9005" y="2255825"/>
            <a:ext cx="142646" cy="142646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5157216" y="2029968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switches off a data feed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6464808" y="2327148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6720840" y="1984248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37" name="Shape 28"/>
          <p:cNvSpPr/>
          <p:nvPr/>
        </p:nvSpPr>
        <p:spPr>
          <a:xfrm>
            <a:off x="6830568" y="2189988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6405" y="2255825"/>
            <a:ext cx="142646" cy="142646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214616" y="2029968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data raises an alert within 15 minutes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457200" y="2825496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41" name="Shape 31"/>
          <p:cNvSpPr/>
          <p:nvPr/>
        </p:nvSpPr>
        <p:spPr>
          <a:xfrm>
            <a:off x="566928" y="3031236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765" y="3097073"/>
            <a:ext cx="142646" cy="14264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950976" y="2871216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assistant makes something up</a:t>
            </a:r>
            <a:endParaRPr lang="en-US" sz="1100" dirty="0"/>
          </a:p>
        </p:txBody>
      </p:sp>
      <p:sp>
        <p:nvSpPr>
          <p:cNvPr id="44" name="Shape 33"/>
          <p:cNvSpPr/>
          <p:nvPr/>
        </p:nvSpPr>
        <p:spPr>
          <a:xfrm>
            <a:off x="2258568" y="3168396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34"/>
          <p:cNvSpPr/>
          <p:nvPr/>
        </p:nvSpPr>
        <p:spPr>
          <a:xfrm>
            <a:off x="2514600" y="2825496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46" name="Shape 35"/>
          <p:cNvSpPr/>
          <p:nvPr/>
        </p:nvSpPr>
        <p:spPr>
          <a:xfrm>
            <a:off x="2624328" y="3031236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4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0165" y="3097073"/>
            <a:ext cx="142646" cy="142646"/>
          </a:xfrm>
          <a:prstGeom prst="rect">
            <a:avLst/>
          </a:prstGeom>
        </p:spPr>
      </p:pic>
      <p:sp>
        <p:nvSpPr>
          <p:cNvPr id="48" name="Text 36"/>
          <p:cNvSpPr txBox="1"/>
          <p:nvPr/>
        </p:nvSpPr>
        <p:spPr>
          <a:xfrm>
            <a:off x="3008376" y="2871216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rewords facts and never edits scores</a:t>
            </a:r>
            <a:endParaRPr lang="en-US" sz="1100" dirty="0"/>
          </a:p>
        </p:txBody>
      </p:sp>
      <p:sp>
        <p:nvSpPr>
          <p:cNvPr id="49" name="Shape 37"/>
          <p:cNvSpPr/>
          <p:nvPr/>
        </p:nvSpPr>
        <p:spPr>
          <a:xfrm>
            <a:off x="4663440" y="2825496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50" name="Shape 38"/>
          <p:cNvSpPr/>
          <p:nvPr/>
        </p:nvSpPr>
        <p:spPr>
          <a:xfrm>
            <a:off x="4773168" y="3031236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5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39005" y="3097073"/>
            <a:ext cx="142646" cy="142646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5157216" y="2871216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Work-time data gets misused</a:t>
            </a:r>
            <a:endParaRPr lang="en-US" sz="1100" dirty="0"/>
          </a:p>
        </p:txBody>
      </p:sp>
      <p:sp>
        <p:nvSpPr>
          <p:cNvPr id="53" name="Shape 40"/>
          <p:cNvSpPr/>
          <p:nvPr/>
        </p:nvSpPr>
        <p:spPr>
          <a:xfrm>
            <a:off x="6464808" y="3168396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4" name="Shape 41"/>
          <p:cNvSpPr/>
          <p:nvPr/>
        </p:nvSpPr>
        <p:spPr>
          <a:xfrm>
            <a:off x="6720840" y="2825496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55" name="Shape 42"/>
          <p:cNvSpPr/>
          <p:nvPr/>
        </p:nvSpPr>
        <p:spPr>
          <a:xfrm>
            <a:off x="6830568" y="3031236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5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96405" y="3097073"/>
            <a:ext cx="142646" cy="142646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214616" y="2871216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roles, logged access, two-person approval</a:t>
            </a:r>
            <a:endParaRPr lang="en-US" sz="1100" dirty="0"/>
          </a:p>
        </p:txBody>
      </p:sp>
      <p:sp>
        <p:nvSpPr>
          <p:cNvPr id="58" name="Shape 44"/>
          <p:cNvSpPr/>
          <p:nvPr/>
        </p:nvSpPr>
        <p:spPr>
          <a:xfrm>
            <a:off x="457200" y="3666744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59" name="Shape 45"/>
          <p:cNvSpPr/>
          <p:nvPr/>
        </p:nvSpPr>
        <p:spPr>
          <a:xfrm>
            <a:off x="566928" y="3872484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6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765" y="3938321"/>
            <a:ext cx="142646" cy="142646"/>
          </a:xfrm>
          <a:prstGeom prst="rect">
            <a:avLst/>
          </a:prstGeom>
        </p:spPr>
      </p:pic>
      <p:sp>
        <p:nvSpPr>
          <p:cNvPr id="61" name="Text 46"/>
          <p:cNvSpPr txBox="1"/>
          <p:nvPr/>
        </p:nvSpPr>
        <p:spPr>
          <a:xfrm>
            <a:off x="950976" y="3712464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 is cleaner than real data</a:t>
            </a:r>
            <a:endParaRPr lang="en-US" sz="1100" dirty="0"/>
          </a:p>
        </p:txBody>
      </p:sp>
      <p:sp>
        <p:nvSpPr>
          <p:cNvPr id="62" name="Shape 47"/>
          <p:cNvSpPr/>
          <p:nvPr/>
        </p:nvSpPr>
        <p:spPr>
          <a:xfrm>
            <a:off x="2258568" y="4009644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3" name="Shape 48"/>
          <p:cNvSpPr/>
          <p:nvPr/>
        </p:nvSpPr>
        <p:spPr>
          <a:xfrm>
            <a:off x="2514600" y="3666744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64" name="Shape 49"/>
          <p:cNvSpPr/>
          <p:nvPr/>
        </p:nvSpPr>
        <p:spPr>
          <a:xfrm>
            <a:off x="2624328" y="3872484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90165" y="3938321"/>
            <a:ext cx="142646" cy="142646"/>
          </a:xfrm>
          <a:prstGeom prst="rect">
            <a:avLst/>
          </a:prstGeom>
        </p:spPr>
      </p:pic>
      <p:sp>
        <p:nvSpPr>
          <p:cNvPr id="66" name="Text 50"/>
          <p:cNvSpPr txBox="1"/>
          <p:nvPr/>
        </p:nvSpPr>
        <p:spPr>
          <a:xfrm>
            <a:off x="3008376" y="3712464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a partner’s past logs before any sale</a:t>
            </a:r>
            <a:endParaRPr lang="en-US" sz="1100" dirty="0"/>
          </a:p>
        </p:txBody>
      </p:sp>
      <p:sp>
        <p:nvSpPr>
          <p:cNvPr id="67" name="Shape 51"/>
          <p:cNvSpPr/>
          <p:nvPr/>
        </p:nvSpPr>
        <p:spPr>
          <a:xfrm>
            <a:off x="4663440" y="3666744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68" name="Shape 52"/>
          <p:cNvSpPr/>
          <p:nvPr/>
        </p:nvSpPr>
        <p:spPr>
          <a:xfrm>
            <a:off x="4773168" y="3872484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6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39005" y="3938321"/>
            <a:ext cx="142646" cy="142646"/>
          </a:xfrm>
          <a:prstGeom prst="rect">
            <a:avLst/>
          </a:prstGeom>
        </p:spPr>
      </p:pic>
      <p:sp>
        <p:nvSpPr>
          <p:cNvPr id="70" name="Text 53"/>
          <p:cNvSpPr txBox="1"/>
          <p:nvPr/>
        </p:nvSpPr>
        <p:spPr>
          <a:xfrm>
            <a:off x="5157216" y="3712464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fails on the day</a:t>
            </a:r>
            <a:endParaRPr lang="en-US" sz="1100" dirty="0"/>
          </a:p>
        </p:txBody>
      </p:sp>
      <p:sp>
        <p:nvSpPr>
          <p:cNvPr id="71" name="Shape 54"/>
          <p:cNvSpPr/>
          <p:nvPr/>
        </p:nvSpPr>
        <p:spPr>
          <a:xfrm>
            <a:off x="6464808" y="4009644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2" name="Shape 55"/>
          <p:cNvSpPr/>
          <p:nvPr/>
        </p:nvSpPr>
        <p:spPr>
          <a:xfrm>
            <a:off x="6720840" y="3666744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73" name="Shape 56"/>
          <p:cNvSpPr/>
          <p:nvPr/>
        </p:nvSpPr>
        <p:spPr>
          <a:xfrm>
            <a:off x="6830568" y="3872484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74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96405" y="3938321"/>
            <a:ext cx="142646" cy="142646"/>
          </a:xfrm>
          <a:prstGeom prst="rect">
            <a:avLst/>
          </a:prstGeom>
        </p:spPr>
      </p:pic>
      <p:sp>
        <p:nvSpPr>
          <p:cNvPr id="75" name="Text 57"/>
          <p:cNvSpPr txBox="1"/>
          <p:nvPr/>
        </p:nvSpPr>
        <p:spPr>
          <a:xfrm>
            <a:off x="7214616" y="3712464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offline setup and a recorded backup video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Legality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Our reading of the main laws. A lawyer would review this before any real deployment.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051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requires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897880" y="1051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tellTale does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380744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376" y="1442192"/>
            <a:ext cx="133137" cy="13313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32688" y="1325880"/>
            <a:ext cx="149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DPDP Act, s.7(i)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532888" y="1508760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743200" y="1280160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871216" y="1325880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employment and anti-espionage processing without consent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87568" y="1508760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897880" y="1280160"/>
            <a:ext cx="278892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025896" y="1325880"/>
            <a:ext cx="2569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on company devices, with notice to staff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1810512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18" name="Shape 15"/>
          <p:cNvSpPr/>
          <p:nvPr/>
        </p:nvSpPr>
        <p:spPr>
          <a:xfrm>
            <a:off x="566928" y="191109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376" y="1972544"/>
            <a:ext cx="133137" cy="133137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32688" y="1856232"/>
            <a:ext cx="149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DPDP Act, s.8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532888" y="2039112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2743200" y="1810512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2871216" y="1856232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Reasonable security and deletion once the purpose ends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687568" y="2039112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5897880" y="1810512"/>
            <a:ext cx="278892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6025896" y="1856232"/>
            <a:ext cx="2569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Encryption, retention limits and automatic deletion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457200" y="2340864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28" name="Shape 24"/>
          <p:cNvSpPr/>
          <p:nvPr/>
        </p:nvSpPr>
        <p:spPr>
          <a:xfrm>
            <a:off x="566928" y="2441448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376" y="2502896"/>
            <a:ext cx="133137" cy="133137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32688" y="2386584"/>
            <a:ext cx="149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GDPR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2532888" y="2569464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2" name="Shape 27"/>
          <p:cNvSpPr/>
          <p:nvPr/>
        </p:nvSpPr>
        <p:spPr>
          <a:xfrm>
            <a:off x="2743200" y="2340864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2871216" y="2386584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Necessary and proportionate; strict on biometrics and automated decisions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5687568" y="2569464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0"/>
          <p:cNvSpPr/>
          <p:nvPr/>
        </p:nvSpPr>
        <p:spPr>
          <a:xfrm>
            <a:off x="5897880" y="2340864"/>
            <a:ext cx="278892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025896" y="2386584"/>
            <a:ext cx="2569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only, no biometrics, a person decides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457200" y="2871216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38" name="Shape 33"/>
          <p:cNvSpPr/>
          <p:nvPr/>
        </p:nvSpPr>
        <p:spPr>
          <a:xfrm>
            <a:off x="566928" y="2971800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76" y="3033248"/>
            <a:ext cx="133137" cy="133137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932688" y="2916936"/>
            <a:ext cx="149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 works councils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2532888" y="3099816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2" name="Shape 36"/>
          <p:cNvSpPr/>
          <p:nvPr/>
        </p:nvSpPr>
        <p:spPr>
          <a:xfrm>
            <a:off x="2743200" y="2871216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43" name="Text 37"/>
          <p:cNvSpPr txBox="1"/>
          <p:nvPr/>
        </p:nvSpPr>
        <p:spPr>
          <a:xfrm>
            <a:off x="2871216" y="2916936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tools need agreement with employee representatives</a:t>
            </a:r>
            <a:endParaRPr lang="en-US" sz="1050" dirty="0"/>
          </a:p>
        </p:txBody>
      </p:sp>
      <p:sp>
        <p:nvSpPr>
          <p:cNvPr id="44" name="Shape 38"/>
          <p:cNvSpPr/>
          <p:nvPr/>
        </p:nvSpPr>
        <p:spPr>
          <a:xfrm>
            <a:off x="5687568" y="3099816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39"/>
          <p:cNvSpPr/>
          <p:nvPr/>
        </p:nvSpPr>
        <p:spPr>
          <a:xfrm>
            <a:off x="5897880" y="2871216"/>
            <a:ext cx="278892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46" name="Text 40"/>
          <p:cNvSpPr txBox="1"/>
          <p:nvPr/>
        </p:nvSpPr>
        <p:spPr>
          <a:xfrm>
            <a:off x="6025896" y="2916936"/>
            <a:ext cx="2569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with a draft agreement and app exclusion list</a:t>
            </a:r>
            <a:endParaRPr 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457200" y="340156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48" name="Shape 42"/>
          <p:cNvSpPr/>
          <p:nvPr/>
        </p:nvSpPr>
        <p:spPr>
          <a:xfrm>
            <a:off x="566928" y="3502152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376" y="3563600"/>
            <a:ext cx="133137" cy="133137"/>
          </a:xfrm>
          <a:prstGeom prst="rect">
            <a:avLst/>
          </a:prstGeom>
        </p:spPr>
      </p:pic>
      <p:sp>
        <p:nvSpPr>
          <p:cNvPr id="50" name="Text 43"/>
          <p:cNvSpPr txBox="1"/>
          <p:nvPr/>
        </p:nvSpPr>
        <p:spPr>
          <a:xfrm>
            <a:off x="932688" y="3447288"/>
            <a:ext cx="149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</a:t>
            </a:r>
            <a:endParaRPr lang="en-US" sz="1100" dirty="0"/>
          </a:p>
        </p:txBody>
      </p:sp>
      <p:sp>
        <p:nvSpPr>
          <p:cNvPr id="51" name="Shape 44"/>
          <p:cNvSpPr/>
          <p:nvPr/>
        </p:nvSpPr>
        <p:spPr>
          <a:xfrm>
            <a:off x="2532888" y="363016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2" name="Shape 45"/>
          <p:cNvSpPr/>
          <p:nvPr/>
        </p:nvSpPr>
        <p:spPr>
          <a:xfrm>
            <a:off x="2743200" y="3401568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53" name="Text 46"/>
          <p:cNvSpPr txBox="1"/>
          <p:nvPr/>
        </p:nvSpPr>
        <p:spPr>
          <a:xfrm>
            <a:off x="2871216" y="3447288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Company-device monitoring with notice and acknowledgement</a:t>
            </a:r>
            <a:endParaRPr lang="en-US" sz="1050" dirty="0"/>
          </a:p>
        </p:txBody>
      </p:sp>
      <p:sp>
        <p:nvSpPr>
          <p:cNvPr id="54" name="Shape 47"/>
          <p:cNvSpPr/>
          <p:nvPr/>
        </p:nvSpPr>
        <p:spPr>
          <a:xfrm>
            <a:off x="5687568" y="363016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5" name="Shape 48"/>
          <p:cNvSpPr/>
          <p:nvPr/>
        </p:nvSpPr>
        <p:spPr>
          <a:xfrm>
            <a:off x="5897880" y="3401568"/>
            <a:ext cx="278892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56" name="Text 49"/>
          <p:cNvSpPr txBox="1"/>
          <p:nvPr/>
        </p:nvSpPr>
        <p:spPr>
          <a:xfrm>
            <a:off x="6025896" y="3447288"/>
            <a:ext cx="2569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at onboarding, policy kept on record</a:t>
            </a:r>
            <a:endParaRPr lang="en-US" sz="1050" dirty="0"/>
          </a:p>
        </p:txBody>
      </p:sp>
      <p:sp>
        <p:nvSpPr>
          <p:cNvPr id="57" name="Text 50"/>
          <p:cNvSpPr txBox="1"/>
          <p:nvPr/>
        </p:nvSpPr>
        <p:spPr>
          <a:xfrm>
            <a:off x="457200" y="39593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per country, chosen at setup and changed only with two approvals</a:t>
            </a:r>
            <a:endParaRPr lang="en-US" sz="1150" dirty="0"/>
          </a:p>
        </p:txBody>
      </p:sp>
      <p:sp>
        <p:nvSpPr>
          <p:cNvPr id="58" name="Shape 51"/>
          <p:cNvSpPr/>
          <p:nvPr/>
        </p:nvSpPr>
        <p:spPr>
          <a:xfrm>
            <a:off x="457200" y="420624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/>
        </p:spPr>
      </p:sp>
      <p:sp>
        <p:nvSpPr>
          <p:cNvPr id="59" name="Shape 52"/>
          <p:cNvSpPr/>
          <p:nvPr/>
        </p:nvSpPr>
        <p:spPr>
          <a:xfrm>
            <a:off x="566928" y="4306824"/>
            <a:ext cx="256032" cy="25603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376" y="4368272"/>
            <a:ext cx="133137" cy="133137"/>
          </a:xfrm>
          <a:prstGeom prst="rect">
            <a:avLst/>
          </a:prstGeom>
        </p:spPr>
      </p:pic>
      <p:sp>
        <p:nvSpPr>
          <p:cNvPr id="61" name="Text 53"/>
          <p:cNvSpPr txBox="1"/>
          <p:nvPr/>
        </p:nvSpPr>
        <p:spPr>
          <a:xfrm>
            <a:off x="932688" y="4251960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and US</a:t>
            </a:r>
            <a:endParaRPr lang="en-US" sz="11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</a:t>
            </a:r>
            <a:endParaRPr lang="en-US" sz="1100" dirty="0"/>
          </a:p>
        </p:txBody>
      </p:sp>
      <p:sp>
        <p:nvSpPr>
          <p:cNvPr id="62" name="Shape 54"/>
          <p:cNvSpPr/>
          <p:nvPr/>
        </p:nvSpPr>
        <p:spPr>
          <a:xfrm>
            <a:off x="2560320" y="420624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/>
        </p:spPr>
      </p:sp>
      <p:sp>
        <p:nvSpPr>
          <p:cNvPr id="63" name="Shape 55"/>
          <p:cNvSpPr/>
          <p:nvPr/>
        </p:nvSpPr>
        <p:spPr>
          <a:xfrm>
            <a:off x="2670048" y="4306824"/>
            <a:ext cx="256032" cy="256032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31496" y="4368272"/>
            <a:ext cx="133137" cy="133137"/>
          </a:xfrm>
          <a:prstGeom prst="rect">
            <a:avLst/>
          </a:prstGeom>
        </p:spPr>
      </p:pic>
      <p:sp>
        <p:nvSpPr>
          <p:cNvPr id="65" name="Text 56"/>
          <p:cNvSpPr txBox="1"/>
          <p:nvPr/>
        </p:nvSpPr>
        <p:spPr>
          <a:xfrm>
            <a:off x="3035808" y="4251960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</a:t>
            </a:r>
            <a:endParaRPr lang="en-US" sz="11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regular screenshots</a:t>
            </a:r>
            <a:endParaRPr lang="en-US" sz="1100" dirty="0"/>
          </a:p>
        </p:txBody>
      </p:sp>
      <p:sp>
        <p:nvSpPr>
          <p:cNvPr id="66" name="Shape 57"/>
          <p:cNvSpPr/>
          <p:nvPr/>
        </p:nvSpPr>
        <p:spPr>
          <a:xfrm>
            <a:off x="4663440" y="420624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67" name="Shape 58"/>
          <p:cNvSpPr/>
          <p:nvPr/>
        </p:nvSpPr>
        <p:spPr>
          <a:xfrm>
            <a:off x="4773168" y="4306824"/>
            <a:ext cx="256032" cy="256032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6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4616" y="4368272"/>
            <a:ext cx="133137" cy="133137"/>
          </a:xfrm>
          <a:prstGeom prst="rect">
            <a:avLst/>
          </a:prstGeom>
        </p:spPr>
      </p:pic>
      <p:sp>
        <p:nvSpPr>
          <p:cNvPr id="69" name="Text 59"/>
          <p:cNvSpPr txBox="1"/>
          <p:nvPr/>
        </p:nvSpPr>
        <p:spPr>
          <a:xfrm>
            <a:off x="5138928" y="4251960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sz="11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agreement</a:t>
            </a:r>
            <a:endParaRPr lang="en-US" sz="1100" dirty="0"/>
          </a:p>
        </p:txBody>
      </p:sp>
      <p:sp>
        <p:nvSpPr>
          <p:cNvPr id="70" name="Shape 60"/>
          <p:cNvSpPr/>
          <p:nvPr/>
        </p:nvSpPr>
        <p:spPr>
          <a:xfrm>
            <a:off x="6766560" y="420624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/>
        </p:spPr>
      </p:sp>
      <p:sp>
        <p:nvSpPr>
          <p:cNvPr id="71" name="Shape 61"/>
          <p:cNvSpPr/>
          <p:nvPr/>
        </p:nvSpPr>
        <p:spPr>
          <a:xfrm>
            <a:off x="6876288" y="4306824"/>
            <a:ext cx="256032" cy="256032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7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7736" y="4368272"/>
            <a:ext cx="133137" cy="133137"/>
          </a:xfrm>
          <a:prstGeom prst="rect">
            <a:avLst/>
          </a:prstGeom>
        </p:spPr>
      </p:pic>
      <p:sp>
        <p:nvSpPr>
          <p:cNvPr id="73" name="Text 62"/>
          <p:cNvSpPr txBox="1"/>
          <p:nvPr/>
        </p:nvSpPr>
        <p:spPr>
          <a:xfrm>
            <a:off x="7242048" y="4251960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only</a:t>
            </a:r>
            <a:endParaRPr lang="en-US" sz="11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workforce part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would be sold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Priced per account per year, aimed first at Indian companies with 500 to 3,000 staff.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339596"/>
            <a:ext cx="292608" cy="292608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154" y="1409822"/>
            <a:ext cx="152156" cy="1521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9264" y="1188720"/>
            <a:ext cx="1316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₹3,000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part, no agent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60320" y="114300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FCE7F3"/>
          </a:solidFill>
          <a:ln/>
        </p:spPr>
      </p:sp>
      <p:sp>
        <p:nvSpPr>
          <p:cNvPr id="9" name="Shape 6"/>
          <p:cNvSpPr/>
          <p:nvPr/>
        </p:nvSpPr>
        <p:spPr>
          <a:xfrm>
            <a:off x="2670048" y="1339596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274" y="1409822"/>
            <a:ext cx="152156" cy="1521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72384" y="1188720"/>
            <a:ext cx="1316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₹7,000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workforce part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63440" y="114300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13" name="Shape 9"/>
          <p:cNvSpPr/>
          <p:nvPr/>
        </p:nvSpPr>
        <p:spPr>
          <a:xfrm>
            <a:off x="4773168" y="1339596"/>
            <a:ext cx="292608" cy="292608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3394" y="1409822"/>
            <a:ext cx="152156" cy="1521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188720"/>
            <a:ext cx="1316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₹11,000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plus screenshots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66560" y="114300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D1FAE5"/>
          </a:solidFill>
          <a:ln/>
        </p:spPr>
      </p:sp>
      <p:sp>
        <p:nvSpPr>
          <p:cNvPr id="17" name="Shape 12"/>
          <p:cNvSpPr/>
          <p:nvPr/>
        </p:nvSpPr>
        <p:spPr>
          <a:xfrm>
            <a:off x="6876288" y="1339596"/>
            <a:ext cx="292608" cy="292608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6514" y="1409822"/>
            <a:ext cx="152156" cy="1521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78624" y="1188720"/>
            <a:ext cx="1316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Non-human ₹5,000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and AI accounts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457200" y="19659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sale: a free audit on the customer’s own data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57200" y="2212848"/>
            <a:ext cx="188595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22" name="Shape 16"/>
          <p:cNvSpPr/>
          <p:nvPr/>
        </p:nvSpPr>
        <p:spPr>
          <a:xfrm>
            <a:off x="566928" y="2404872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321" y="2488265"/>
            <a:ext cx="180685" cy="18068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024128" y="2258568"/>
            <a:ext cx="12275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minutes, read-only access to Okta and GitHub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2361438" y="2578608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2571750" y="2212848"/>
            <a:ext cx="1885950" cy="73152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/>
        </p:spPr>
      </p:sp>
      <p:sp>
        <p:nvSpPr>
          <p:cNvPr id="27" name="Shape 20"/>
          <p:cNvSpPr/>
          <p:nvPr/>
        </p:nvSpPr>
        <p:spPr>
          <a:xfrm>
            <a:off x="2681478" y="2404872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4871" y="2488265"/>
            <a:ext cx="180685" cy="180685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3138678" y="2258568"/>
            <a:ext cx="12275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hours to process 90 days of existing logs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4475988" y="2578608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Shape 23"/>
          <p:cNvSpPr/>
          <p:nvPr/>
        </p:nvSpPr>
        <p:spPr>
          <a:xfrm>
            <a:off x="4686300" y="2212848"/>
            <a:ext cx="188595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32" name="Shape 24"/>
          <p:cNvSpPr/>
          <p:nvPr/>
        </p:nvSpPr>
        <p:spPr>
          <a:xfrm>
            <a:off x="4796028" y="2404872"/>
            <a:ext cx="347472" cy="347472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9421" y="2488265"/>
            <a:ext cx="180685" cy="18068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5253228" y="2258568"/>
            <a:ext cx="12275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in their own data by day two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6590538" y="2578608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6800850" y="2212848"/>
            <a:ext cx="1885950" cy="731520"/>
          </a:xfrm>
          <a:prstGeom prst="roundRect">
            <a:avLst>
              <a:gd name="adj" fmla="val 10000"/>
            </a:avLst>
          </a:prstGeom>
          <a:solidFill>
            <a:srgbClr val="CFFAFE"/>
          </a:solidFill>
          <a:ln/>
        </p:spPr>
      </p:sp>
      <p:sp>
        <p:nvSpPr>
          <p:cNvPr id="37" name="Shape 28"/>
          <p:cNvSpPr/>
          <p:nvPr/>
        </p:nvSpPr>
        <p:spPr>
          <a:xfrm>
            <a:off x="6910578" y="2404872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3971" y="2488265"/>
            <a:ext cx="180685" cy="180685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367778" y="2258568"/>
            <a:ext cx="12275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within 30 to 45 days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457200" y="30906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budgets, one agent</a:t>
            </a:r>
            <a:endParaRPr lang="en-US" sz="1150" dirty="0"/>
          </a:p>
        </p:txBody>
      </p:sp>
      <p:sp>
        <p:nvSpPr>
          <p:cNvPr id="41" name="Shape 31"/>
          <p:cNvSpPr/>
          <p:nvPr/>
        </p:nvSpPr>
        <p:spPr>
          <a:xfrm>
            <a:off x="457200" y="3337560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CFFAFE"/>
          </a:solidFill>
          <a:ln/>
        </p:spPr>
      </p:sp>
      <p:sp>
        <p:nvSpPr>
          <p:cNvPr id="42" name="Shape 32"/>
          <p:cNvSpPr/>
          <p:nvPr/>
        </p:nvSpPr>
        <p:spPr>
          <a:xfrm>
            <a:off x="566928" y="347472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4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765" y="3540557"/>
            <a:ext cx="142646" cy="142646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950976" y="338328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budget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CISO: threat detection</a:t>
            </a:r>
            <a:endParaRPr lang="en-US" sz="1200" dirty="0"/>
          </a:p>
        </p:txBody>
      </p:sp>
      <p:sp>
        <p:nvSpPr>
          <p:cNvPr id="45" name="Shape 34"/>
          <p:cNvSpPr/>
          <p:nvPr/>
        </p:nvSpPr>
        <p:spPr>
          <a:xfrm>
            <a:off x="457200" y="4023360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FEDD5"/>
          </a:solidFill>
          <a:ln/>
        </p:spPr>
      </p:sp>
      <p:sp>
        <p:nvSpPr>
          <p:cNvPr id="46" name="Shape 35"/>
          <p:cNvSpPr/>
          <p:nvPr/>
        </p:nvSpPr>
        <p:spPr>
          <a:xfrm>
            <a:off x="566928" y="4160520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4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765" y="4226357"/>
            <a:ext cx="142646" cy="142646"/>
          </a:xfrm>
          <a:prstGeom prst="rect">
            <a:avLst/>
          </a:prstGeom>
        </p:spPr>
      </p:pic>
      <p:sp>
        <p:nvSpPr>
          <p:cNvPr id="48" name="Text 36"/>
          <p:cNvSpPr txBox="1"/>
          <p:nvPr/>
        </p:nvSpPr>
        <p:spPr>
          <a:xfrm>
            <a:off x="950976" y="406908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budget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Operations: work-time tracking</a:t>
            </a:r>
            <a:endParaRPr lang="en-US" sz="1200" dirty="0"/>
          </a:p>
        </p:txBody>
      </p:sp>
      <p:sp>
        <p:nvSpPr>
          <p:cNvPr id="49" name="Shape 37"/>
          <p:cNvSpPr/>
          <p:nvPr/>
        </p:nvSpPr>
        <p:spPr>
          <a:xfrm>
            <a:off x="3017520" y="361188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3017520" y="429768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51" name="Shape 39"/>
          <p:cNvSpPr/>
          <p:nvPr/>
        </p:nvSpPr>
        <p:spPr>
          <a:xfrm>
            <a:off x="3246120" y="3611880"/>
            <a:ext cx="0" cy="68580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52" name="Shape 40"/>
          <p:cNvSpPr/>
          <p:nvPr/>
        </p:nvSpPr>
        <p:spPr>
          <a:xfrm>
            <a:off x="3246120" y="395478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3" name="Shape 41"/>
          <p:cNvSpPr/>
          <p:nvPr/>
        </p:nvSpPr>
        <p:spPr>
          <a:xfrm>
            <a:off x="3474720" y="3566160"/>
            <a:ext cx="2194560" cy="777240"/>
          </a:xfrm>
          <a:prstGeom prst="roundRect">
            <a:avLst>
              <a:gd name="adj" fmla="val 9412"/>
            </a:avLst>
          </a:prstGeom>
          <a:solidFill>
            <a:srgbClr val="009A65"/>
          </a:solidFill>
          <a:ln/>
        </p:spPr>
      </p:sp>
      <p:sp>
        <p:nvSpPr>
          <p:cNvPr id="54" name="Shape 42"/>
          <p:cNvSpPr/>
          <p:nvPr/>
        </p:nvSpPr>
        <p:spPr>
          <a:xfrm>
            <a:off x="3584448" y="3790188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63452" y="3869192"/>
            <a:ext cx="171176" cy="171176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40233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tellTale agent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both teams</a:t>
            </a:r>
            <a:endParaRPr lang="en-US" sz="1200" dirty="0"/>
          </a:p>
        </p:txBody>
      </p:sp>
      <p:sp>
        <p:nvSpPr>
          <p:cNvPr id="57" name="Shape 44"/>
          <p:cNvSpPr/>
          <p:nvPr/>
        </p:nvSpPr>
        <p:spPr>
          <a:xfrm>
            <a:off x="5687568" y="3954780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8" name="Shape 45"/>
          <p:cNvSpPr/>
          <p:nvPr/>
        </p:nvSpPr>
        <p:spPr>
          <a:xfrm>
            <a:off x="5897880" y="3566160"/>
            <a:ext cx="278892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/>
        </p:spPr>
      </p:sp>
      <p:sp>
        <p:nvSpPr>
          <p:cNvPr id="59" name="Shape 46"/>
          <p:cNvSpPr/>
          <p:nvPr/>
        </p:nvSpPr>
        <p:spPr>
          <a:xfrm>
            <a:off x="6007608" y="3808476"/>
            <a:ext cx="292608" cy="292608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6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77834" y="3878702"/>
            <a:ext cx="152156" cy="152156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6409944" y="3611880"/>
            <a:ext cx="2185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to replace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teams would have to decide to leave</a:t>
            </a:r>
            <a:endParaRPr lang="en-US" sz="1200" dirty="0"/>
          </a:p>
        </p:txBody>
      </p:sp>
      <p:sp>
        <p:nvSpPr>
          <p:cNvPr id="62" name="Text 48"/>
          <p:cNvSpPr txBox="1"/>
          <p:nvPr/>
        </p:nvSpPr>
        <p:spPr>
          <a:xfrm>
            <a:off x="457200" y="46177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and timings are planning estimates.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fits Mitigata, and what comes next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One case file serves three of Mitigata’s business areas.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194560" cy="1783080"/>
          </a:xfrm>
          <a:prstGeom prst="roundRect">
            <a:avLst>
              <a:gd name="adj" fmla="val 4103"/>
            </a:avLst>
          </a:prstGeom>
          <a:solidFill>
            <a:srgbClr val="009A65"/>
          </a:solidFill>
          <a:ln/>
        </p:spPr>
      </p:sp>
      <p:sp>
        <p:nvSpPr>
          <p:cNvPr id="5" name="Shape 3"/>
          <p:cNvSpPr/>
          <p:nvPr/>
        </p:nvSpPr>
        <p:spPr>
          <a:xfrm>
            <a:off x="585216" y="1271016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166" y="1371966"/>
            <a:ext cx="218724" cy="2187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5216" y="176479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tellTale case file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2066544"/>
            <a:ext cx="193852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timeline, score breakdown and actions taken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51760" y="203454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880360" y="1371600"/>
            <a:ext cx="0" cy="132588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80360" y="137160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108960" y="1143000"/>
            <a:ext cx="557784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3218688" y="12344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525" y="1300277"/>
            <a:ext cx="142646" cy="14264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02736" y="1188720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operations:  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5120640" y="1143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ranked case per account instead of many alerts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2880360" y="2029968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3108960" y="1801368"/>
            <a:ext cx="5577840" cy="4572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/>
        </p:spPr>
      </p:sp>
      <p:sp>
        <p:nvSpPr>
          <p:cNvPr id="19" name="Shape 15"/>
          <p:cNvSpPr/>
          <p:nvPr/>
        </p:nvSpPr>
        <p:spPr>
          <a:xfrm>
            <a:off x="3218688" y="1892808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4525" y="1958645"/>
            <a:ext cx="142646" cy="14264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602736" y="1847088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insurance:  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5120640" y="180136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evidence record that can support a claim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2880360" y="2688336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3108960" y="2459736"/>
            <a:ext cx="557784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/>
        </p:spPr>
      </p:sp>
      <p:sp>
        <p:nvSpPr>
          <p:cNvPr id="25" name="Shape 20"/>
          <p:cNvSpPr/>
          <p:nvPr/>
        </p:nvSpPr>
        <p:spPr>
          <a:xfrm>
            <a:off x="3218688" y="2551176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4525" y="2617013"/>
            <a:ext cx="142646" cy="142646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3602736" y="2505456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in India:  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5120640" y="245973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Metadata-only design that fits the DPDP Act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1089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457200" y="3355848"/>
            <a:ext cx="1906524" cy="731520"/>
          </a:xfrm>
          <a:prstGeom prst="roundRect">
            <a:avLst>
              <a:gd name="adj" fmla="val 10000"/>
            </a:avLst>
          </a:prstGeom>
          <a:solidFill>
            <a:srgbClr val="009A65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585216" y="3401568"/>
            <a:ext cx="16870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hackathon build</a:t>
            </a:r>
            <a:endParaRPr lang="en-US" sz="11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engine, console, AI assistant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2382012" y="3721608"/>
            <a:ext cx="1645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2564892" y="3355848"/>
            <a:ext cx="1906524" cy="731520"/>
          </a:xfrm>
          <a:prstGeom prst="roundRect">
            <a:avLst>
              <a:gd name="adj" fmla="val 10000"/>
            </a:avLst>
          </a:prstGeom>
          <a:solidFill>
            <a:srgbClr val="CFFAFE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2692908" y="3401568"/>
            <a:ext cx="16870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1–6</a:t>
            </a:r>
            <a:endParaRPr lang="en-US" sz="11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connectors and five pilot audits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4489704" y="3721608"/>
            <a:ext cx="1645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0"/>
          <p:cNvSpPr/>
          <p:nvPr/>
        </p:nvSpPr>
        <p:spPr>
          <a:xfrm>
            <a:off x="4672584" y="3355848"/>
            <a:ext cx="1906524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4800600" y="3401568"/>
            <a:ext cx="16870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7–12</a:t>
            </a:r>
            <a:endParaRPr lang="en-US" sz="11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agent, workforce part, SOC 2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6597396" y="3721608"/>
            <a:ext cx="1645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9" name="Shape 33"/>
          <p:cNvSpPr/>
          <p:nvPr/>
        </p:nvSpPr>
        <p:spPr>
          <a:xfrm>
            <a:off x="6780276" y="3355848"/>
            <a:ext cx="1906524" cy="73152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6908292" y="3401568"/>
            <a:ext cx="16870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13–24</a:t>
            </a:r>
            <a:endParaRPr lang="en-US" sz="11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agents, service accounts, EU launch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plan: release the sequence-scoring library and the company simulator.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and references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009A65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1887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29844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33856" y="9601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Purple Crocs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41732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46120" y="1143000"/>
            <a:ext cx="0" cy="54864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46120" y="114300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246120" y="169164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474720" y="91440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FCE7F3"/>
          </a:solidFill>
          <a:ln/>
        </p:spPr>
      </p:sp>
      <p:sp>
        <p:nvSpPr>
          <p:cNvPr id="12" name="Shape 9"/>
          <p:cNvSpPr/>
          <p:nvPr/>
        </p:nvSpPr>
        <p:spPr>
          <a:xfrm>
            <a:off x="3584448" y="996696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674" y="1066922"/>
            <a:ext cx="152156" cy="1521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86784" y="96012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Aarav Gupta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3474720" y="146304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16" name="Shape 12"/>
          <p:cNvSpPr/>
          <p:nvPr/>
        </p:nvSpPr>
        <p:spPr>
          <a:xfrm>
            <a:off x="3584448" y="1545336"/>
            <a:ext cx="292608" cy="292608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4674" y="1615562"/>
            <a:ext cx="152156" cy="1521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986784" y="150876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Aankhi Roy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21031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57200" y="235915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/>
        </p:spPr>
      </p:sp>
      <p:sp>
        <p:nvSpPr>
          <p:cNvPr id="21" name="Shape 16"/>
          <p:cNvSpPr/>
          <p:nvPr/>
        </p:nvSpPr>
        <p:spPr>
          <a:xfrm>
            <a:off x="548640" y="245059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7" y="2516429"/>
            <a:ext cx="142646" cy="14264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14400" y="235915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https://www.sei.cmu.edu/library/insider-threat-test-dataset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CMU CERT Insider Threat Test Dataset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663440" y="235915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25" name="Shape 19"/>
          <p:cNvSpPr/>
          <p:nvPr/>
        </p:nvSpPr>
        <p:spPr>
          <a:xfrm>
            <a:off x="4754880" y="2450592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0717" y="2516429"/>
            <a:ext cx="142646" cy="14264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20640" y="235915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https://www.ieee-security.org/TC/SPW2013/papers/data/5017a098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Glasser and Lindauer, insider threat data, 2013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457200" y="290779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/>
        </p:spPr>
      </p:sp>
      <p:sp>
        <p:nvSpPr>
          <p:cNvPr id="29" name="Shape 22"/>
          <p:cNvSpPr/>
          <p:nvPr/>
        </p:nvSpPr>
        <p:spPr>
          <a:xfrm>
            <a:off x="548640" y="2999232"/>
            <a:ext cx="274320" cy="274320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477" y="3065069"/>
            <a:ext cx="142646" cy="14264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4400" y="29077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https://users.cs.utah.edu/~lifeifei/papers/deeplo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 et al., DeepLog log anomaly detection, 2017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4663440" y="290779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FCE7F3"/>
          </a:solidFill>
          <a:ln/>
        </p:spPr>
      </p:sp>
      <p:sp>
        <p:nvSpPr>
          <p:cNvPr id="33" name="Shape 25"/>
          <p:cNvSpPr/>
          <p:nvPr/>
        </p:nvSpPr>
        <p:spPr>
          <a:xfrm>
            <a:off x="4754880" y="2999232"/>
            <a:ext cx="274320" cy="274320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20717" y="3065069"/>
            <a:ext cx="142646" cy="14264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5120640" y="29077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https://arxiv.org/abs/2302.1217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Greshake et al., indirect prompt injection, 2023</a:t>
            </a:r>
            <a:endParaRPr lang="en-US" sz="1150" dirty="0"/>
          </a:p>
        </p:txBody>
      </p:sp>
      <p:sp>
        <p:nvSpPr>
          <p:cNvPr id="36" name="Shape 27"/>
          <p:cNvSpPr/>
          <p:nvPr/>
        </p:nvSpPr>
        <p:spPr>
          <a:xfrm>
            <a:off x="457200" y="345643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37" name="Shape 28"/>
          <p:cNvSpPr/>
          <p:nvPr/>
        </p:nvSpPr>
        <p:spPr>
          <a:xfrm>
            <a:off x="548640" y="3547872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4477" y="3613709"/>
            <a:ext cx="142646" cy="142646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14400" y="34564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https://arxiv.org/abs/2005.1243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Survey of deep learning for insider threat, 2020</a:t>
            </a:r>
            <a:endParaRPr lang="en-US" sz="1150" dirty="0"/>
          </a:p>
        </p:txBody>
      </p:sp>
      <p:sp>
        <p:nvSpPr>
          <p:cNvPr id="40" name="Shape 30"/>
          <p:cNvSpPr/>
          <p:nvPr/>
        </p:nvSpPr>
        <p:spPr>
          <a:xfrm>
            <a:off x="4663440" y="345643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/>
        </p:spPr>
      </p:sp>
      <p:sp>
        <p:nvSpPr>
          <p:cNvPr id="41" name="Shape 31"/>
          <p:cNvSpPr/>
          <p:nvPr/>
        </p:nvSpPr>
        <p:spPr>
          <a:xfrm>
            <a:off x="4754880" y="3547872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20717" y="3613709"/>
            <a:ext cx="142646" cy="14264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120640" y="34564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https://attack.mitre.or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MITRE ATT&amp;CK, attacker techniques</a:t>
            </a:r>
            <a:endParaRPr lang="en-US" sz="1150" dirty="0"/>
          </a:p>
        </p:txBody>
      </p:sp>
      <p:sp>
        <p:nvSpPr>
          <p:cNvPr id="44" name="Shape 33"/>
          <p:cNvSpPr/>
          <p:nvPr/>
        </p:nvSpPr>
        <p:spPr>
          <a:xfrm>
            <a:off x="457200" y="400507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/>
        </p:spPr>
      </p:sp>
      <p:sp>
        <p:nvSpPr>
          <p:cNvPr id="45" name="Shape 34"/>
          <p:cNvSpPr/>
          <p:nvPr/>
        </p:nvSpPr>
        <p:spPr>
          <a:xfrm>
            <a:off x="548640" y="40965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46" name="Image 9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4477" y="4162349"/>
            <a:ext cx="142646" cy="142646"/>
          </a:xfrm>
          <a:prstGeom prst="rect">
            <a:avLst/>
          </a:prstGeom>
        </p:spPr>
      </p:pic>
      <p:sp>
        <p:nvSpPr>
          <p:cNvPr id="47" name="Text 35"/>
          <p:cNvSpPr txBox="1"/>
          <p:nvPr/>
        </p:nvSpPr>
        <p:spPr>
          <a:xfrm>
            <a:off x="914400" y="40050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invalidUrl="" action="" tgtFrame="" tooltip="https://schema.ocsf.i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OCSF, open event schema</a:t>
            </a:r>
            <a:endParaRPr lang="en-US" sz="1150" dirty="0"/>
          </a:p>
        </p:txBody>
      </p:sp>
      <p:sp>
        <p:nvSpPr>
          <p:cNvPr id="48" name="Shape 36"/>
          <p:cNvSpPr/>
          <p:nvPr/>
        </p:nvSpPr>
        <p:spPr>
          <a:xfrm>
            <a:off x="4663440" y="400507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/>
        </p:spPr>
      </p:sp>
      <p:sp>
        <p:nvSpPr>
          <p:cNvPr id="49" name="Shape 37"/>
          <p:cNvSpPr/>
          <p:nvPr/>
        </p:nvSpPr>
        <p:spPr>
          <a:xfrm>
            <a:off x="4754880" y="4096512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0" name="Image 10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820717" y="4162349"/>
            <a:ext cx="142646" cy="142646"/>
          </a:xfrm>
          <a:prstGeom prst="rect">
            <a:avLst/>
          </a:prstGeom>
        </p:spPr>
      </p:pic>
      <p:sp>
        <p:nvSpPr>
          <p:cNvPr id="51" name="Text 38"/>
          <p:cNvSpPr txBox="1"/>
          <p:nvPr/>
        </p:nvSpPr>
        <p:spPr>
          <a:xfrm>
            <a:off x="5120640" y="40050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GitHub link on the submission form</a:t>
            </a:r>
            <a:endParaRPr lang="en-US" sz="1150" dirty="0"/>
          </a:p>
        </p:txBody>
      </p:sp>
      <p:sp>
        <p:nvSpPr>
          <p:cNvPr id="52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llTale Purple Crocs">
  <a:themeElements>
    <a:clrScheme name="tellTale Purple Crocs">
      <a:dk1>
        <a:srgbClr val="1E1B4B"/>
      </a:dk1>
      <a:lt1>
        <a:srgbClr val="FFFFFF"/>
      </a:lt1>
      <a:dk2>
        <a:srgbClr val="334155"/>
      </a:dk2>
      <a:lt2>
        <a:srgbClr val="ECFDF5"/>
      </a:lt2>
      <a:accent1>
        <a:srgbClr val="009A65"/>
      </a:accent1>
      <a:accent2>
        <a:srgbClr val="0D9488"/>
      </a:accent2>
      <a:accent3>
        <a:srgbClr val="EA580C"/>
      </a:accent3>
      <a:accent4>
        <a:srgbClr val="DB2777"/>
      </a:accent4>
      <a:accent5>
        <a:srgbClr val="2563EB"/>
      </a:accent5>
      <a:accent6>
        <a:srgbClr val="D97706"/>
      </a:accent6>
      <a:hlink>
        <a:srgbClr val="2563EB"/>
      </a:hlink>
      <a:folHlink>
        <a:srgbClr val="047857"/>
      </a:folHlink>
    </a:clrScheme>
    <a:fontScheme name="tellTale Purple Croc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tellTale - Team Purple Crocs - CyberForge</dc:title>
  <dc:subject>PptxGenJS Presentation</dc:subject>
  <dc:creator>Team Purple Crocs</dc:creator>
  <cp:lastModifiedBy>Team Purple Crocs</cp:lastModifiedBy>
  <cp:revision>1</cp:revision>
  <dcterms:created xsi:type="dcterms:W3CDTF">2026-10-17T06:20:33Z</dcterms:created>
  <dcterms:modified xsi:type="dcterms:W3CDTF">2026-10-17T06:20:33Z</dcterms:modified>
</cp:coreProperties>
</file>