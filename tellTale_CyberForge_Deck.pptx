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51" r:id="rId3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A65"/>
    <a:srgbClr val="66C2A3"/>
    <a:srgbClr val="AEE99B"/>
    <a:srgbClr val="65BDFF"/>
    <a:srgbClr val="64748B"/>
    <a:srgbClr val="D31222"/>
    <a:srgbClr val="323F49"/>
    <a:srgbClr val="ED0000"/>
    <a:srgbClr val="C02026"/>
    <a:srgbClr val="0075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presProps" Target="pres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Behaviour</c:v>
                </c:pt>
              </c:strCache>
            </c:strRef>
          </c:tx>
          <c:spPr>
            <a:ln w="50760">
              <a:solidFill>
                <a:srgbClr val="009A65"/>
              </a:solidFill>
              <a:round/>
            </a:ln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endParaRPr lang="en-US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1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4"/>
                <c:pt idx="0">
                  <c:v>10</c:v>
                </c:pt>
                <c:pt idx="1">
                  <c:v>10.4</c:v>
                </c:pt>
                <c:pt idx="2">
                  <c:v>9.8000000000000007</c:v>
                </c:pt>
                <c:pt idx="3">
                  <c:v>10.5</c:v>
                </c:pt>
                <c:pt idx="4">
                  <c:v>10</c:v>
                </c:pt>
                <c:pt idx="5">
                  <c:v>10.3</c:v>
                </c:pt>
                <c:pt idx="6">
                  <c:v>9.9</c:v>
                </c:pt>
                <c:pt idx="7">
                  <c:v>10.199999999999999</c:v>
                </c:pt>
                <c:pt idx="8">
                  <c:v>10.1</c:v>
                </c:pt>
                <c:pt idx="9">
                  <c:v>10.6</c:v>
                </c:pt>
                <c:pt idx="10">
                  <c:v>11.5</c:v>
                </c:pt>
                <c:pt idx="11">
                  <c:v>13.5</c:v>
                </c:pt>
                <c:pt idx="12">
                  <c:v>17</c:v>
                </c:pt>
                <c:pt idx="13">
                  <c:v>22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876-419E-BF66-AED9EB04A4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0">
              <a:noFill/>
            </a:ln>
          </c:spPr>
        </c:hiLowLines>
        <c:smooth val="0"/>
        <c:axId val="20367515"/>
        <c:axId val="48425004"/>
      </c:lineChart>
      <c:catAx>
        <c:axId val="2036751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48425004"/>
        <c:crosses val="autoZero"/>
        <c:auto val="1"/>
        <c:lblAlgn val="ctr"/>
        <c:lblOffset val="100"/>
        <c:noMultiLvlLbl val="0"/>
      </c:catAx>
      <c:valAx>
        <c:axId val="48425004"/>
        <c:scaling>
          <c:orientation val="minMax"/>
          <c:max val="24"/>
          <c:min val="5"/>
        </c:scaling>
        <c:delete val="1"/>
        <c:axPos val="l"/>
        <c:numFmt formatCode="General" sourceLinked="1"/>
        <c:majorTickMark val="out"/>
        <c:minorTickMark val="none"/>
        <c:tickLblPos val="nextTo"/>
        <c:crossAx val="20367515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  <c:showDLblsOverMax val="1"/>
  </c:chart>
  <c:spPr>
    <a:noFill/>
    <a:ln w="0"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6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0DB9AA5-56F1-4CD4-ADFE-A23605DC8F32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1681E9-712D-4F30-B92D-344AB7E2C7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A26532-9C27-4A51-BE9D-FE61845263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8C97C4-F477-4C21-8ABF-4449AA97B4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F88F09-C916-48D6-B52F-2F9FD60903A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34BBD9-95E0-4758-BB9C-CF135AA0F8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63E854-EC1E-48F6-91C6-64D9AF2D66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3E5389-9870-4B73-B2B2-012C58AB39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D6833E-E259-44AD-8B0E-2C38CFD677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BD1CAA-2703-443F-8E8B-28E7D43224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BAD5BA-516E-497D-BCFF-7569A7F806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F8745D-4077-4F68-926A-E20435390B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4205A1-38F0-4037-B30A-1A832EA042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6742BF-2A52-4E74-8E56-85ED808333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429868-CE07-435D-BBDF-4759662F6E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298989-FEA7-42F8-968C-5D95716143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680360-334E-40F2-94C6-B18F4CE24F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B47440-1794-4367-BC96-33268DB8EE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87A296FB-FCE7-4D02-9D97-B2C461182A1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l">
              <a:buNone/>
            </a:pP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457200" y="663480"/>
            <a:ext cx="731484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/>
          <p:nvPr/>
        </p:nvPicPr>
        <p:blipFill>
          <a:blip r:embed="rId3"/>
          <a:stretch/>
        </p:blipFill>
        <p:spPr>
          <a:xfrm>
            <a:off x="7699320" y="2743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Text 0"/>
          <p:cNvSpPr/>
          <p:nvPr/>
        </p:nvSpPr>
        <p:spPr>
          <a:xfrm>
            <a:off x="8138160" y="274320"/>
            <a:ext cx="776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009A65"/>
                </a:solidFill>
                <a:effectLst/>
                <a:uFillTx/>
                <a:latin typeface="Calibri"/>
              </a:rPr>
              <a:t>tellTale</a:t>
            </a:r>
            <a:endParaRPr lang="en-IN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7FDBD2-E475-4725-8053-B4F104B05079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‹#›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691640" y="868680"/>
            <a:ext cx="3840120" cy="91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48640" y="2057400"/>
            <a:ext cx="4571640" cy="914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38.png"/><Relationship Id="rId3" Type="http://schemas.openxmlformats.org/officeDocument/2006/relationships/image" Target="../media/image30.png"/><Relationship Id="rId7" Type="http://schemas.openxmlformats.org/officeDocument/2006/relationships/image" Target="../media/image3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6.png"/><Relationship Id="rId5" Type="http://schemas.openxmlformats.org/officeDocument/2006/relationships/image" Target="../media/image32.png"/><Relationship Id="rId15" Type="http://schemas.openxmlformats.org/officeDocument/2006/relationships/image" Target="../media/image40.png"/><Relationship Id="rId10" Type="http://schemas.openxmlformats.org/officeDocument/2006/relationships/image" Target="../media/image35.png"/><Relationship Id="rId4" Type="http://schemas.openxmlformats.org/officeDocument/2006/relationships/image" Target="../media/image31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2.png"/><Relationship Id="rId7" Type="http://schemas.openxmlformats.org/officeDocument/2006/relationships/image" Target="../media/image44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7.png"/><Relationship Id="rId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12.png"/><Relationship Id="rId9" Type="http://schemas.openxmlformats.org/officeDocument/2006/relationships/image" Target="../media/image4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2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19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54.png"/><Relationship Id="rId7" Type="http://schemas.openxmlformats.org/officeDocument/2006/relationships/image" Target="../media/image57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11" Type="http://schemas.openxmlformats.org/officeDocument/2006/relationships/image" Target="../media/image20.png"/><Relationship Id="rId5" Type="http://schemas.openxmlformats.org/officeDocument/2006/relationships/image" Target="../media/image4.png"/><Relationship Id="rId10" Type="http://schemas.openxmlformats.org/officeDocument/2006/relationships/image" Target="../media/image58.png"/><Relationship Id="rId4" Type="http://schemas.openxmlformats.org/officeDocument/2006/relationships/image" Target="../media/image55.png"/><Relationship Id="rId9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31.png"/><Relationship Id="rId4" Type="http://schemas.openxmlformats.org/officeDocument/2006/relationships/image" Target="../media/image5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11.png"/><Relationship Id="rId3" Type="http://schemas.openxmlformats.org/officeDocument/2006/relationships/image" Target="../media/image43.png"/><Relationship Id="rId7" Type="http://schemas.openxmlformats.org/officeDocument/2006/relationships/hyperlink" Target="https://telltale-mitigata.netlify.app/demo/subject/4912/" TargetMode="External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11" Type="http://schemas.openxmlformats.org/officeDocument/2006/relationships/image" Target="../media/image65.png"/><Relationship Id="rId5" Type="http://schemas.openxmlformats.org/officeDocument/2006/relationships/image" Target="../media/image60.png"/><Relationship Id="rId15" Type="http://schemas.openxmlformats.org/officeDocument/2006/relationships/image" Target="../media/image3.png"/><Relationship Id="rId10" Type="http://schemas.openxmlformats.org/officeDocument/2006/relationships/image" Target="../media/image64.png"/><Relationship Id="rId4" Type="http://schemas.openxmlformats.org/officeDocument/2006/relationships/image" Target="../media/image21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4.png"/><Relationship Id="rId3" Type="http://schemas.openxmlformats.org/officeDocument/2006/relationships/image" Target="../media/image68.png"/><Relationship Id="rId7" Type="http://schemas.openxmlformats.org/officeDocument/2006/relationships/image" Target="../media/image49.png"/><Relationship Id="rId12" Type="http://schemas.openxmlformats.org/officeDocument/2006/relationships/image" Target="../media/image7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34.png"/><Relationship Id="rId5" Type="http://schemas.openxmlformats.org/officeDocument/2006/relationships/image" Target="../media/image69.png"/><Relationship Id="rId10" Type="http://schemas.openxmlformats.org/officeDocument/2006/relationships/image" Target="../media/image72.png"/><Relationship Id="rId4" Type="http://schemas.openxmlformats.org/officeDocument/2006/relationships/image" Target="../media/image4.png"/><Relationship Id="rId9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39.png"/><Relationship Id="rId18" Type="http://schemas.openxmlformats.org/officeDocument/2006/relationships/image" Target="../media/image81.png"/><Relationship Id="rId3" Type="http://schemas.openxmlformats.org/officeDocument/2006/relationships/image" Target="../media/image35.png"/><Relationship Id="rId7" Type="http://schemas.openxmlformats.org/officeDocument/2006/relationships/image" Target="../media/image60.png"/><Relationship Id="rId12" Type="http://schemas.openxmlformats.org/officeDocument/2006/relationships/image" Target="../media/image77.png"/><Relationship Id="rId17" Type="http://schemas.openxmlformats.org/officeDocument/2006/relationships/image" Target="../media/image80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78.png"/><Relationship Id="rId10" Type="http://schemas.openxmlformats.org/officeDocument/2006/relationships/image" Target="../media/image37.png"/><Relationship Id="rId4" Type="http://schemas.openxmlformats.org/officeDocument/2006/relationships/image" Target="../media/image75.png"/><Relationship Id="rId9" Type="http://schemas.openxmlformats.org/officeDocument/2006/relationships/image" Target="../media/image36.png"/><Relationship Id="rId1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2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35.png"/><Relationship Id="rId10" Type="http://schemas.openxmlformats.org/officeDocument/2006/relationships/image" Target="../media/image86.png"/><Relationship Id="rId4" Type="http://schemas.openxmlformats.org/officeDocument/2006/relationships/image" Target="../media/image64.png"/><Relationship Id="rId9" Type="http://schemas.openxmlformats.org/officeDocument/2006/relationships/image" Target="../media/image8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users.cs.utah.edu/~lifeifei/papers/deeplog.pdf" TargetMode="External"/><Relationship Id="rId13" Type="http://schemas.openxmlformats.org/officeDocument/2006/relationships/image" Target="../media/image91.png"/><Relationship Id="rId3" Type="http://schemas.openxmlformats.org/officeDocument/2006/relationships/image" Target="../media/image2.png"/><Relationship Id="rId7" Type="http://schemas.openxmlformats.org/officeDocument/2006/relationships/hyperlink" Target="https://www.ieee-security.org/TC/SPW2013/papers/data/5017a098.pdf" TargetMode="External"/><Relationship Id="rId12" Type="http://schemas.openxmlformats.org/officeDocument/2006/relationships/hyperlink" Target="https://schema.ocsf.io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ei.cmu.edu/library/insider-threat-test-dataset/" TargetMode="External"/><Relationship Id="rId11" Type="http://schemas.openxmlformats.org/officeDocument/2006/relationships/hyperlink" Target="https://attack.mitre.org/" TargetMode="External"/><Relationship Id="rId5" Type="http://schemas.openxmlformats.org/officeDocument/2006/relationships/image" Target="../media/image6.png"/><Relationship Id="rId15" Type="http://schemas.openxmlformats.org/officeDocument/2006/relationships/hyperlink" Target="https://telltale-mitigata.netlify.app/" TargetMode="External"/><Relationship Id="rId10" Type="http://schemas.openxmlformats.org/officeDocument/2006/relationships/hyperlink" Target="https://arxiv.org/abs/2005.12433" TargetMode="External"/><Relationship Id="rId4" Type="http://schemas.openxmlformats.org/officeDocument/2006/relationships/image" Target="../media/image53.png"/><Relationship Id="rId9" Type="http://schemas.openxmlformats.org/officeDocument/2006/relationships/hyperlink" Target="https://arxiv.org/abs/2302.12173" TargetMode="External"/><Relationship Id="rId14" Type="http://schemas.openxmlformats.org/officeDocument/2006/relationships/hyperlink" Target="https://github.com/aaravgupta0202/telltal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0" descr="preencoded.png"/>
          <p:cNvPicPr/>
          <p:nvPr/>
        </p:nvPicPr>
        <p:blipFill>
          <a:blip r:embed="rId3"/>
          <a:stretch/>
        </p:blipFill>
        <p:spPr>
          <a:xfrm>
            <a:off x="548640" y="86868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691640" y="868680"/>
            <a:ext cx="3840120" cy="91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000" b="1" u="none" strike="noStrike" dirty="0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tellTale</a:t>
            </a:r>
            <a:endParaRPr lang="en-IN" sz="5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48640" y="2057400"/>
            <a:ext cx="4571640" cy="91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32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Finds hacked and insider work accounts by spotting when their behaviour starts to change. Also includes a work-time module for HR.</a:t>
            </a:r>
            <a:endParaRPr lang="en-IN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154680"/>
            <a:ext cx="4205880" cy="639720"/>
          </a:xfrm>
          <a:prstGeom prst="roundRect">
            <a:avLst>
              <a:gd name="adj" fmla="val 11429"/>
            </a:avLst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3"/>
          <p:cNvSpPr/>
          <p:nvPr/>
        </p:nvSpPr>
        <p:spPr>
          <a:xfrm>
            <a:off x="658440" y="3282840"/>
            <a:ext cx="383760" cy="3837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1" descr="preencoded.png"/>
          <p:cNvPicPr/>
          <p:nvPr/>
        </p:nvPicPr>
        <p:blipFill>
          <a:blip r:embed="rId4"/>
          <a:stretch/>
        </p:blipFill>
        <p:spPr>
          <a:xfrm>
            <a:off x="750600" y="3375000"/>
            <a:ext cx="199440" cy="19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4"/>
          <p:cNvSpPr/>
          <p:nvPr/>
        </p:nvSpPr>
        <p:spPr>
          <a:xfrm>
            <a:off x="1152000" y="3200400"/>
            <a:ext cx="3511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Team Purple Crocs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Aarav Gupta and Aankhi Roy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548640" y="3931920"/>
            <a:ext cx="4205880" cy="548280"/>
          </a:xfrm>
          <a:prstGeom prst="roundRect">
            <a:avLst>
              <a:gd name="adj" fmla="val 13333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658440" y="4014360"/>
            <a:ext cx="383760" cy="38376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" name="Image 2" descr="preencoded.png"/>
          <p:cNvPicPr/>
          <p:nvPr/>
        </p:nvPicPr>
        <p:blipFill>
          <a:blip r:embed="rId5"/>
          <a:stretch/>
        </p:blipFill>
        <p:spPr>
          <a:xfrm>
            <a:off x="750600" y="4106520"/>
            <a:ext cx="199440" cy="19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 7"/>
          <p:cNvSpPr/>
          <p:nvPr/>
        </p:nvSpPr>
        <p:spPr>
          <a:xfrm>
            <a:off x="1152000" y="3977640"/>
            <a:ext cx="351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CyberForge by Mitigata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Theme: AI and Cybersecurity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5212080" y="868680"/>
            <a:ext cx="3474360" cy="3611520"/>
          </a:xfrm>
          <a:prstGeom prst="roundRect">
            <a:avLst>
              <a:gd name="adj" fmla="val 2632"/>
            </a:avLst>
          </a:prstGeom>
          <a:solidFill>
            <a:srgbClr val="ECFDF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Chart 0"/>
          <p:cNvGraphicFramePr/>
          <p:nvPr/>
        </p:nvGraphicFramePr>
        <p:xfrm>
          <a:off x="5349240" y="914400"/>
          <a:ext cx="3200040" cy="1599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30" name="Text 9"/>
          <p:cNvSpPr/>
          <p:nvPr/>
        </p:nvSpPr>
        <p:spPr>
          <a:xfrm>
            <a:off x="5440680" y="2487240"/>
            <a:ext cx="155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usual routine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6858000" y="2487240"/>
            <a:ext cx="1691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EA580C"/>
                </a:solidFill>
                <a:effectLst/>
                <a:uFillTx/>
                <a:latin typeface="Calibri"/>
                <a:ea typeface="Calibri"/>
              </a:rPr>
              <a:t>behaviour changes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5349240" y="2816280"/>
            <a:ext cx="320004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2"/>
          <p:cNvSpPr/>
          <p:nvPr/>
        </p:nvSpPr>
        <p:spPr>
          <a:xfrm>
            <a:off x="5459040" y="2898720"/>
            <a:ext cx="292320" cy="29232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3" descr="preencoded.png"/>
          <p:cNvPicPr/>
          <p:nvPr/>
        </p:nvPicPr>
        <p:blipFill>
          <a:blip r:embed="rId5"/>
          <a:stretch/>
        </p:blipFill>
        <p:spPr>
          <a:xfrm>
            <a:off x="5529240" y="296892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3"/>
          <p:cNvSpPr/>
          <p:nvPr/>
        </p:nvSpPr>
        <p:spPr>
          <a:xfrm>
            <a:off x="5861160" y="2862000"/>
            <a:ext cx="259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Security part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Spots hacked and insider accounts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4"/>
          <p:cNvSpPr/>
          <p:nvPr/>
        </p:nvSpPr>
        <p:spPr>
          <a:xfrm>
            <a:off x="5349240" y="3364920"/>
            <a:ext cx="3200040" cy="45684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5"/>
          <p:cNvSpPr/>
          <p:nvPr/>
        </p:nvSpPr>
        <p:spPr>
          <a:xfrm>
            <a:off x="5459040" y="3447360"/>
            <a:ext cx="292320" cy="29232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" name="Image 4" descr="preencoded.png"/>
          <p:cNvPicPr/>
          <p:nvPr/>
        </p:nvPicPr>
        <p:blipFill>
          <a:blip r:embed="rId7"/>
          <a:stretch/>
        </p:blipFill>
        <p:spPr>
          <a:xfrm>
            <a:off x="5529240" y="351756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Text 16"/>
          <p:cNvSpPr/>
          <p:nvPr/>
        </p:nvSpPr>
        <p:spPr>
          <a:xfrm>
            <a:off x="5861160" y="3410640"/>
            <a:ext cx="259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Workforce part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Work time, idle time and app usage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5349240" y="3913560"/>
            <a:ext cx="320004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8"/>
          <p:cNvSpPr/>
          <p:nvPr/>
        </p:nvSpPr>
        <p:spPr>
          <a:xfrm>
            <a:off x="5459040" y="3996000"/>
            <a:ext cx="292320" cy="29232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" name="Image 5" descr="preencoded.png"/>
          <p:cNvPicPr/>
          <p:nvPr/>
        </p:nvPicPr>
        <p:blipFill>
          <a:blip r:embed="rId8"/>
          <a:stretch/>
        </p:blipFill>
        <p:spPr>
          <a:xfrm>
            <a:off x="5529240" y="406620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Text 19"/>
          <p:cNvSpPr/>
          <p:nvPr/>
        </p:nvSpPr>
        <p:spPr>
          <a:xfrm>
            <a:off x="5861160" y="3959280"/>
            <a:ext cx="259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Runs on one laptop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 special hardware; works fully offline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The problem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226740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One engineer’s work account over a week. Every single step is allowed on its own.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457200" y="1143000"/>
            <a:ext cx="1462680" cy="1206720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3"/>
          <p:cNvSpPr/>
          <p:nvPr/>
        </p:nvSpPr>
        <p:spPr>
          <a:xfrm>
            <a:off x="585360" y="1271160"/>
            <a:ext cx="310680" cy="31068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0" descr="preencoded.png"/>
          <p:cNvPicPr/>
          <p:nvPr/>
        </p:nvPicPr>
        <p:blipFill>
          <a:blip r:embed="rId3"/>
          <a:stretch/>
        </p:blipFill>
        <p:spPr>
          <a:xfrm>
            <a:off x="659880" y="1345680"/>
            <a:ext cx="1612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4"/>
          <p:cNvSpPr/>
          <p:nvPr/>
        </p:nvSpPr>
        <p:spPr>
          <a:xfrm>
            <a:off x="585360" y="165492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Monday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5"/>
          <p:cNvSpPr/>
          <p:nvPr/>
        </p:nvSpPr>
        <p:spPr>
          <a:xfrm>
            <a:off x="585360" y="1920240"/>
            <a:ext cx="1206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Normal coding work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6"/>
          <p:cNvSpPr/>
          <p:nvPr/>
        </p:nvSpPr>
        <p:spPr>
          <a:xfrm>
            <a:off x="1938240" y="174636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2148840" y="1143000"/>
            <a:ext cx="1462680" cy="1206720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2277000" y="1271160"/>
            <a:ext cx="310680" cy="31068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1" descr="preencoded.png"/>
          <p:cNvPicPr/>
          <p:nvPr/>
        </p:nvPicPr>
        <p:blipFill>
          <a:blip r:embed="rId4"/>
          <a:stretch/>
        </p:blipFill>
        <p:spPr>
          <a:xfrm>
            <a:off x="2351520" y="1345680"/>
            <a:ext cx="1612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9"/>
          <p:cNvSpPr/>
          <p:nvPr/>
        </p:nvSpPr>
        <p:spPr>
          <a:xfrm>
            <a:off x="2277000" y="165492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Tuesday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0"/>
          <p:cNvSpPr/>
          <p:nvPr/>
        </p:nvSpPr>
        <p:spPr>
          <a:xfrm>
            <a:off x="2277000" y="1920240"/>
            <a:ext cx="1206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Reads another team’s setup guide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1"/>
          <p:cNvSpPr/>
          <p:nvPr/>
        </p:nvSpPr>
        <p:spPr>
          <a:xfrm>
            <a:off x="3629880" y="174636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2"/>
          <p:cNvSpPr/>
          <p:nvPr/>
        </p:nvSpPr>
        <p:spPr>
          <a:xfrm>
            <a:off x="3840480" y="1143000"/>
            <a:ext cx="1462680" cy="1206720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3"/>
          <p:cNvSpPr/>
          <p:nvPr/>
        </p:nvSpPr>
        <p:spPr>
          <a:xfrm>
            <a:off x="3968640" y="1271160"/>
            <a:ext cx="310680" cy="31068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2" descr="preencoded.png"/>
          <p:cNvPicPr/>
          <p:nvPr/>
        </p:nvPicPr>
        <p:blipFill>
          <a:blip r:embed="rId5"/>
          <a:stretch/>
        </p:blipFill>
        <p:spPr>
          <a:xfrm>
            <a:off x="4043160" y="1345680"/>
            <a:ext cx="1612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14"/>
          <p:cNvSpPr/>
          <p:nvPr/>
        </p:nvSpPr>
        <p:spPr>
          <a:xfrm>
            <a:off x="3968640" y="165492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Wednesday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3968640" y="1920240"/>
            <a:ext cx="1206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Copies another team’s code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6"/>
          <p:cNvSpPr/>
          <p:nvPr/>
        </p:nvSpPr>
        <p:spPr>
          <a:xfrm>
            <a:off x="5321520" y="174636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5532120" y="1143000"/>
            <a:ext cx="1462680" cy="1206720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8"/>
          <p:cNvSpPr/>
          <p:nvPr/>
        </p:nvSpPr>
        <p:spPr>
          <a:xfrm>
            <a:off x="5660280" y="1271160"/>
            <a:ext cx="310680" cy="31068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3" descr="preencoded.png"/>
          <p:cNvPicPr/>
          <p:nvPr/>
        </p:nvPicPr>
        <p:blipFill>
          <a:blip r:embed="rId6"/>
          <a:stretch/>
        </p:blipFill>
        <p:spPr>
          <a:xfrm>
            <a:off x="5734800" y="1345680"/>
            <a:ext cx="1612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19"/>
          <p:cNvSpPr/>
          <p:nvPr/>
        </p:nvSpPr>
        <p:spPr>
          <a:xfrm>
            <a:off x="5660280" y="165492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Thursday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0"/>
          <p:cNvSpPr/>
          <p:nvPr/>
        </p:nvSpPr>
        <p:spPr>
          <a:xfrm>
            <a:off x="5660280" y="1920240"/>
            <a:ext cx="1206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Creates a personal access key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1"/>
          <p:cNvSpPr/>
          <p:nvPr/>
        </p:nvSpPr>
        <p:spPr>
          <a:xfrm>
            <a:off x="7013160" y="174636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2"/>
          <p:cNvSpPr/>
          <p:nvPr/>
        </p:nvSpPr>
        <p:spPr>
          <a:xfrm>
            <a:off x="7223760" y="1143000"/>
            <a:ext cx="1462680" cy="1206720"/>
          </a:xfrm>
          <a:prstGeom prst="roundRect">
            <a:avLst>
              <a:gd name="adj" fmla="val 6061"/>
            </a:avLst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3"/>
          <p:cNvSpPr/>
          <p:nvPr/>
        </p:nvSpPr>
        <p:spPr>
          <a:xfrm>
            <a:off x="7351920" y="1271160"/>
            <a:ext cx="310680" cy="3106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 4" descr="preencoded.png"/>
          <p:cNvPicPr/>
          <p:nvPr/>
        </p:nvPicPr>
        <p:blipFill>
          <a:blip r:embed="rId7"/>
          <a:stretch/>
        </p:blipFill>
        <p:spPr>
          <a:xfrm>
            <a:off x="7426440" y="1345680"/>
            <a:ext cx="1612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 24"/>
          <p:cNvSpPr/>
          <p:nvPr/>
        </p:nvSpPr>
        <p:spPr>
          <a:xfrm>
            <a:off x="7351920" y="165492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Friday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5"/>
          <p:cNvSpPr/>
          <p:nvPr/>
        </p:nvSpPr>
        <p:spPr>
          <a:xfrm>
            <a:off x="7351920" y="1920240"/>
            <a:ext cx="1206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Uploads the code to an outside server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6"/>
          <p:cNvSpPr/>
          <p:nvPr/>
        </p:nvSpPr>
        <p:spPr>
          <a:xfrm>
            <a:off x="1188720" y="2349720"/>
            <a:ext cx="360" cy="21060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7"/>
          <p:cNvSpPr/>
          <p:nvPr/>
        </p:nvSpPr>
        <p:spPr>
          <a:xfrm>
            <a:off x="457200" y="2560320"/>
            <a:ext cx="2559960" cy="658080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8"/>
          <p:cNvSpPr/>
          <p:nvPr/>
        </p:nvSpPr>
        <p:spPr>
          <a:xfrm>
            <a:off x="567000" y="2715840"/>
            <a:ext cx="347040" cy="3470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" name="Image 5" descr="preencoded.png"/>
          <p:cNvPicPr/>
          <p:nvPr/>
        </p:nvPicPr>
        <p:blipFill>
          <a:blip r:embed="rId8"/>
          <a:stretch/>
        </p:blipFill>
        <p:spPr>
          <a:xfrm>
            <a:off x="650160" y="27990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ext 29"/>
          <p:cNvSpPr/>
          <p:nvPr/>
        </p:nvSpPr>
        <p:spPr>
          <a:xfrm>
            <a:off x="1024200" y="2606040"/>
            <a:ext cx="19015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What a normal tool sees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Five separate actions, each one allowed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30"/>
          <p:cNvSpPr/>
          <p:nvPr/>
        </p:nvSpPr>
        <p:spPr>
          <a:xfrm>
            <a:off x="3035520" y="2889360"/>
            <a:ext cx="2379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31"/>
          <p:cNvSpPr/>
          <p:nvPr/>
        </p:nvSpPr>
        <p:spPr>
          <a:xfrm>
            <a:off x="3291840" y="2560320"/>
            <a:ext cx="2559960" cy="658080"/>
          </a:xfrm>
          <a:prstGeom prst="roundRect">
            <a:avLst>
              <a:gd name="adj" fmla="val 11111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2"/>
          <p:cNvSpPr/>
          <p:nvPr/>
        </p:nvSpPr>
        <p:spPr>
          <a:xfrm>
            <a:off x="3401640" y="2715840"/>
            <a:ext cx="347040" cy="34704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" name="Image 6" descr="preencoded.png"/>
          <p:cNvPicPr/>
          <p:nvPr/>
        </p:nvPicPr>
        <p:blipFill>
          <a:blip r:embed="rId9"/>
          <a:stretch/>
        </p:blipFill>
        <p:spPr>
          <a:xfrm>
            <a:off x="3484800" y="27990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Text 33"/>
          <p:cNvSpPr/>
          <p:nvPr/>
        </p:nvSpPr>
        <p:spPr>
          <a:xfrm>
            <a:off x="3858840" y="2606040"/>
            <a:ext cx="19015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What really happened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step-by-step plan to steal code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34"/>
          <p:cNvSpPr/>
          <p:nvPr/>
        </p:nvSpPr>
        <p:spPr>
          <a:xfrm>
            <a:off x="5870160" y="2889360"/>
            <a:ext cx="2379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5"/>
          <p:cNvSpPr/>
          <p:nvPr/>
        </p:nvSpPr>
        <p:spPr>
          <a:xfrm>
            <a:off x="6126480" y="2560320"/>
            <a:ext cx="2559960" cy="658080"/>
          </a:xfrm>
          <a:prstGeom prst="roundRect">
            <a:avLst>
              <a:gd name="adj" fmla="val 11111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6"/>
          <p:cNvSpPr/>
          <p:nvPr/>
        </p:nvSpPr>
        <p:spPr>
          <a:xfrm>
            <a:off x="6236280" y="2715840"/>
            <a:ext cx="347040" cy="34704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7" descr="preencoded.png"/>
          <p:cNvPicPr/>
          <p:nvPr/>
        </p:nvPicPr>
        <p:blipFill>
          <a:blip r:embed="rId10"/>
          <a:stretch/>
        </p:blipFill>
        <p:spPr>
          <a:xfrm>
            <a:off x="6319440" y="27990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37"/>
          <p:cNvSpPr/>
          <p:nvPr/>
        </p:nvSpPr>
        <p:spPr>
          <a:xfrm>
            <a:off x="6693480" y="2606040"/>
            <a:ext cx="19015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What tellTale notices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The behavior drifting from Tuesday onwards</a:t>
            </a:r>
            <a:endParaRPr lang="en-IN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8"/>
          <p:cNvSpPr/>
          <p:nvPr/>
        </p:nvSpPr>
        <p:spPr>
          <a:xfrm>
            <a:off x="457200" y="3364920"/>
            <a:ext cx="365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Why this is hard to catch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9"/>
          <p:cNvSpPr/>
          <p:nvPr/>
        </p:nvSpPr>
        <p:spPr>
          <a:xfrm>
            <a:off x="457200" y="3611880"/>
            <a:ext cx="2559960" cy="776880"/>
          </a:xfrm>
          <a:prstGeom prst="roundRect">
            <a:avLst>
              <a:gd name="adj" fmla="val 9412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0"/>
          <p:cNvSpPr/>
          <p:nvPr/>
        </p:nvSpPr>
        <p:spPr>
          <a:xfrm>
            <a:off x="567000" y="3826800"/>
            <a:ext cx="347040" cy="34704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" name="Image 8" descr="preencoded.png"/>
          <p:cNvPicPr/>
          <p:nvPr/>
        </p:nvPicPr>
        <p:blipFill>
          <a:blip r:embed="rId11"/>
          <a:stretch/>
        </p:blipFill>
        <p:spPr>
          <a:xfrm>
            <a:off x="650160" y="3910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 41"/>
          <p:cNvSpPr/>
          <p:nvPr/>
        </p:nvSpPr>
        <p:spPr>
          <a:xfrm>
            <a:off x="1024200" y="3657600"/>
            <a:ext cx="19015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Normal work changes too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New roles, team moves and 2 a.m. emergencies look similar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42"/>
          <p:cNvSpPr/>
          <p:nvPr/>
        </p:nvSpPr>
        <p:spPr>
          <a:xfrm>
            <a:off x="3035520" y="4000320"/>
            <a:ext cx="2379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43"/>
          <p:cNvSpPr/>
          <p:nvPr/>
        </p:nvSpPr>
        <p:spPr>
          <a:xfrm>
            <a:off x="3291840" y="3611880"/>
            <a:ext cx="2559960" cy="77688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44"/>
          <p:cNvSpPr/>
          <p:nvPr/>
        </p:nvSpPr>
        <p:spPr>
          <a:xfrm>
            <a:off x="3401640" y="3826800"/>
            <a:ext cx="347040" cy="34704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Image 9" descr="preencoded.png"/>
          <p:cNvPicPr/>
          <p:nvPr/>
        </p:nvPicPr>
        <p:blipFill>
          <a:blip r:embed="rId12"/>
          <a:stretch/>
        </p:blipFill>
        <p:spPr>
          <a:xfrm>
            <a:off x="3484800" y="3910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 45"/>
          <p:cNvSpPr/>
          <p:nvPr/>
        </p:nvSpPr>
        <p:spPr>
          <a:xfrm>
            <a:off x="3858840" y="3657600"/>
            <a:ext cx="19015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Slow theft hides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Taking five files a night for 60 days never hits a daily limit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5870160" y="4000320"/>
            <a:ext cx="2379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47"/>
          <p:cNvSpPr/>
          <p:nvPr/>
        </p:nvSpPr>
        <p:spPr>
          <a:xfrm>
            <a:off x="6126480" y="3611880"/>
            <a:ext cx="2559960" cy="77688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48"/>
          <p:cNvSpPr/>
          <p:nvPr/>
        </p:nvSpPr>
        <p:spPr>
          <a:xfrm>
            <a:off x="6236280" y="3826800"/>
            <a:ext cx="347040" cy="3470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10" descr="preencoded.png"/>
          <p:cNvPicPr/>
          <p:nvPr/>
        </p:nvPicPr>
        <p:blipFill>
          <a:blip r:embed="rId13"/>
          <a:stretch/>
        </p:blipFill>
        <p:spPr>
          <a:xfrm>
            <a:off x="6319440" y="3910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49"/>
          <p:cNvSpPr/>
          <p:nvPr/>
        </p:nvSpPr>
        <p:spPr>
          <a:xfrm>
            <a:off x="6693480" y="3657600"/>
            <a:ext cx="19015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Checking is slow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Analysts report spending 2 to 4 hours on a single alert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5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8A21F3-2456-4CC6-9FDE-C4F38A0090A4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2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Why current tools fall short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226742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Three gaps make teams ignore alerts. Under each gap is how tellTale fixes it.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Shape 2"/>
          <p:cNvSpPr/>
          <p:nvPr/>
        </p:nvSpPr>
        <p:spPr>
          <a:xfrm>
            <a:off x="457200" y="1143000"/>
            <a:ext cx="1782720" cy="127980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3"/>
          <p:cNvSpPr/>
          <p:nvPr/>
        </p:nvSpPr>
        <p:spPr>
          <a:xfrm>
            <a:off x="585360" y="1271160"/>
            <a:ext cx="347040" cy="3470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Image 0" descr="preencoded.png"/>
          <p:cNvPicPr/>
          <p:nvPr/>
        </p:nvPicPr>
        <p:blipFill>
          <a:blip r:embed="rId3"/>
          <a:stretch/>
        </p:blipFill>
        <p:spPr>
          <a:xfrm>
            <a:off x="66852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 4"/>
          <p:cNvSpPr/>
          <p:nvPr/>
        </p:nvSpPr>
        <p:spPr>
          <a:xfrm>
            <a:off x="585360" y="169164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One event at a time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585360" y="1956960"/>
            <a:ext cx="1526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Fixed limits miss step order and slow theft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2258280" y="1783080"/>
            <a:ext cx="3294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7"/>
          <p:cNvSpPr/>
          <p:nvPr/>
        </p:nvSpPr>
        <p:spPr>
          <a:xfrm>
            <a:off x="2606040" y="1143000"/>
            <a:ext cx="1782720" cy="1279800"/>
          </a:xfrm>
          <a:prstGeom prst="roundRect">
            <a:avLst>
              <a:gd name="adj" fmla="val 5714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8"/>
          <p:cNvSpPr/>
          <p:nvPr/>
        </p:nvSpPr>
        <p:spPr>
          <a:xfrm>
            <a:off x="2734200" y="1271160"/>
            <a:ext cx="347040" cy="34704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" name="Image 1" descr="preencoded.png"/>
          <p:cNvPicPr/>
          <p:nvPr/>
        </p:nvPicPr>
        <p:blipFill>
          <a:blip r:embed="rId4"/>
          <a:stretch/>
        </p:blipFill>
        <p:spPr>
          <a:xfrm>
            <a:off x="281736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 9"/>
          <p:cNvSpPr/>
          <p:nvPr/>
        </p:nvSpPr>
        <p:spPr>
          <a:xfrm>
            <a:off x="2734200" y="169164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Can’t see approvals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0"/>
          <p:cNvSpPr/>
          <p:nvPr/>
        </p:nvSpPr>
        <p:spPr>
          <a:xfrm>
            <a:off x="2734200" y="1904922"/>
            <a:ext cx="1526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Tickets, on-call shifts and HR records are never checked</a:t>
            </a:r>
            <a:endParaRPr lang="en-IN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1"/>
          <p:cNvSpPr/>
          <p:nvPr/>
        </p:nvSpPr>
        <p:spPr>
          <a:xfrm>
            <a:off x="4407120" y="1783080"/>
            <a:ext cx="3294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2"/>
          <p:cNvSpPr/>
          <p:nvPr/>
        </p:nvSpPr>
        <p:spPr>
          <a:xfrm>
            <a:off x="4754880" y="1143000"/>
            <a:ext cx="1782720" cy="127980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3"/>
          <p:cNvSpPr/>
          <p:nvPr/>
        </p:nvSpPr>
        <p:spPr>
          <a:xfrm>
            <a:off x="4883040" y="1271160"/>
            <a:ext cx="347040" cy="34704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 2" descr="preencoded.png"/>
          <p:cNvPicPr/>
          <p:nvPr/>
        </p:nvPicPr>
        <p:blipFill>
          <a:blip r:embed="rId5"/>
          <a:stretch/>
        </p:blipFill>
        <p:spPr>
          <a:xfrm>
            <a:off x="496620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14"/>
          <p:cNvSpPr/>
          <p:nvPr/>
        </p:nvSpPr>
        <p:spPr>
          <a:xfrm>
            <a:off x="4883040" y="169164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 reasons given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4883040" y="1956960"/>
            <a:ext cx="1526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bare score like 87 means hours of manual digging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6555960" y="1783080"/>
            <a:ext cx="3294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7"/>
          <p:cNvSpPr/>
          <p:nvPr/>
        </p:nvSpPr>
        <p:spPr>
          <a:xfrm>
            <a:off x="6903720" y="1143000"/>
            <a:ext cx="1782720" cy="1279800"/>
          </a:xfrm>
          <a:prstGeom prst="roundRect">
            <a:avLst>
              <a:gd name="adj" fmla="val 5714"/>
            </a:avLst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7031880" y="1271160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Image 3" descr="preencoded.png"/>
          <p:cNvPicPr/>
          <p:nvPr/>
        </p:nvPicPr>
        <p:blipFill>
          <a:blip r:embed="rId6"/>
          <a:stretch/>
        </p:blipFill>
        <p:spPr>
          <a:xfrm>
            <a:off x="711504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Text 19"/>
          <p:cNvSpPr/>
          <p:nvPr/>
        </p:nvSpPr>
        <p:spPr>
          <a:xfrm>
            <a:off x="7031880" y="169164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Alerts get ignored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0"/>
          <p:cNvSpPr/>
          <p:nvPr/>
        </p:nvSpPr>
        <p:spPr>
          <a:xfrm>
            <a:off x="7031880" y="1904922"/>
            <a:ext cx="1526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Teams turn the tool down and real attacks slip through</a:t>
            </a:r>
            <a:endParaRPr lang="en-IN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1"/>
          <p:cNvSpPr/>
          <p:nvPr/>
        </p:nvSpPr>
        <p:spPr>
          <a:xfrm>
            <a:off x="1348560" y="2423160"/>
            <a:ext cx="360" cy="22860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2"/>
          <p:cNvSpPr/>
          <p:nvPr/>
        </p:nvSpPr>
        <p:spPr>
          <a:xfrm>
            <a:off x="457200" y="2651760"/>
            <a:ext cx="1782720" cy="1279800"/>
          </a:xfrm>
          <a:prstGeom prst="roundRect">
            <a:avLst>
              <a:gd name="adj" fmla="val 5714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3"/>
          <p:cNvSpPr/>
          <p:nvPr/>
        </p:nvSpPr>
        <p:spPr>
          <a:xfrm>
            <a:off x="585360" y="2779920"/>
            <a:ext cx="347040" cy="34704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Image 4" descr="preencoded.png"/>
          <p:cNvPicPr/>
          <p:nvPr/>
        </p:nvPicPr>
        <p:blipFill>
          <a:blip r:embed="rId7"/>
          <a:stretch/>
        </p:blipFill>
        <p:spPr>
          <a:xfrm>
            <a:off x="668520" y="28630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24"/>
          <p:cNvSpPr/>
          <p:nvPr/>
        </p:nvSpPr>
        <p:spPr>
          <a:xfrm>
            <a:off x="585360" y="320040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Fix: look at patterns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5"/>
          <p:cNvSpPr/>
          <p:nvPr/>
        </p:nvSpPr>
        <p:spPr>
          <a:xfrm>
            <a:off x="585360" y="3465720"/>
            <a:ext cx="1526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Scores step order and slow change over weeks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6"/>
          <p:cNvSpPr/>
          <p:nvPr/>
        </p:nvSpPr>
        <p:spPr>
          <a:xfrm>
            <a:off x="3497400" y="2423160"/>
            <a:ext cx="360" cy="22860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7"/>
          <p:cNvSpPr/>
          <p:nvPr/>
        </p:nvSpPr>
        <p:spPr>
          <a:xfrm>
            <a:off x="2606040" y="2651760"/>
            <a:ext cx="1782720" cy="1279800"/>
          </a:xfrm>
          <a:prstGeom prst="roundRect">
            <a:avLst>
              <a:gd name="adj" fmla="val 5714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8"/>
          <p:cNvSpPr/>
          <p:nvPr/>
        </p:nvSpPr>
        <p:spPr>
          <a:xfrm>
            <a:off x="2734200" y="2779920"/>
            <a:ext cx="347040" cy="34704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1" name="Image 5" descr="preencoded.png"/>
          <p:cNvPicPr/>
          <p:nvPr/>
        </p:nvPicPr>
        <p:blipFill>
          <a:blip r:embed="rId8"/>
          <a:stretch/>
        </p:blipFill>
        <p:spPr>
          <a:xfrm>
            <a:off x="2817360" y="28630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Text 29"/>
          <p:cNvSpPr/>
          <p:nvPr/>
        </p:nvSpPr>
        <p:spPr>
          <a:xfrm>
            <a:off x="2734200" y="320040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Fix: checks records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0"/>
          <p:cNvSpPr/>
          <p:nvPr/>
        </p:nvSpPr>
        <p:spPr>
          <a:xfrm>
            <a:off x="2734200" y="3465720"/>
            <a:ext cx="1526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Verifies tickets, on-call and HR status, and spots fakes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1"/>
          <p:cNvSpPr/>
          <p:nvPr/>
        </p:nvSpPr>
        <p:spPr>
          <a:xfrm>
            <a:off x="5646240" y="2423160"/>
            <a:ext cx="360" cy="22860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32"/>
          <p:cNvSpPr/>
          <p:nvPr/>
        </p:nvSpPr>
        <p:spPr>
          <a:xfrm>
            <a:off x="4754880" y="2651760"/>
            <a:ext cx="1782720" cy="1279800"/>
          </a:xfrm>
          <a:prstGeom prst="roundRect">
            <a:avLst>
              <a:gd name="adj" fmla="val 5714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3"/>
          <p:cNvSpPr/>
          <p:nvPr/>
        </p:nvSpPr>
        <p:spPr>
          <a:xfrm>
            <a:off x="4883040" y="2779920"/>
            <a:ext cx="347040" cy="34704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" name="Image 6" descr="preencoded.png"/>
          <p:cNvPicPr/>
          <p:nvPr/>
        </p:nvPicPr>
        <p:blipFill>
          <a:blip r:embed="rId9"/>
          <a:stretch/>
        </p:blipFill>
        <p:spPr>
          <a:xfrm>
            <a:off x="4966200" y="28630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Text 34"/>
          <p:cNvSpPr/>
          <p:nvPr/>
        </p:nvSpPr>
        <p:spPr>
          <a:xfrm>
            <a:off x="4883040" y="320040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Fix: explains alerts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5"/>
          <p:cNvSpPr/>
          <p:nvPr/>
        </p:nvSpPr>
        <p:spPr>
          <a:xfrm>
            <a:off x="4883040" y="3465720"/>
            <a:ext cx="1526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Case file with every event, plus an AI assistant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36"/>
          <p:cNvSpPr/>
          <p:nvPr/>
        </p:nvSpPr>
        <p:spPr>
          <a:xfrm>
            <a:off x="6555960" y="3291840"/>
            <a:ext cx="3477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37"/>
          <p:cNvSpPr/>
          <p:nvPr/>
        </p:nvSpPr>
        <p:spPr>
          <a:xfrm>
            <a:off x="6903720" y="2651760"/>
            <a:ext cx="1782720" cy="1279800"/>
          </a:xfrm>
          <a:prstGeom prst="roundRect">
            <a:avLst>
              <a:gd name="adj" fmla="val 5714"/>
            </a:avLst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38"/>
          <p:cNvSpPr/>
          <p:nvPr/>
        </p:nvSpPr>
        <p:spPr>
          <a:xfrm>
            <a:off x="7031880" y="2779920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Image 7" descr="preencoded.png"/>
          <p:cNvPicPr/>
          <p:nvPr/>
        </p:nvPicPr>
        <p:blipFill>
          <a:blip r:embed="rId10"/>
          <a:stretch/>
        </p:blipFill>
        <p:spPr>
          <a:xfrm>
            <a:off x="7115040" y="28630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Text 39"/>
          <p:cNvSpPr/>
          <p:nvPr/>
        </p:nvSpPr>
        <p:spPr>
          <a:xfrm>
            <a:off x="7031880" y="3200400"/>
            <a:ext cx="15267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Fewer, clearer alerts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0"/>
          <p:cNvSpPr/>
          <p:nvPr/>
        </p:nvSpPr>
        <p:spPr>
          <a:xfrm>
            <a:off x="7031880" y="3465720"/>
            <a:ext cx="1526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Each one can be checked in minutes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1"/>
          <p:cNvSpPr/>
          <p:nvPr/>
        </p:nvSpPr>
        <p:spPr>
          <a:xfrm>
            <a:off x="1348200" y="4117771"/>
            <a:ext cx="360" cy="18288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2"/>
          <p:cNvSpPr/>
          <p:nvPr/>
        </p:nvSpPr>
        <p:spPr>
          <a:xfrm>
            <a:off x="457200" y="4300651"/>
            <a:ext cx="8229240" cy="502560"/>
          </a:xfrm>
          <a:prstGeom prst="roundRect">
            <a:avLst>
              <a:gd name="adj" fmla="val 14545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3"/>
          <p:cNvSpPr/>
          <p:nvPr/>
        </p:nvSpPr>
        <p:spPr>
          <a:xfrm>
            <a:off x="567000" y="4405771"/>
            <a:ext cx="292320" cy="29232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8" descr="preencoded.png"/>
          <p:cNvPicPr/>
          <p:nvPr/>
        </p:nvPicPr>
        <p:blipFill>
          <a:blip r:embed="rId11"/>
          <a:stretch/>
        </p:blipFill>
        <p:spPr>
          <a:xfrm>
            <a:off x="637200" y="4475971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 44"/>
          <p:cNvSpPr/>
          <p:nvPr/>
        </p:nvSpPr>
        <p:spPr>
          <a:xfrm>
            <a:off x="969120" y="4346371"/>
            <a:ext cx="76258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chemeClr val="tx1">
                    <a:lumMod val="75000"/>
                  </a:schemeClr>
                </a:solidFill>
                <a:effectLst/>
                <a:uFillTx/>
                <a:latin typeface="Calibri"/>
                <a:ea typeface="Calibri"/>
              </a:rPr>
              <a:t>Goal, not yet measured: half a basic tool’s false alarms, while still catching 90% of attacks</a:t>
            </a:r>
            <a:endParaRPr lang="en-IN" sz="1150" b="0" u="none" strike="noStrike" dirty="0">
              <a:solidFill>
                <a:schemeClr val="tx1">
                  <a:lumMod val="75000"/>
                </a:schemeClr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6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BD9850B-CDFA-40B6-83B4-2AC05AA941E0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3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6D84A682-46DF-4020-8C01-9BE2A9346BEE}"/>
              </a:ext>
            </a:extLst>
          </p:cNvPr>
          <p:cNvSpPr/>
          <p:nvPr/>
        </p:nvSpPr>
        <p:spPr>
          <a:xfrm flipV="1">
            <a:off x="1340305" y="4113720"/>
            <a:ext cx="6561112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BD7937A-EA2B-BB70-1EAF-670E3680B90E}"/>
              </a:ext>
            </a:extLst>
          </p:cNvPr>
          <p:cNvSpPr/>
          <p:nvPr/>
        </p:nvSpPr>
        <p:spPr>
          <a:xfrm flipH="1">
            <a:off x="7886949" y="3931560"/>
            <a:ext cx="0" cy="184545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Existing tools and where tellTale differs</a:t>
            </a:r>
            <a:endParaRPr lang="en-IN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249048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There are already products in this space. Here is where each one falls short.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457200" y="1097280"/>
            <a:ext cx="2011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Product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"/>
          <p:cNvSpPr/>
          <p:nvPr/>
        </p:nvSpPr>
        <p:spPr>
          <a:xfrm>
            <a:off x="2743200" y="109728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Where it falls short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5806440" y="109728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tellTale does instead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5"/>
          <p:cNvSpPr/>
          <p:nvPr/>
        </p:nvSpPr>
        <p:spPr>
          <a:xfrm>
            <a:off x="457200" y="134424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0075C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6"/>
          <p:cNvSpPr/>
          <p:nvPr/>
        </p:nvSpPr>
        <p:spPr>
          <a:xfrm>
            <a:off x="567000" y="1435680"/>
            <a:ext cx="273960" cy="2739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7"/>
          <p:cNvSpPr/>
          <p:nvPr/>
        </p:nvSpPr>
        <p:spPr>
          <a:xfrm>
            <a:off x="951120" y="1389960"/>
            <a:ext cx="1471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Microsoft Purview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8"/>
          <p:cNvSpPr/>
          <p:nvPr/>
        </p:nvSpPr>
        <p:spPr>
          <a:xfrm>
            <a:off x="2532600" y="157248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9"/>
          <p:cNvSpPr/>
          <p:nvPr/>
        </p:nvSpPr>
        <p:spPr>
          <a:xfrm>
            <a:off x="2743200" y="1344240"/>
            <a:ext cx="283428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0"/>
          <p:cNvSpPr/>
          <p:nvPr/>
        </p:nvSpPr>
        <p:spPr>
          <a:xfrm>
            <a:off x="2871360" y="1389960"/>
            <a:ext cx="2614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Strong in Microsoft 365, weak on GitHub and AWS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1"/>
          <p:cNvSpPr/>
          <p:nvPr/>
        </p:nvSpPr>
        <p:spPr>
          <a:xfrm>
            <a:off x="5595840" y="157248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2"/>
          <p:cNvSpPr/>
          <p:nvPr/>
        </p:nvSpPr>
        <p:spPr>
          <a:xfrm>
            <a:off x="5806440" y="1344240"/>
            <a:ext cx="288000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5934600" y="1389960"/>
            <a:ext cx="2660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Built for Okta, Google, GitHub and AWS stacks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4"/>
          <p:cNvSpPr/>
          <p:nvPr/>
        </p:nvSpPr>
        <p:spPr>
          <a:xfrm>
            <a:off x="457200" y="189288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46AE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567000" y="1984320"/>
            <a:ext cx="273960" cy="2739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6"/>
          <p:cNvSpPr/>
          <p:nvPr/>
        </p:nvSpPr>
        <p:spPr>
          <a:xfrm>
            <a:off x="951120" y="1938600"/>
            <a:ext cx="1471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Exabeam, Securonix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7"/>
          <p:cNvSpPr/>
          <p:nvPr/>
        </p:nvSpPr>
        <p:spPr>
          <a:xfrm>
            <a:off x="2532600" y="212112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8"/>
          <p:cNvSpPr/>
          <p:nvPr/>
        </p:nvSpPr>
        <p:spPr>
          <a:xfrm>
            <a:off x="2743200" y="1892880"/>
            <a:ext cx="283428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9"/>
          <p:cNvSpPr/>
          <p:nvPr/>
        </p:nvSpPr>
        <p:spPr>
          <a:xfrm>
            <a:off x="2871360" y="1938600"/>
            <a:ext cx="2614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Heavy setup; often 45 to 90 days before it is useful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0"/>
          <p:cNvSpPr/>
          <p:nvPr/>
        </p:nvSpPr>
        <p:spPr>
          <a:xfrm>
            <a:off x="5595840" y="212112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1"/>
          <p:cNvSpPr/>
          <p:nvPr/>
        </p:nvSpPr>
        <p:spPr>
          <a:xfrm>
            <a:off x="5806440" y="1892880"/>
            <a:ext cx="288000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2"/>
          <p:cNvSpPr/>
          <p:nvPr/>
        </p:nvSpPr>
        <p:spPr>
          <a:xfrm>
            <a:off x="5934600" y="1938600"/>
            <a:ext cx="2660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Learns from 90 days of past logs on day one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3"/>
          <p:cNvSpPr/>
          <p:nvPr/>
        </p:nvSpPr>
        <p:spPr>
          <a:xfrm>
            <a:off x="457200" y="244152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C020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4"/>
          <p:cNvSpPr/>
          <p:nvPr/>
        </p:nvSpPr>
        <p:spPr>
          <a:xfrm>
            <a:off x="567000" y="2532960"/>
            <a:ext cx="273960" cy="2739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5"/>
          <p:cNvSpPr/>
          <p:nvPr/>
        </p:nvSpPr>
        <p:spPr>
          <a:xfrm>
            <a:off x="951120" y="2487240"/>
            <a:ext cx="1471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DTEX, Proofpoint ITM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6"/>
          <p:cNvSpPr/>
          <p:nvPr/>
        </p:nvSpPr>
        <p:spPr>
          <a:xfrm>
            <a:off x="2532600" y="266976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7"/>
          <p:cNvSpPr/>
          <p:nvPr/>
        </p:nvSpPr>
        <p:spPr>
          <a:xfrm>
            <a:off x="2743200" y="2441520"/>
            <a:ext cx="283428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8"/>
          <p:cNvSpPr/>
          <p:nvPr/>
        </p:nvSpPr>
        <p:spPr>
          <a:xfrm>
            <a:off x="2871360" y="2487240"/>
            <a:ext cx="2614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Need software installed on every laptop first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29"/>
          <p:cNvSpPr/>
          <p:nvPr/>
        </p:nvSpPr>
        <p:spPr>
          <a:xfrm>
            <a:off x="5595840" y="266976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0"/>
          <p:cNvSpPr/>
          <p:nvPr/>
        </p:nvSpPr>
        <p:spPr>
          <a:xfrm>
            <a:off x="5806440" y="2441520"/>
            <a:ext cx="288000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1"/>
          <p:cNvSpPr/>
          <p:nvPr/>
        </p:nvSpPr>
        <p:spPr>
          <a:xfrm>
            <a:off x="5934600" y="2487240"/>
            <a:ext cx="2660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Security part needs no laptop software at all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2"/>
          <p:cNvSpPr/>
          <p:nvPr/>
        </p:nvSpPr>
        <p:spPr>
          <a:xfrm>
            <a:off x="457200" y="299016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ED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33"/>
          <p:cNvSpPr/>
          <p:nvPr/>
        </p:nvSpPr>
        <p:spPr>
          <a:xfrm>
            <a:off x="567000" y="3081600"/>
            <a:ext cx="273960" cy="2739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4"/>
          <p:cNvSpPr/>
          <p:nvPr/>
        </p:nvSpPr>
        <p:spPr>
          <a:xfrm>
            <a:off x="951120" y="3035880"/>
            <a:ext cx="1471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Okta ITP, CrowdStrike Identity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35"/>
          <p:cNvSpPr/>
          <p:nvPr/>
        </p:nvSpPr>
        <p:spPr>
          <a:xfrm>
            <a:off x="2532600" y="321840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36"/>
          <p:cNvSpPr/>
          <p:nvPr/>
        </p:nvSpPr>
        <p:spPr>
          <a:xfrm>
            <a:off x="2743200" y="2990160"/>
            <a:ext cx="283428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37"/>
          <p:cNvSpPr/>
          <p:nvPr/>
        </p:nvSpPr>
        <p:spPr>
          <a:xfrm>
            <a:off x="2871360" y="3035880"/>
            <a:ext cx="2614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Focus on the login, not what happens after it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38"/>
          <p:cNvSpPr/>
          <p:nvPr/>
        </p:nvSpPr>
        <p:spPr>
          <a:xfrm>
            <a:off x="5595840" y="321840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39"/>
          <p:cNvSpPr/>
          <p:nvPr/>
        </p:nvSpPr>
        <p:spPr>
          <a:xfrm>
            <a:off x="5806440" y="2990160"/>
            <a:ext cx="288000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40"/>
          <p:cNvSpPr/>
          <p:nvPr/>
        </p:nvSpPr>
        <p:spPr>
          <a:xfrm>
            <a:off x="5934600" y="3035880"/>
            <a:ext cx="2660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Watches the actions that follow a login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41"/>
          <p:cNvSpPr/>
          <p:nvPr/>
        </p:nvSpPr>
        <p:spPr>
          <a:xfrm>
            <a:off x="457200" y="353880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323F4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2"/>
          <p:cNvSpPr/>
          <p:nvPr/>
        </p:nvSpPr>
        <p:spPr>
          <a:xfrm>
            <a:off x="567000" y="3630240"/>
            <a:ext cx="273960" cy="2739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43"/>
          <p:cNvSpPr/>
          <p:nvPr/>
        </p:nvSpPr>
        <p:spPr>
          <a:xfrm>
            <a:off x="951120" y="3584520"/>
            <a:ext cx="1471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ActivTrak, Hubstaff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4"/>
          <p:cNvSpPr/>
          <p:nvPr/>
        </p:nvSpPr>
        <p:spPr>
          <a:xfrm>
            <a:off x="2532600" y="376704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45"/>
          <p:cNvSpPr/>
          <p:nvPr/>
        </p:nvSpPr>
        <p:spPr>
          <a:xfrm>
            <a:off x="2743200" y="3538800"/>
            <a:ext cx="283428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6"/>
          <p:cNvSpPr/>
          <p:nvPr/>
        </p:nvSpPr>
        <p:spPr>
          <a:xfrm>
            <a:off x="2871360" y="3584520"/>
            <a:ext cx="2614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Track work time but detect no threats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47"/>
          <p:cNvSpPr/>
          <p:nvPr/>
        </p:nvSpPr>
        <p:spPr>
          <a:xfrm>
            <a:off x="5595840" y="376704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8"/>
          <p:cNvSpPr/>
          <p:nvPr/>
        </p:nvSpPr>
        <p:spPr>
          <a:xfrm>
            <a:off x="5806440" y="3538800"/>
            <a:ext cx="288000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49"/>
          <p:cNvSpPr/>
          <p:nvPr/>
        </p:nvSpPr>
        <p:spPr>
          <a:xfrm>
            <a:off x="5934600" y="3584520"/>
            <a:ext cx="2660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Work time and threat detection from one app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50"/>
          <p:cNvSpPr/>
          <p:nvPr/>
        </p:nvSpPr>
        <p:spPr>
          <a:xfrm>
            <a:off x="457200" y="408744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D3122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51"/>
          <p:cNvSpPr/>
          <p:nvPr/>
        </p:nvSpPr>
        <p:spPr>
          <a:xfrm>
            <a:off x="567000" y="4178880"/>
            <a:ext cx="273960" cy="2739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2"/>
          <p:cNvSpPr/>
          <p:nvPr/>
        </p:nvSpPr>
        <p:spPr>
          <a:xfrm>
            <a:off x="951120" y="4133160"/>
            <a:ext cx="1471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Varonis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3"/>
          <p:cNvSpPr/>
          <p:nvPr/>
        </p:nvSpPr>
        <p:spPr>
          <a:xfrm>
            <a:off x="2532600" y="431568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54"/>
          <p:cNvSpPr/>
          <p:nvPr/>
        </p:nvSpPr>
        <p:spPr>
          <a:xfrm>
            <a:off x="2743200" y="4087440"/>
            <a:ext cx="283428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55"/>
          <p:cNvSpPr/>
          <p:nvPr/>
        </p:nvSpPr>
        <p:spPr>
          <a:xfrm>
            <a:off x="2871360" y="4133160"/>
            <a:ext cx="2614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Strong on file permissions, weaker on accounts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56"/>
          <p:cNvSpPr/>
          <p:nvPr/>
        </p:nvSpPr>
        <p:spPr>
          <a:xfrm>
            <a:off x="5595840" y="431568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57"/>
          <p:cNvSpPr/>
          <p:nvPr/>
        </p:nvSpPr>
        <p:spPr>
          <a:xfrm>
            <a:off x="5806440" y="4087440"/>
            <a:ext cx="288000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58"/>
          <p:cNvSpPr/>
          <p:nvPr/>
        </p:nvSpPr>
        <p:spPr>
          <a:xfrm>
            <a:off x="5934600" y="4133160"/>
            <a:ext cx="2660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Works alongside it as a partner, not a rival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7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3F53E7-6DE1-4008-B5C7-6C40AF343456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4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 descr="Microsoft Purview new Experience is coming - Erwin | Data &amp; Intelligence">
            <a:extLst>
              <a:ext uri="{FF2B5EF4-FFF2-40B4-BE49-F238E27FC236}">
                <a16:creationId xmlns:a16="http://schemas.microsoft.com/office/drawing/2014/main" id="{E5B73DAD-A39C-24D1-4F12-444F8C306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320" y="1500414"/>
            <a:ext cx="227319" cy="144131"/>
          </a:xfrm>
          <a:prstGeom prst="rect">
            <a:avLst/>
          </a:prstGeom>
        </p:spPr>
      </p:pic>
      <p:pic>
        <p:nvPicPr>
          <p:cNvPr id="4" name="Picture 3" descr="Exabeam UEBA-Driven Security Analytics | CrowdStrike Marketplace">
            <a:extLst>
              <a:ext uri="{FF2B5EF4-FFF2-40B4-BE49-F238E27FC236}">
                <a16:creationId xmlns:a16="http://schemas.microsoft.com/office/drawing/2014/main" id="{C773EA1B-0A56-F14A-B985-7B83E946EA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86" y="2002827"/>
            <a:ext cx="236585" cy="236585"/>
          </a:xfrm>
          <a:prstGeom prst="rect">
            <a:avLst/>
          </a:prstGeom>
        </p:spPr>
      </p:pic>
      <p:pic>
        <p:nvPicPr>
          <p:cNvPr id="5" name="Picture 4" descr="Jobs at Dtex Systems | Consider">
            <a:extLst>
              <a:ext uri="{FF2B5EF4-FFF2-40B4-BE49-F238E27FC236}">
                <a16:creationId xmlns:a16="http://schemas.microsoft.com/office/drawing/2014/main" id="{127D1117-FF57-E614-D502-A49AB1683C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4237" r="75333" b="35631"/>
          <a:stretch>
            <a:fillRect/>
          </a:stretch>
        </p:blipFill>
        <p:spPr>
          <a:xfrm>
            <a:off x="597713" y="2580209"/>
            <a:ext cx="219926" cy="1791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57FCE1-B9CB-15C8-8CC5-66B48793B2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843" y="3074935"/>
            <a:ext cx="289477" cy="289477"/>
          </a:xfrm>
          <a:prstGeom prst="rect">
            <a:avLst/>
          </a:prstGeom>
        </p:spPr>
      </p:pic>
      <p:pic>
        <p:nvPicPr>
          <p:cNvPr id="8" name="Picture 7" descr="ActivTrak">
            <a:extLst>
              <a:ext uri="{FF2B5EF4-FFF2-40B4-BE49-F238E27FC236}">
                <a16:creationId xmlns:a16="http://schemas.microsoft.com/office/drawing/2014/main" id="{57B21256-46F9-DC24-A524-AFF4EC810E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821" y="3650360"/>
            <a:ext cx="389219" cy="250212"/>
          </a:xfrm>
          <a:prstGeom prst="rect">
            <a:avLst/>
          </a:prstGeom>
        </p:spPr>
      </p:pic>
      <p:pic>
        <p:nvPicPr>
          <p:cNvPr id="9" name="Picture 8" descr="Varonis Systems, Inc. Share Price Live Today – NASDAQ:VRNS Stock Price,  Chart, News, History">
            <a:extLst>
              <a:ext uri="{FF2B5EF4-FFF2-40B4-BE49-F238E27FC236}">
                <a16:creationId xmlns:a16="http://schemas.microsoft.com/office/drawing/2014/main" id="{3E294AC2-95C5-8193-073C-537914D5C7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043" y="4231542"/>
            <a:ext cx="180438" cy="1804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What tellTale is</a:t>
            </a:r>
            <a:endParaRPr lang="en-IN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/>
          </p:nvPr>
        </p:nvSpPr>
        <p:spPr>
          <a:xfrm>
            <a:off x="226742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One system with two parts that share data but are kept apart.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" name="Shape 2"/>
          <p:cNvSpPr/>
          <p:nvPr/>
        </p:nvSpPr>
        <p:spPr>
          <a:xfrm>
            <a:off x="457200" y="1143000"/>
            <a:ext cx="2194200" cy="73116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Shape 3"/>
          <p:cNvSpPr/>
          <p:nvPr/>
        </p:nvSpPr>
        <p:spPr>
          <a:xfrm>
            <a:off x="567000" y="1334880"/>
            <a:ext cx="347040" cy="3470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3" name="Image 0" descr="preencoded.png"/>
          <p:cNvPicPr/>
          <p:nvPr/>
        </p:nvPicPr>
        <p:blipFill>
          <a:blip r:embed="rId3"/>
          <a:stretch/>
        </p:blipFill>
        <p:spPr>
          <a:xfrm>
            <a:off x="650160" y="14184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Text 4"/>
          <p:cNvSpPr/>
          <p:nvPr/>
        </p:nvSpPr>
        <p:spPr>
          <a:xfrm>
            <a:off x="1024200" y="1188720"/>
            <a:ext cx="1535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Cloud apps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Okta, Google, GitHub, AWS audit logs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5"/>
          <p:cNvSpPr/>
          <p:nvPr/>
        </p:nvSpPr>
        <p:spPr>
          <a:xfrm>
            <a:off x="2669760" y="1508760"/>
            <a:ext cx="3477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Shape 6"/>
          <p:cNvSpPr/>
          <p:nvPr/>
        </p:nvSpPr>
        <p:spPr>
          <a:xfrm>
            <a:off x="457200" y="2011680"/>
            <a:ext cx="2194200" cy="73116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Shape 7"/>
          <p:cNvSpPr/>
          <p:nvPr/>
        </p:nvSpPr>
        <p:spPr>
          <a:xfrm>
            <a:off x="567000" y="2203560"/>
            <a:ext cx="347040" cy="34704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8" name="Image 1" descr="preencoded.png"/>
          <p:cNvPicPr/>
          <p:nvPr/>
        </p:nvPicPr>
        <p:blipFill>
          <a:blip r:embed="rId4"/>
          <a:stretch/>
        </p:blipFill>
        <p:spPr>
          <a:xfrm>
            <a:off x="650160" y="22870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8"/>
          <p:cNvSpPr/>
          <p:nvPr/>
        </p:nvSpPr>
        <p:spPr>
          <a:xfrm>
            <a:off x="1024200" y="2057400"/>
            <a:ext cx="1535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Company records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Jira tickets, HR status, PagerDuty on-call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9"/>
          <p:cNvSpPr/>
          <p:nvPr/>
        </p:nvSpPr>
        <p:spPr>
          <a:xfrm>
            <a:off x="2669760" y="2377440"/>
            <a:ext cx="3477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0"/>
          <p:cNvSpPr/>
          <p:nvPr/>
        </p:nvSpPr>
        <p:spPr>
          <a:xfrm>
            <a:off x="457200" y="2880360"/>
            <a:ext cx="2194200" cy="731160"/>
          </a:xfrm>
          <a:prstGeom prst="roundRect">
            <a:avLst>
              <a:gd name="adj" fmla="val 10000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1"/>
          <p:cNvSpPr/>
          <p:nvPr/>
        </p:nvSpPr>
        <p:spPr>
          <a:xfrm>
            <a:off x="567000" y="3072240"/>
            <a:ext cx="347040" cy="34704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" name="Image 2" descr="preencoded.png"/>
          <p:cNvPicPr/>
          <p:nvPr/>
        </p:nvPicPr>
        <p:blipFill>
          <a:blip r:embed="rId5"/>
          <a:stretch/>
        </p:blipFill>
        <p:spPr>
          <a:xfrm>
            <a:off x="650160" y="315576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 12"/>
          <p:cNvSpPr/>
          <p:nvPr/>
        </p:nvSpPr>
        <p:spPr>
          <a:xfrm>
            <a:off x="1024200" y="2926080"/>
            <a:ext cx="1535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Desktop app (optional)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Active and idle time, apps, file activity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3"/>
          <p:cNvSpPr/>
          <p:nvPr/>
        </p:nvSpPr>
        <p:spPr>
          <a:xfrm>
            <a:off x="2669760" y="3246120"/>
            <a:ext cx="3477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4"/>
          <p:cNvSpPr/>
          <p:nvPr/>
        </p:nvSpPr>
        <p:spPr>
          <a:xfrm>
            <a:off x="3017520" y="1143000"/>
            <a:ext cx="1874160" cy="2468520"/>
          </a:xfrm>
          <a:prstGeom prst="roundRect">
            <a:avLst>
              <a:gd name="adj" fmla="val 3902"/>
            </a:avLst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5"/>
          <p:cNvSpPr/>
          <p:nvPr/>
        </p:nvSpPr>
        <p:spPr>
          <a:xfrm>
            <a:off x="3145680" y="1271160"/>
            <a:ext cx="438480" cy="4384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8" name="Image 3" descr="preencoded.png"/>
          <p:cNvPicPr/>
          <p:nvPr/>
        </p:nvPicPr>
        <p:blipFill>
          <a:blip r:embed="rId6"/>
          <a:stretch/>
        </p:blipFill>
        <p:spPr>
          <a:xfrm>
            <a:off x="3250800" y="1376280"/>
            <a:ext cx="227880" cy="22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16"/>
          <p:cNvSpPr/>
          <p:nvPr/>
        </p:nvSpPr>
        <p:spPr>
          <a:xfrm>
            <a:off x="3145680" y="1783080"/>
            <a:ext cx="1618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tellTale core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7"/>
          <p:cNvSpPr/>
          <p:nvPr/>
        </p:nvSpPr>
        <p:spPr>
          <a:xfrm>
            <a:off x="3145680" y="2084760"/>
            <a:ext cx="161820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Collects activity, puts it in one common format, swaps names for ID numbers and stores it all in one database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8"/>
          <p:cNvSpPr/>
          <p:nvPr/>
        </p:nvSpPr>
        <p:spPr>
          <a:xfrm>
            <a:off x="4910040" y="1737360"/>
            <a:ext cx="3934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9"/>
          <p:cNvSpPr/>
          <p:nvPr/>
        </p:nvSpPr>
        <p:spPr>
          <a:xfrm>
            <a:off x="4910040" y="3017520"/>
            <a:ext cx="3934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20"/>
          <p:cNvSpPr/>
          <p:nvPr/>
        </p:nvSpPr>
        <p:spPr>
          <a:xfrm>
            <a:off x="5303520" y="1234440"/>
            <a:ext cx="3382920" cy="1005480"/>
          </a:xfrm>
          <a:prstGeom prst="roundRect">
            <a:avLst>
              <a:gd name="adj" fmla="val 7273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1"/>
          <p:cNvSpPr/>
          <p:nvPr/>
        </p:nvSpPr>
        <p:spPr>
          <a:xfrm>
            <a:off x="5413320" y="1531800"/>
            <a:ext cx="411120" cy="41112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5" name="Image 4" descr="preencoded.png"/>
          <p:cNvPicPr/>
          <p:nvPr/>
        </p:nvPicPr>
        <p:blipFill>
          <a:blip r:embed="rId7"/>
          <a:stretch/>
        </p:blipFill>
        <p:spPr>
          <a:xfrm>
            <a:off x="5511960" y="1630440"/>
            <a:ext cx="213480" cy="21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 22"/>
          <p:cNvSpPr/>
          <p:nvPr/>
        </p:nvSpPr>
        <p:spPr>
          <a:xfrm>
            <a:off x="5934600" y="1280160"/>
            <a:ext cx="26604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Security part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For the security team: finds risky changes in behavior and turns them into ranked cases with evidence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3"/>
          <p:cNvSpPr/>
          <p:nvPr/>
        </p:nvSpPr>
        <p:spPr>
          <a:xfrm>
            <a:off x="5303520" y="2514600"/>
            <a:ext cx="3382920" cy="1005480"/>
          </a:xfrm>
          <a:prstGeom prst="roundRect">
            <a:avLst>
              <a:gd name="adj" fmla="val 7273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24"/>
          <p:cNvSpPr/>
          <p:nvPr/>
        </p:nvSpPr>
        <p:spPr>
          <a:xfrm>
            <a:off x="5413320" y="2811960"/>
            <a:ext cx="411120" cy="41112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9" name="Image 5" descr="preencoded.png"/>
          <p:cNvPicPr/>
          <p:nvPr/>
        </p:nvPicPr>
        <p:blipFill>
          <a:blip r:embed="rId8"/>
          <a:stretch/>
        </p:blipFill>
        <p:spPr>
          <a:xfrm>
            <a:off x="5511960" y="2910600"/>
            <a:ext cx="213480" cy="21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Text 25"/>
          <p:cNvSpPr/>
          <p:nvPr/>
        </p:nvSpPr>
        <p:spPr>
          <a:xfrm>
            <a:off x="5934600" y="2560320"/>
            <a:ext cx="26604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Workforce part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For HR and operations: active time, idle time, app usage, attendance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26"/>
          <p:cNvSpPr/>
          <p:nvPr/>
        </p:nvSpPr>
        <p:spPr>
          <a:xfrm>
            <a:off x="6995160" y="3520440"/>
            <a:ext cx="360" cy="27432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7"/>
          <p:cNvSpPr/>
          <p:nvPr/>
        </p:nvSpPr>
        <p:spPr>
          <a:xfrm>
            <a:off x="5303520" y="3794760"/>
            <a:ext cx="3382920" cy="685440"/>
          </a:xfrm>
          <a:prstGeom prst="roundRect">
            <a:avLst>
              <a:gd name="adj" fmla="val 10667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28"/>
          <p:cNvSpPr/>
          <p:nvPr/>
        </p:nvSpPr>
        <p:spPr>
          <a:xfrm>
            <a:off x="5413320" y="3972960"/>
            <a:ext cx="328680" cy="32868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6" descr="preencoded.png"/>
          <p:cNvPicPr/>
          <p:nvPr/>
        </p:nvPicPr>
        <p:blipFill>
          <a:blip r:embed="rId9"/>
          <a:stretch/>
        </p:blipFill>
        <p:spPr>
          <a:xfrm>
            <a:off x="5492160" y="4052160"/>
            <a:ext cx="1706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29"/>
          <p:cNvSpPr/>
          <p:nvPr/>
        </p:nvSpPr>
        <p:spPr>
          <a:xfrm>
            <a:off x="5852160" y="3840480"/>
            <a:ext cx="27428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Kept apart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HR never sees risk scores. Security never sees names or productivity.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30"/>
          <p:cNvSpPr/>
          <p:nvPr/>
        </p:nvSpPr>
        <p:spPr>
          <a:xfrm>
            <a:off x="457200" y="3794760"/>
            <a:ext cx="4434480" cy="685440"/>
          </a:xfrm>
          <a:prstGeom prst="roundRect">
            <a:avLst>
              <a:gd name="adj" fmla="val 10667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31"/>
          <p:cNvSpPr/>
          <p:nvPr/>
        </p:nvSpPr>
        <p:spPr>
          <a:xfrm>
            <a:off x="567000" y="3972960"/>
            <a:ext cx="328680" cy="32868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" name="Image 7" descr="preencoded.png"/>
          <p:cNvPicPr/>
          <p:nvPr/>
        </p:nvPicPr>
        <p:blipFill>
          <a:blip r:embed="rId10"/>
          <a:stretch/>
        </p:blipFill>
        <p:spPr>
          <a:xfrm>
            <a:off x="645840" y="4052160"/>
            <a:ext cx="1706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Text 32"/>
          <p:cNvSpPr/>
          <p:nvPr/>
        </p:nvSpPr>
        <p:spPr>
          <a:xfrm>
            <a:off x="1005840" y="3840480"/>
            <a:ext cx="37944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Read-only access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tellTale connects with read-only permissions and never changes company systems</a:t>
            </a:r>
            <a:endParaRPr lang="en-IN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8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8EBEBC0-68E5-41B5-9D66-76A3A66E32C9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5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1" name="Logo Okta" descr="Okta logo"/>
          <p:cNvPicPr/>
          <p:nvPr/>
        </p:nvPicPr>
        <p:blipFill>
          <a:blip r:embed="rId11"/>
          <a:stretch/>
        </p:blipFill>
        <p:spPr>
          <a:xfrm>
            <a:off x="1792080" y="127116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2" name="Logo Google Workspace" descr="Google Workspace logo"/>
          <p:cNvPicPr/>
          <p:nvPr/>
        </p:nvPicPr>
        <p:blipFill>
          <a:blip r:embed="rId12"/>
          <a:stretch/>
        </p:blipFill>
        <p:spPr>
          <a:xfrm>
            <a:off x="1993320" y="127116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3" name="Logo GitHub" descr="GitHub logo"/>
          <p:cNvPicPr/>
          <p:nvPr/>
        </p:nvPicPr>
        <p:blipFill>
          <a:blip r:embed="rId13"/>
          <a:stretch/>
        </p:blipFill>
        <p:spPr>
          <a:xfrm>
            <a:off x="2194560" y="127116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5" name="Logo Jira" descr="Jira logo"/>
          <p:cNvPicPr/>
          <p:nvPr/>
        </p:nvPicPr>
        <p:blipFill>
          <a:blip r:embed="rId14"/>
          <a:stretch/>
        </p:blipFill>
        <p:spPr>
          <a:xfrm>
            <a:off x="2194560" y="213984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6" name="Logo PagerDuty" descr="PagerDuty logo"/>
          <p:cNvPicPr/>
          <p:nvPr/>
        </p:nvPicPr>
        <p:blipFill>
          <a:blip r:embed="rId15"/>
          <a:stretch/>
        </p:blipFill>
        <p:spPr>
          <a:xfrm>
            <a:off x="2395800" y="213984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" name="Picture 1" descr="File:Amazon Web Services Logo.svg - Wikimedia Commons">
            <a:extLst>
              <a:ext uri="{FF2B5EF4-FFF2-40B4-BE49-F238E27FC236}">
                <a16:creationId xmlns:a16="http://schemas.microsoft.com/office/drawing/2014/main" id="{EECCB7D9-CA4D-7BC3-77C4-87D17BCDC55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83742" y="1289941"/>
            <a:ext cx="212159" cy="127019"/>
          </a:xfrm>
          <a:prstGeom prst="rect">
            <a:avLst/>
          </a:prstGeom>
        </p:spPr>
      </p:pic>
      <p:sp>
        <p:nvSpPr>
          <p:cNvPr id="5" name="Text 32">
            <a:extLst>
              <a:ext uri="{FF2B5EF4-FFF2-40B4-BE49-F238E27FC236}">
                <a16:creationId xmlns:a16="http://schemas.microsoft.com/office/drawing/2014/main" id="{44970724-05DD-6533-A5C4-41E4410F5307}"/>
              </a:ext>
            </a:extLst>
          </p:cNvPr>
          <p:cNvSpPr/>
          <p:nvPr/>
        </p:nvSpPr>
        <p:spPr>
          <a:xfrm>
            <a:off x="5029695" y="4041092"/>
            <a:ext cx="145830" cy="1924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+</a:t>
            </a:r>
            <a:endParaRPr lang="en-IN" b="0" u="none" strike="noStrike" dirty="0">
              <a:solidFill>
                <a:srgbClr val="64748B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the security part works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234179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Every action goes through four steps before anyone is alerted.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Shape 2"/>
          <p:cNvSpPr/>
          <p:nvPr/>
        </p:nvSpPr>
        <p:spPr>
          <a:xfrm>
            <a:off x="457200" y="1143000"/>
            <a:ext cx="1462680" cy="15998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3"/>
          <p:cNvSpPr/>
          <p:nvPr/>
        </p:nvSpPr>
        <p:spPr>
          <a:xfrm>
            <a:off x="585360" y="1271160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1" name="Image 0" descr="preencoded.png"/>
          <p:cNvPicPr/>
          <p:nvPr/>
        </p:nvPicPr>
        <p:blipFill>
          <a:blip r:embed="rId3"/>
          <a:stretch/>
        </p:blipFill>
        <p:spPr>
          <a:xfrm>
            <a:off x="66852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4"/>
          <p:cNvSpPr/>
          <p:nvPr/>
        </p:nvSpPr>
        <p:spPr>
          <a:xfrm>
            <a:off x="585360" y="1691640"/>
            <a:ext cx="12067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Account activity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5"/>
          <p:cNvSpPr/>
          <p:nvPr/>
        </p:nvSpPr>
        <p:spPr>
          <a:xfrm>
            <a:off x="585360" y="2103120"/>
            <a:ext cx="1206720" cy="57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Logins, downloads, shares and cloud actions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6"/>
          <p:cNvSpPr/>
          <p:nvPr/>
        </p:nvSpPr>
        <p:spPr>
          <a:xfrm>
            <a:off x="1938240" y="194292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7"/>
          <p:cNvSpPr/>
          <p:nvPr/>
        </p:nvSpPr>
        <p:spPr>
          <a:xfrm>
            <a:off x="2148840" y="1143000"/>
            <a:ext cx="1462680" cy="1599840"/>
          </a:xfrm>
          <a:prstGeom prst="roundRect">
            <a:avLst>
              <a:gd name="adj" fmla="val 5000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8"/>
          <p:cNvSpPr/>
          <p:nvPr/>
        </p:nvSpPr>
        <p:spPr>
          <a:xfrm>
            <a:off x="2277000" y="1271160"/>
            <a:ext cx="347040" cy="34704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7" name="Image 1" descr="preencoded.png"/>
          <p:cNvPicPr/>
          <p:nvPr/>
        </p:nvPicPr>
        <p:blipFill>
          <a:blip r:embed="rId4"/>
          <a:stretch/>
        </p:blipFill>
        <p:spPr>
          <a:xfrm>
            <a:off x="236016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8" name="Text 9"/>
          <p:cNvSpPr/>
          <p:nvPr/>
        </p:nvSpPr>
        <p:spPr>
          <a:xfrm>
            <a:off x="2277000" y="1691640"/>
            <a:ext cx="12067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Step 1: Unusual?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0"/>
          <p:cNvSpPr/>
          <p:nvPr/>
        </p:nvSpPr>
        <p:spPr>
          <a:xfrm>
            <a:off x="2277000" y="2103120"/>
            <a:ext cx="1206720" cy="57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Compared with its own past and with teammates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11"/>
          <p:cNvSpPr/>
          <p:nvPr/>
        </p:nvSpPr>
        <p:spPr>
          <a:xfrm>
            <a:off x="3629880" y="194292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2"/>
          <p:cNvSpPr/>
          <p:nvPr/>
        </p:nvSpPr>
        <p:spPr>
          <a:xfrm>
            <a:off x="3840480" y="1143000"/>
            <a:ext cx="1462680" cy="159984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3"/>
          <p:cNvSpPr/>
          <p:nvPr/>
        </p:nvSpPr>
        <p:spPr>
          <a:xfrm>
            <a:off x="3968640" y="1271160"/>
            <a:ext cx="347040" cy="34704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3" name="Image 2" descr="preencoded.png"/>
          <p:cNvPicPr/>
          <p:nvPr/>
        </p:nvPicPr>
        <p:blipFill>
          <a:blip r:embed="rId5"/>
          <a:stretch/>
        </p:blipFill>
        <p:spPr>
          <a:xfrm>
            <a:off x="405180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Text 14"/>
          <p:cNvSpPr/>
          <p:nvPr/>
        </p:nvSpPr>
        <p:spPr>
          <a:xfrm>
            <a:off x="3968640" y="1691640"/>
            <a:ext cx="12067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Step 2: Approved?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3968640" y="2103120"/>
            <a:ext cx="1206720" cy="57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Looks for a genuine ticket, on-call shift or HR record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6"/>
          <p:cNvSpPr/>
          <p:nvPr/>
        </p:nvSpPr>
        <p:spPr>
          <a:xfrm>
            <a:off x="5321520" y="194292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7"/>
          <p:cNvSpPr/>
          <p:nvPr/>
        </p:nvSpPr>
        <p:spPr>
          <a:xfrm>
            <a:off x="5532120" y="1143000"/>
            <a:ext cx="1462680" cy="1599840"/>
          </a:xfrm>
          <a:prstGeom prst="roundRect">
            <a:avLst>
              <a:gd name="adj" fmla="val 5000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8"/>
          <p:cNvSpPr/>
          <p:nvPr/>
        </p:nvSpPr>
        <p:spPr>
          <a:xfrm>
            <a:off x="5660280" y="1271160"/>
            <a:ext cx="347040" cy="34704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Image 3" descr="preencoded.png"/>
          <p:cNvPicPr/>
          <p:nvPr/>
        </p:nvPicPr>
        <p:blipFill>
          <a:blip r:embed="rId6"/>
          <a:stretch/>
        </p:blipFill>
        <p:spPr>
          <a:xfrm>
            <a:off x="574344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19"/>
          <p:cNvSpPr/>
          <p:nvPr/>
        </p:nvSpPr>
        <p:spPr>
          <a:xfrm>
            <a:off x="5660280" y="1691640"/>
            <a:ext cx="12067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Step 3: How serious?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0"/>
          <p:cNvSpPr/>
          <p:nvPr/>
        </p:nvSpPr>
        <p:spPr>
          <a:xfrm>
            <a:off x="5660280" y="2103120"/>
            <a:ext cx="1206720" cy="57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score, weighted by how important the system is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1"/>
          <p:cNvSpPr/>
          <p:nvPr/>
        </p:nvSpPr>
        <p:spPr>
          <a:xfrm>
            <a:off x="7013160" y="194292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22"/>
          <p:cNvSpPr/>
          <p:nvPr/>
        </p:nvSpPr>
        <p:spPr>
          <a:xfrm>
            <a:off x="7223760" y="1143000"/>
            <a:ext cx="1462680" cy="1599840"/>
          </a:xfrm>
          <a:prstGeom prst="roundRect">
            <a:avLst>
              <a:gd name="adj" fmla="val 5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23"/>
          <p:cNvSpPr/>
          <p:nvPr/>
        </p:nvSpPr>
        <p:spPr>
          <a:xfrm>
            <a:off x="7351920" y="1271160"/>
            <a:ext cx="347040" cy="34704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5" name="Image 4" descr="preencoded.png"/>
          <p:cNvPicPr/>
          <p:nvPr/>
        </p:nvPicPr>
        <p:blipFill>
          <a:blip r:embed="rId7"/>
          <a:stretch/>
        </p:blipFill>
        <p:spPr>
          <a:xfrm>
            <a:off x="743508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Text 24"/>
          <p:cNvSpPr/>
          <p:nvPr/>
        </p:nvSpPr>
        <p:spPr>
          <a:xfrm>
            <a:off x="7351920" y="1691640"/>
            <a:ext cx="12067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Step 4: Explain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5"/>
          <p:cNvSpPr/>
          <p:nvPr/>
        </p:nvSpPr>
        <p:spPr>
          <a:xfrm>
            <a:off x="7351920" y="2103120"/>
            <a:ext cx="1206720" cy="57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Case file and AI assistant; a person decides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26"/>
          <p:cNvSpPr/>
          <p:nvPr/>
        </p:nvSpPr>
        <p:spPr>
          <a:xfrm>
            <a:off x="4583152" y="2743200"/>
            <a:ext cx="360" cy="22860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7"/>
          <p:cNvSpPr/>
          <p:nvPr/>
        </p:nvSpPr>
        <p:spPr>
          <a:xfrm>
            <a:off x="3189244" y="2971800"/>
            <a:ext cx="2742840" cy="594000"/>
          </a:xfrm>
          <a:prstGeom prst="roundRect">
            <a:avLst>
              <a:gd name="adj" fmla="val 12308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8"/>
          <p:cNvSpPr/>
          <p:nvPr/>
        </p:nvSpPr>
        <p:spPr>
          <a:xfrm>
            <a:off x="3299044" y="3095280"/>
            <a:ext cx="347040" cy="34704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1" name="Image 5" descr="preencoded.png"/>
          <p:cNvPicPr/>
          <p:nvPr/>
        </p:nvPicPr>
        <p:blipFill>
          <a:blip r:embed="rId8"/>
          <a:stretch/>
        </p:blipFill>
        <p:spPr>
          <a:xfrm>
            <a:off x="3382204" y="31788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Text 29"/>
          <p:cNvSpPr/>
          <p:nvPr/>
        </p:nvSpPr>
        <p:spPr>
          <a:xfrm>
            <a:off x="3756244" y="3017520"/>
            <a:ext cx="20844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Explained by real work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Saved for audit; no alert raised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30"/>
          <p:cNvSpPr/>
          <p:nvPr/>
        </p:nvSpPr>
        <p:spPr>
          <a:xfrm>
            <a:off x="7955280" y="2743200"/>
            <a:ext cx="360" cy="22860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31"/>
          <p:cNvSpPr/>
          <p:nvPr/>
        </p:nvSpPr>
        <p:spPr>
          <a:xfrm>
            <a:off x="6035040" y="2971800"/>
            <a:ext cx="2651400" cy="594000"/>
          </a:xfrm>
          <a:prstGeom prst="roundRect">
            <a:avLst>
              <a:gd name="adj" fmla="val 12308"/>
            </a:avLst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2"/>
          <p:cNvSpPr/>
          <p:nvPr/>
        </p:nvSpPr>
        <p:spPr>
          <a:xfrm>
            <a:off x="6144840" y="3095280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Image 6" descr="preencoded.png"/>
          <p:cNvPicPr/>
          <p:nvPr/>
        </p:nvPicPr>
        <p:blipFill>
          <a:blip r:embed="rId9"/>
          <a:stretch/>
        </p:blipFill>
        <p:spPr>
          <a:xfrm>
            <a:off x="6228000" y="31788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" name="Text 33"/>
          <p:cNvSpPr/>
          <p:nvPr/>
        </p:nvSpPr>
        <p:spPr>
          <a:xfrm>
            <a:off x="6602040" y="3017520"/>
            <a:ext cx="1992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Ranked case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 to the security team’s queue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34"/>
          <p:cNvSpPr/>
          <p:nvPr/>
        </p:nvSpPr>
        <p:spPr>
          <a:xfrm>
            <a:off x="457200" y="3730680"/>
            <a:ext cx="365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How the queue stays manageable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35"/>
          <p:cNvSpPr/>
          <p:nvPr/>
        </p:nvSpPr>
        <p:spPr>
          <a:xfrm>
            <a:off x="457200" y="3977640"/>
            <a:ext cx="2559960" cy="639720"/>
          </a:xfrm>
          <a:prstGeom prst="roundRect">
            <a:avLst>
              <a:gd name="adj" fmla="val 11429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36"/>
          <p:cNvSpPr/>
          <p:nvPr/>
        </p:nvSpPr>
        <p:spPr>
          <a:xfrm>
            <a:off x="567000" y="4151520"/>
            <a:ext cx="292320" cy="29232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1" name="Image 7" descr="preencoded.png"/>
          <p:cNvPicPr/>
          <p:nvPr/>
        </p:nvPicPr>
        <p:blipFill>
          <a:blip r:embed="rId10"/>
          <a:stretch/>
        </p:blipFill>
        <p:spPr>
          <a:xfrm>
            <a:off x="637200" y="422172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Text 37"/>
          <p:cNvSpPr/>
          <p:nvPr/>
        </p:nvSpPr>
        <p:spPr>
          <a:xfrm>
            <a:off x="969120" y="4023360"/>
            <a:ext cx="19566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Fast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New data every 1 to 5 minutes; scoring takes under a millisecond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38"/>
          <p:cNvSpPr/>
          <p:nvPr/>
        </p:nvSpPr>
        <p:spPr>
          <a:xfrm>
            <a:off x="3291840" y="3977640"/>
            <a:ext cx="2559960" cy="639720"/>
          </a:xfrm>
          <a:prstGeom prst="roundRect">
            <a:avLst>
              <a:gd name="adj" fmla="val 11429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39"/>
          <p:cNvSpPr/>
          <p:nvPr/>
        </p:nvSpPr>
        <p:spPr>
          <a:xfrm>
            <a:off x="3401640" y="4151520"/>
            <a:ext cx="292320" cy="29232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5" name="Image 8" descr="preencoded.png"/>
          <p:cNvPicPr/>
          <p:nvPr/>
        </p:nvPicPr>
        <p:blipFill>
          <a:blip r:embed="rId11"/>
          <a:stretch/>
        </p:blipFill>
        <p:spPr>
          <a:xfrm>
            <a:off x="3471840" y="422172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40"/>
          <p:cNvSpPr/>
          <p:nvPr/>
        </p:nvSpPr>
        <p:spPr>
          <a:xfrm>
            <a:off x="3803760" y="4023360"/>
            <a:ext cx="19566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Grouped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Related warnings become one case per account, not six alerts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41"/>
          <p:cNvSpPr/>
          <p:nvPr/>
        </p:nvSpPr>
        <p:spPr>
          <a:xfrm>
            <a:off x="6126480" y="3977640"/>
            <a:ext cx="2559960" cy="639720"/>
          </a:xfrm>
          <a:prstGeom prst="roundRect">
            <a:avLst>
              <a:gd name="adj" fmla="val 11429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2"/>
          <p:cNvSpPr/>
          <p:nvPr/>
        </p:nvSpPr>
        <p:spPr>
          <a:xfrm>
            <a:off x="6236280" y="4151520"/>
            <a:ext cx="292320" cy="29232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9" name="Image 9" descr="preencoded.png"/>
          <p:cNvPicPr/>
          <p:nvPr/>
        </p:nvPicPr>
        <p:blipFill>
          <a:blip r:embed="rId12"/>
          <a:stretch/>
        </p:blipFill>
        <p:spPr>
          <a:xfrm>
            <a:off x="6306480" y="422172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Text 43"/>
          <p:cNvSpPr/>
          <p:nvPr/>
        </p:nvSpPr>
        <p:spPr>
          <a:xfrm>
            <a:off x="6638400" y="4023360"/>
            <a:ext cx="19566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Sized to the team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The queue shows what fits the team’s daily checking time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9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021D530-DD99-490E-8EAC-872287CA840C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6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Step 1: is the behaviour unusual?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234177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Three separate checks, each catching a different kind of attack, plus three extra signals.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"/>
          <p:cNvSpPr/>
          <p:nvPr/>
        </p:nvSpPr>
        <p:spPr>
          <a:xfrm>
            <a:off x="457200" y="1888272"/>
            <a:ext cx="1691280" cy="776880"/>
          </a:xfrm>
          <a:prstGeom prst="roundRect">
            <a:avLst>
              <a:gd name="adj" fmla="val 9412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567000" y="2103192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6" name="Image 0" descr="preencoded.png"/>
          <p:cNvPicPr/>
          <p:nvPr/>
        </p:nvPicPr>
        <p:blipFill>
          <a:blip r:embed="rId3"/>
          <a:stretch/>
        </p:blipFill>
        <p:spPr>
          <a:xfrm>
            <a:off x="650160" y="2186712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 4"/>
          <p:cNvSpPr/>
          <p:nvPr/>
        </p:nvSpPr>
        <p:spPr>
          <a:xfrm>
            <a:off x="1024200" y="1933992"/>
            <a:ext cx="10328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Today’s activity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Grouped into sessions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2148840" y="2276712"/>
            <a:ext cx="24660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6"/>
          <p:cNvSpPr/>
          <p:nvPr/>
        </p:nvSpPr>
        <p:spPr>
          <a:xfrm>
            <a:off x="2395440" y="1463040"/>
            <a:ext cx="360" cy="166392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7"/>
          <p:cNvSpPr/>
          <p:nvPr/>
        </p:nvSpPr>
        <p:spPr>
          <a:xfrm>
            <a:off x="2395440" y="146304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8"/>
          <p:cNvSpPr/>
          <p:nvPr/>
        </p:nvSpPr>
        <p:spPr>
          <a:xfrm>
            <a:off x="2651760" y="1143000"/>
            <a:ext cx="3154320" cy="63972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9"/>
          <p:cNvSpPr/>
          <p:nvPr/>
        </p:nvSpPr>
        <p:spPr>
          <a:xfrm>
            <a:off x="2761560" y="1289160"/>
            <a:ext cx="347040" cy="34704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1" descr="preencoded.png"/>
          <p:cNvPicPr/>
          <p:nvPr/>
        </p:nvPicPr>
        <p:blipFill>
          <a:blip r:embed="rId4"/>
          <a:stretch/>
        </p:blipFill>
        <p:spPr>
          <a:xfrm>
            <a:off x="2844720" y="13726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10"/>
          <p:cNvSpPr/>
          <p:nvPr/>
        </p:nvSpPr>
        <p:spPr>
          <a:xfrm>
            <a:off x="3218760" y="1188720"/>
            <a:ext cx="2495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How much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Compared with the person’s own normal days; one busy day can’t skew it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11"/>
          <p:cNvSpPr/>
          <p:nvPr/>
        </p:nvSpPr>
        <p:spPr>
          <a:xfrm>
            <a:off x="5806440" y="1463040"/>
            <a:ext cx="24660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2"/>
          <p:cNvSpPr/>
          <p:nvPr/>
        </p:nvSpPr>
        <p:spPr>
          <a:xfrm>
            <a:off x="2395440" y="228600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3"/>
          <p:cNvSpPr/>
          <p:nvPr/>
        </p:nvSpPr>
        <p:spPr>
          <a:xfrm>
            <a:off x="2651760" y="1965960"/>
            <a:ext cx="3154320" cy="639720"/>
          </a:xfrm>
          <a:prstGeom prst="roundRect">
            <a:avLst>
              <a:gd name="adj" fmla="val 11429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4"/>
          <p:cNvSpPr/>
          <p:nvPr/>
        </p:nvSpPr>
        <p:spPr>
          <a:xfrm>
            <a:off x="2761560" y="2112120"/>
            <a:ext cx="347040" cy="34704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9" name="Image 2" descr="preencoded.png"/>
          <p:cNvPicPr/>
          <p:nvPr/>
        </p:nvPicPr>
        <p:blipFill>
          <a:blip r:embed="rId5"/>
          <a:stretch/>
        </p:blipFill>
        <p:spPr>
          <a:xfrm>
            <a:off x="2844720" y="21956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Text 15"/>
          <p:cNvSpPr/>
          <p:nvPr/>
        </p:nvSpPr>
        <p:spPr>
          <a:xfrm>
            <a:off x="3218760" y="2011680"/>
            <a:ext cx="2495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In what order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Learns how often one action follows another across the company; rare chains stand out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16"/>
          <p:cNvSpPr/>
          <p:nvPr/>
        </p:nvSpPr>
        <p:spPr>
          <a:xfrm>
            <a:off x="5806440" y="2286000"/>
            <a:ext cx="24660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7"/>
          <p:cNvSpPr/>
          <p:nvPr/>
        </p:nvSpPr>
        <p:spPr>
          <a:xfrm>
            <a:off x="2395440" y="310896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8"/>
          <p:cNvSpPr/>
          <p:nvPr/>
        </p:nvSpPr>
        <p:spPr>
          <a:xfrm>
            <a:off x="2651760" y="2788920"/>
            <a:ext cx="3154320" cy="639720"/>
          </a:xfrm>
          <a:prstGeom prst="roundRect">
            <a:avLst>
              <a:gd name="adj" fmla="val 11429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19"/>
          <p:cNvSpPr/>
          <p:nvPr/>
        </p:nvSpPr>
        <p:spPr>
          <a:xfrm>
            <a:off x="2761560" y="2935080"/>
            <a:ext cx="347040" cy="34704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5" name="Image 3" descr="preencoded.png"/>
          <p:cNvPicPr/>
          <p:nvPr/>
        </p:nvPicPr>
        <p:blipFill>
          <a:blip r:embed="rId6"/>
          <a:stretch/>
        </p:blipFill>
        <p:spPr>
          <a:xfrm>
            <a:off x="2844720" y="30186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Text 20"/>
          <p:cNvSpPr/>
          <p:nvPr/>
        </p:nvSpPr>
        <p:spPr>
          <a:xfrm>
            <a:off x="3218760" y="2834640"/>
            <a:ext cx="2495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Drift from teammates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Compared with teammates and with a snapshot from months ago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21"/>
          <p:cNvSpPr/>
          <p:nvPr/>
        </p:nvSpPr>
        <p:spPr>
          <a:xfrm>
            <a:off x="5806440" y="3108960"/>
            <a:ext cx="24660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22"/>
          <p:cNvSpPr/>
          <p:nvPr/>
        </p:nvSpPr>
        <p:spPr>
          <a:xfrm>
            <a:off x="6053040" y="1463040"/>
            <a:ext cx="360" cy="166392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23"/>
          <p:cNvSpPr/>
          <p:nvPr/>
        </p:nvSpPr>
        <p:spPr>
          <a:xfrm>
            <a:off x="6053040" y="229158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24"/>
          <p:cNvSpPr/>
          <p:nvPr/>
        </p:nvSpPr>
        <p:spPr>
          <a:xfrm>
            <a:off x="6309360" y="1903140"/>
            <a:ext cx="2377080" cy="776880"/>
          </a:xfrm>
          <a:prstGeom prst="roundRect">
            <a:avLst>
              <a:gd name="adj" fmla="val 9412"/>
            </a:avLst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5"/>
          <p:cNvSpPr/>
          <p:nvPr/>
        </p:nvSpPr>
        <p:spPr>
          <a:xfrm>
            <a:off x="6419160" y="2118060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2" name="Image 4" descr="preencoded.png"/>
          <p:cNvPicPr/>
          <p:nvPr/>
        </p:nvPicPr>
        <p:blipFill>
          <a:blip r:embed="rId7"/>
          <a:stretch/>
        </p:blipFill>
        <p:spPr>
          <a:xfrm>
            <a:off x="6502320" y="22015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Text 26"/>
          <p:cNvSpPr/>
          <p:nvPr/>
        </p:nvSpPr>
        <p:spPr>
          <a:xfrm>
            <a:off x="6876360" y="1948860"/>
            <a:ext cx="17186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Behaviour score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Passed on to Step 2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27"/>
          <p:cNvSpPr/>
          <p:nvPr/>
        </p:nvSpPr>
        <p:spPr>
          <a:xfrm flipV="1">
            <a:off x="7497720" y="2698380"/>
            <a:ext cx="720" cy="277506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28"/>
          <p:cNvSpPr/>
          <p:nvPr/>
        </p:nvSpPr>
        <p:spPr>
          <a:xfrm>
            <a:off x="6309360" y="2975886"/>
            <a:ext cx="2377080" cy="328680"/>
          </a:xfrm>
          <a:prstGeom prst="roundRect">
            <a:avLst>
              <a:gd name="adj" fmla="val 22222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29"/>
          <p:cNvSpPr/>
          <p:nvPr/>
        </p:nvSpPr>
        <p:spPr>
          <a:xfrm>
            <a:off x="6419160" y="3021606"/>
            <a:ext cx="237240" cy="23724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7" name="Image 5" descr="preencoded.png"/>
          <p:cNvPicPr/>
          <p:nvPr/>
        </p:nvPicPr>
        <p:blipFill>
          <a:blip r:embed="rId8"/>
          <a:stretch/>
        </p:blipFill>
        <p:spPr>
          <a:xfrm>
            <a:off x="6476040" y="3078486"/>
            <a:ext cx="123120" cy="1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8" name="Text 30"/>
          <p:cNvSpPr/>
          <p:nvPr/>
        </p:nvSpPr>
        <p:spPr>
          <a:xfrm>
            <a:off x="6766560" y="3021606"/>
            <a:ext cx="18284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Decoy files that no honest user opens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31"/>
          <p:cNvSpPr/>
          <p:nvPr/>
        </p:nvSpPr>
        <p:spPr>
          <a:xfrm>
            <a:off x="6309360" y="3360006"/>
            <a:ext cx="2377080" cy="328680"/>
          </a:xfrm>
          <a:prstGeom prst="roundRect">
            <a:avLst>
              <a:gd name="adj" fmla="val 22222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32"/>
          <p:cNvSpPr/>
          <p:nvPr/>
        </p:nvSpPr>
        <p:spPr>
          <a:xfrm>
            <a:off x="6419160" y="3405726"/>
            <a:ext cx="237240" cy="23724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1" name="Image 6" descr="preencoded.png"/>
          <p:cNvPicPr/>
          <p:nvPr/>
        </p:nvPicPr>
        <p:blipFill>
          <a:blip r:embed="rId6"/>
          <a:stretch/>
        </p:blipFill>
        <p:spPr>
          <a:xfrm>
            <a:off x="6476040" y="3462606"/>
            <a:ext cx="123120" cy="1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Text 33"/>
          <p:cNvSpPr/>
          <p:nvPr/>
        </p:nvSpPr>
        <p:spPr>
          <a:xfrm>
            <a:off x="6766560" y="3405726"/>
            <a:ext cx="18284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New contacts outside the company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34"/>
          <p:cNvSpPr/>
          <p:nvPr/>
        </p:nvSpPr>
        <p:spPr>
          <a:xfrm>
            <a:off x="6309360" y="3744126"/>
            <a:ext cx="2377080" cy="328680"/>
          </a:xfrm>
          <a:prstGeom prst="roundRect">
            <a:avLst>
              <a:gd name="adj" fmla="val 22222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35"/>
          <p:cNvSpPr/>
          <p:nvPr/>
        </p:nvSpPr>
        <p:spPr>
          <a:xfrm>
            <a:off x="6419160" y="3789846"/>
            <a:ext cx="237240" cy="23724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Image 7" descr="preencoded.png"/>
          <p:cNvPicPr/>
          <p:nvPr/>
        </p:nvPicPr>
        <p:blipFill>
          <a:blip r:embed="rId9"/>
          <a:stretch/>
        </p:blipFill>
        <p:spPr>
          <a:xfrm>
            <a:off x="6476040" y="3846726"/>
            <a:ext cx="123120" cy="1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6" name="Text 36"/>
          <p:cNvSpPr/>
          <p:nvPr/>
        </p:nvSpPr>
        <p:spPr>
          <a:xfrm>
            <a:off x="6766560" y="3789846"/>
            <a:ext cx="18284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New joiners compared with their peers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37"/>
          <p:cNvSpPr/>
          <p:nvPr/>
        </p:nvSpPr>
        <p:spPr>
          <a:xfrm>
            <a:off x="457200" y="3974292"/>
            <a:ext cx="45716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Example of an unusual order (illustrative numbers)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38"/>
          <p:cNvSpPr/>
          <p:nvPr/>
        </p:nvSpPr>
        <p:spPr>
          <a:xfrm>
            <a:off x="457200" y="4248612"/>
            <a:ext cx="1371240" cy="383760"/>
          </a:xfrm>
          <a:prstGeom prst="roundRect">
            <a:avLst>
              <a:gd name="adj" fmla="val 19048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39"/>
          <p:cNvSpPr/>
          <p:nvPr/>
        </p:nvSpPr>
        <p:spPr>
          <a:xfrm>
            <a:off x="585360" y="4294332"/>
            <a:ext cx="1151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Copy code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40"/>
          <p:cNvSpPr/>
          <p:nvPr/>
        </p:nvSpPr>
        <p:spPr>
          <a:xfrm>
            <a:off x="1846800" y="4440492"/>
            <a:ext cx="2379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41"/>
          <p:cNvSpPr/>
          <p:nvPr/>
        </p:nvSpPr>
        <p:spPr>
          <a:xfrm>
            <a:off x="2103120" y="4248612"/>
            <a:ext cx="1371240" cy="383760"/>
          </a:xfrm>
          <a:prstGeom prst="roundRect">
            <a:avLst>
              <a:gd name="adj" fmla="val 19048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42"/>
          <p:cNvSpPr/>
          <p:nvPr/>
        </p:nvSpPr>
        <p:spPr>
          <a:xfrm>
            <a:off x="2231280" y="4294332"/>
            <a:ext cx="1151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Zip it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43"/>
          <p:cNvSpPr/>
          <p:nvPr/>
        </p:nvSpPr>
        <p:spPr>
          <a:xfrm>
            <a:off x="3492720" y="4440492"/>
            <a:ext cx="2379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44"/>
          <p:cNvSpPr/>
          <p:nvPr/>
        </p:nvSpPr>
        <p:spPr>
          <a:xfrm>
            <a:off x="3749040" y="4248612"/>
            <a:ext cx="1371240" cy="383760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5"/>
          <p:cNvSpPr/>
          <p:nvPr/>
        </p:nvSpPr>
        <p:spPr>
          <a:xfrm>
            <a:off x="3877200" y="4294332"/>
            <a:ext cx="1151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outside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46"/>
          <p:cNvSpPr/>
          <p:nvPr/>
        </p:nvSpPr>
        <p:spPr>
          <a:xfrm>
            <a:off x="5138640" y="4440492"/>
            <a:ext cx="2379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47"/>
          <p:cNvSpPr/>
          <p:nvPr/>
        </p:nvSpPr>
        <p:spPr>
          <a:xfrm>
            <a:off x="5394960" y="4248612"/>
            <a:ext cx="3291480" cy="383760"/>
          </a:xfrm>
          <a:prstGeom prst="roundRect">
            <a:avLst>
              <a:gd name="adj" fmla="val 19048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48"/>
          <p:cNvSpPr/>
          <p:nvPr/>
        </p:nvSpPr>
        <p:spPr>
          <a:xfrm>
            <a:off x="5523120" y="4294332"/>
            <a:ext cx="3071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Seen about 1 time in 2,500 in our example data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0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4AD3B33-B300-416A-9156-082F7256C011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7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Step 2: was it approved?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234179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Most unusual activity is real work, so tellTale looks for an approval and checks it is genuine.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2" name="Shape 2"/>
          <p:cNvSpPr/>
          <p:nvPr/>
        </p:nvSpPr>
        <p:spPr>
          <a:xfrm>
            <a:off x="457200" y="1188720"/>
            <a:ext cx="1691280" cy="73116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3"/>
          <p:cNvSpPr/>
          <p:nvPr/>
        </p:nvSpPr>
        <p:spPr>
          <a:xfrm>
            <a:off x="567000" y="1380600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4" name="Image 0" descr="preencoded.png"/>
          <p:cNvPicPr/>
          <p:nvPr/>
        </p:nvPicPr>
        <p:blipFill>
          <a:blip r:embed="rId3"/>
          <a:stretch/>
        </p:blipFill>
        <p:spPr>
          <a:xfrm>
            <a:off x="650160" y="14641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Text 4"/>
          <p:cNvSpPr/>
          <p:nvPr/>
        </p:nvSpPr>
        <p:spPr>
          <a:xfrm>
            <a:off x="1024200" y="1234440"/>
            <a:ext cx="10328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Unusual activity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5"/>
          <p:cNvSpPr/>
          <p:nvPr/>
        </p:nvSpPr>
        <p:spPr>
          <a:xfrm>
            <a:off x="457200" y="2103120"/>
            <a:ext cx="1691280" cy="73116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6"/>
          <p:cNvSpPr/>
          <p:nvPr/>
        </p:nvSpPr>
        <p:spPr>
          <a:xfrm>
            <a:off x="567000" y="2295000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8" name="Image 1" descr="preencoded.png"/>
          <p:cNvPicPr/>
          <p:nvPr/>
        </p:nvPicPr>
        <p:blipFill>
          <a:blip r:embed="rId4"/>
          <a:stretch/>
        </p:blipFill>
        <p:spPr>
          <a:xfrm>
            <a:off x="650160" y="23785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Text 7"/>
          <p:cNvSpPr/>
          <p:nvPr/>
        </p:nvSpPr>
        <p:spPr>
          <a:xfrm>
            <a:off x="1024200" y="2148840"/>
            <a:ext cx="10328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Ticket, on-call or HR record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8"/>
          <p:cNvSpPr/>
          <p:nvPr/>
        </p:nvSpPr>
        <p:spPr>
          <a:xfrm>
            <a:off x="2148840" y="1554480"/>
            <a:ext cx="18288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9"/>
          <p:cNvSpPr/>
          <p:nvPr/>
        </p:nvSpPr>
        <p:spPr>
          <a:xfrm>
            <a:off x="2148840" y="2468880"/>
            <a:ext cx="18288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10"/>
          <p:cNvSpPr/>
          <p:nvPr/>
        </p:nvSpPr>
        <p:spPr>
          <a:xfrm>
            <a:off x="2331720" y="1554480"/>
            <a:ext cx="360" cy="91440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1"/>
          <p:cNvSpPr/>
          <p:nvPr/>
        </p:nvSpPr>
        <p:spPr>
          <a:xfrm>
            <a:off x="2331720" y="2011680"/>
            <a:ext cx="182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12"/>
          <p:cNvSpPr/>
          <p:nvPr/>
        </p:nvSpPr>
        <p:spPr>
          <a:xfrm>
            <a:off x="2514600" y="1188720"/>
            <a:ext cx="1371240" cy="164556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3"/>
          <p:cNvSpPr/>
          <p:nvPr/>
        </p:nvSpPr>
        <p:spPr>
          <a:xfrm>
            <a:off x="2642760" y="1316880"/>
            <a:ext cx="347040" cy="34704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Image 2" descr="preencoded.png"/>
          <p:cNvPicPr/>
          <p:nvPr/>
        </p:nvPicPr>
        <p:blipFill>
          <a:blip r:embed="rId5"/>
          <a:stretch/>
        </p:blipFill>
        <p:spPr>
          <a:xfrm>
            <a:off x="2725920" y="14000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Text 14"/>
          <p:cNvSpPr/>
          <p:nvPr/>
        </p:nvSpPr>
        <p:spPr>
          <a:xfrm>
            <a:off x="2642760" y="1737360"/>
            <a:ext cx="11152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Made before?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5"/>
          <p:cNvSpPr/>
          <p:nvPr/>
        </p:nvSpPr>
        <p:spPr>
          <a:xfrm>
            <a:off x="2642760" y="2148840"/>
            <a:ext cx="111528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Created at least 30 minutes before the activity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6"/>
          <p:cNvSpPr/>
          <p:nvPr/>
        </p:nvSpPr>
        <p:spPr>
          <a:xfrm>
            <a:off x="3895200" y="2011680"/>
            <a:ext cx="182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7"/>
          <p:cNvSpPr/>
          <p:nvPr/>
        </p:nvSpPr>
        <p:spPr>
          <a:xfrm>
            <a:off x="4087440" y="1188720"/>
            <a:ext cx="1371240" cy="1645560"/>
          </a:xfrm>
          <a:prstGeom prst="roundRect">
            <a:avLst>
              <a:gd name="adj" fmla="val 5333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8"/>
          <p:cNvSpPr/>
          <p:nvPr/>
        </p:nvSpPr>
        <p:spPr>
          <a:xfrm>
            <a:off x="4215240" y="1316880"/>
            <a:ext cx="347040" cy="34704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3" descr="preencoded.png"/>
          <p:cNvPicPr/>
          <p:nvPr/>
        </p:nvPicPr>
        <p:blipFill>
          <a:blip r:embed="rId6"/>
          <a:stretch/>
        </p:blipFill>
        <p:spPr>
          <a:xfrm>
            <a:off x="4298760" y="14000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 19"/>
          <p:cNvSpPr/>
          <p:nvPr/>
        </p:nvSpPr>
        <p:spPr>
          <a:xfrm>
            <a:off x="4215240" y="1737360"/>
            <a:ext cx="11152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Made by someone else?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20"/>
          <p:cNvSpPr/>
          <p:nvPr/>
        </p:nvSpPr>
        <p:spPr>
          <a:xfrm>
            <a:off x="4215240" y="2148840"/>
            <a:ext cx="111528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ticket you wrote for yourself doesn’t count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21"/>
          <p:cNvSpPr/>
          <p:nvPr/>
        </p:nvSpPr>
        <p:spPr>
          <a:xfrm>
            <a:off x="5468040" y="2011680"/>
            <a:ext cx="182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22"/>
          <p:cNvSpPr/>
          <p:nvPr/>
        </p:nvSpPr>
        <p:spPr>
          <a:xfrm>
            <a:off x="5660280" y="1188720"/>
            <a:ext cx="1371240" cy="164556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23"/>
          <p:cNvSpPr/>
          <p:nvPr/>
        </p:nvSpPr>
        <p:spPr>
          <a:xfrm>
            <a:off x="5788080" y="1316880"/>
            <a:ext cx="347040" cy="34704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8" name="Image 4" descr="preencoded.png"/>
          <p:cNvPicPr/>
          <p:nvPr/>
        </p:nvPicPr>
        <p:blipFill>
          <a:blip r:embed="rId7"/>
          <a:stretch/>
        </p:blipFill>
        <p:spPr>
          <a:xfrm>
            <a:off x="5871600" y="14000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 24"/>
          <p:cNvSpPr/>
          <p:nvPr/>
        </p:nvSpPr>
        <p:spPr>
          <a:xfrm>
            <a:off x="5788080" y="1737360"/>
            <a:ext cx="11152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Names this system?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5"/>
          <p:cNvSpPr/>
          <p:nvPr/>
        </p:nvSpPr>
        <p:spPr>
          <a:xfrm>
            <a:off x="5788080" y="2148840"/>
            <a:ext cx="111528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ticket for one project can’t cover another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26"/>
          <p:cNvSpPr/>
          <p:nvPr/>
        </p:nvSpPr>
        <p:spPr>
          <a:xfrm>
            <a:off x="7040880" y="2011680"/>
            <a:ext cx="182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27"/>
          <p:cNvSpPr/>
          <p:nvPr/>
        </p:nvSpPr>
        <p:spPr>
          <a:xfrm>
            <a:off x="7232760" y="1188720"/>
            <a:ext cx="1371240" cy="164556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28"/>
          <p:cNvSpPr/>
          <p:nvPr/>
        </p:nvSpPr>
        <p:spPr>
          <a:xfrm>
            <a:off x="7360920" y="1316880"/>
            <a:ext cx="347040" cy="3470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4" name="Image 5" descr="preencoded.png"/>
          <p:cNvPicPr/>
          <p:nvPr/>
        </p:nvPicPr>
        <p:blipFill>
          <a:blip r:embed="rId8"/>
          <a:stretch/>
        </p:blipFill>
        <p:spPr>
          <a:xfrm>
            <a:off x="7444440" y="14000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 29"/>
          <p:cNvSpPr/>
          <p:nvPr/>
        </p:nvSpPr>
        <p:spPr>
          <a:xfrm>
            <a:off x="7360920" y="1737360"/>
            <a:ext cx="11152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Right amount?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30"/>
          <p:cNvSpPr/>
          <p:nvPr/>
        </p:nvSpPr>
        <p:spPr>
          <a:xfrm>
            <a:off x="7360920" y="2148840"/>
            <a:ext cx="111528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small task can’t explain copying 40 projects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31"/>
          <p:cNvSpPr/>
          <p:nvPr/>
        </p:nvSpPr>
        <p:spPr>
          <a:xfrm>
            <a:off x="5550120" y="2941308"/>
            <a:ext cx="360" cy="76211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32"/>
          <p:cNvSpPr/>
          <p:nvPr/>
        </p:nvSpPr>
        <p:spPr>
          <a:xfrm>
            <a:off x="3657600" y="3017520"/>
            <a:ext cx="374904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3"/>
          <p:cNvSpPr/>
          <p:nvPr/>
        </p:nvSpPr>
        <p:spPr>
          <a:xfrm>
            <a:off x="3657600" y="3017520"/>
            <a:ext cx="360" cy="18288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34"/>
          <p:cNvSpPr/>
          <p:nvPr/>
        </p:nvSpPr>
        <p:spPr>
          <a:xfrm>
            <a:off x="7406640" y="3017520"/>
            <a:ext cx="360" cy="18288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35"/>
          <p:cNvSpPr/>
          <p:nvPr/>
        </p:nvSpPr>
        <p:spPr>
          <a:xfrm>
            <a:off x="2514600" y="3200400"/>
            <a:ext cx="2377080" cy="639720"/>
          </a:xfrm>
          <a:prstGeom prst="roundRect">
            <a:avLst>
              <a:gd name="adj" fmla="val 11429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36"/>
          <p:cNvSpPr/>
          <p:nvPr/>
        </p:nvSpPr>
        <p:spPr>
          <a:xfrm>
            <a:off x="2624400" y="3346560"/>
            <a:ext cx="347040" cy="34704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3" name="Image 6" descr="preencoded.png"/>
          <p:cNvPicPr/>
          <p:nvPr/>
        </p:nvPicPr>
        <p:blipFill>
          <a:blip r:embed="rId9"/>
          <a:stretch/>
        </p:blipFill>
        <p:spPr>
          <a:xfrm>
            <a:off x="2707560" y="34300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Text 37"/>
          <p:cNvSpPr/>
          <p:nvPr/>
        </p:nvSpPr>
        <p:spPr>
          <a:xfrm>
            <a:off x="3081600" y="3246120"/>
            <a:ext cx="17186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All checks pass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Score lowered and the reason saved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38"/>
          <p:cNvSpPr/>
          <p:nvPr/>
        </p:nvSpPr>
        <p:spPr>
          <a:xfrm>
            <a:off x="6217920" y="3200400"/>
            <a:ext cx="2468520" cy="639720"/>
          </a:xfrm>
          <a:prstGeom prst="roundRect">
            <a:avLst>
              <a:gd name="adj" fmla="val 11429"/>
            </a:avLst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9"/>
          <p:cNvSpPr/>
          <p:nvPr/>
        </p:nvSpPr>
        <p:spPr>
          <a:xfrm>
            <a:off x="6327720" y="3346560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7" name="Image 7" descr="preencoded.png"/>
          <p:cNvPicPr/>
          <p:nvPr/>
        </p:nvPicPr>
        <p:blipFill>
          <a:blip r:embed="rId10"/>
          <a:stretch/>
        </p:blipFill>
        <p:spPr>
          <a:xfrm>
            <a:off x="6410880" y="34300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8" name="Text 40"/>
          <p:cNvSpPr/>
          <p:nvPr/>
        </p:nvSpPr>
        <p:spPr>
          <a:xfrm>
            <a:off x="6784920" y="3246120"/>
            <a:ext cx="1810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Missing or fake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 fake ticket raises the score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41"/>
          <p:cNvSpPr/>
          <p:nvPr/>
        </p:nvSpPr>
        <p:spPr>
          <a:xfrm>
            <a:off x="457200" y="3977640"/>
            <a:ext cx="365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Rules that keep the check honest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42"/>
          <p:cNvSpPr/>
          <p:nvPr/>
        </p:nvSpPr>
        <p:spPr>
          <a:xfrm>
            <a:off x="457200" y="4224600"/>
            <a:ext cx="2559960" cy="411120"/>
          </a:xfrm>
          <a:prstGeom prst="roundRect">
            <a:avLst>
              <a:gd name="adj" fmla="val 17778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43"/>
          <p:cNvSpPr/>
          <p:nvPr/>
        </p:nvSpPr>
        <p:spPr>
          <a:xfrm>
            <a:off x="567000" y="429300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2" name="Image 8" descr="preencoded.png"/>
          <p:cNvPicPr/>
          <p:nvPr/>
        </p:nvPicPr>
        <p:blipFill>
          <a:blip r:embed="rId11"/>
          <a:stretch/>
        </p:blipFill>
        <p:spPr>
          <a:xfrm>
            <a:off x="632880" y="43588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Text 44"/>
          <p:cNvSpPr/>
          <p:nvPr/>
        </p:nvSpPr>
        <p:spPr>
          <a:xfrm>
            <a:off x="951120" y="4270320"/>
            <a:ext cx="1974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Every lowered score is saved with its reason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45"/>
          <p:cNvSpPr/>
          <p:nvPr/>
        </p:nvSpPr>
        <p:spPr>
          <a:xfrm>
            <a:off x="3291840" y="4224600"/>
            <a:ext cx="2559960" cy="411120"/>
          </a:xfrm>
          <a:prstGeom prst="roundRect">
            <a:avLst>
              <a:gd name="adj" fmla="val 17778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46"/>
          <p:cNvSpPr/>
          <p:nvPr/>
        </p:nvSpPr>
        <p:spPr>
          <a:xfrm>
            <a:off x="3401640" y="429300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6" name="Image 9" descr="preencoded.png"/>
          <p:cNvPicPr/>
          <p:nvPr/>
        </p:nvPicPr>
        <p:blipFill>
          <a:blip r:embed="rId8"/>
          <a:stretch/>
        </p:blipFill>
        <p:spPr>
          <a:xfrm>
            <a:off x="3467520" y="43588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47"/>
          <p:cNvSpPr/>
          <p:nvPr/>
        </p:nvSpPr>
        <p:spPr>
          <a:xfrm>
            <a:off x="3785760" y="4270320"/>
            <a:ext cx="1974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ticket can reduce risk, never erase it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48"/>
          <p:cNvSpPr/>
          <p:nvPr/>
        </p:nvSpPr>
        <p:spPr>
          <a:xfrm>
            <a:off x="6126480" y="4224600"/>
            <a:ext cx="2559960" cy="411120"/>
          </a:xfrm>
          <a:prstGeom prst="roundRect">
            <a:avLst>
              <a:gd name="adj" fmla="val 17778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49"/>
          <p:cNvSpPr/>
          <p:nvPr/>
        </p:nvSpPr>
        <p:spPr>
          <a:xfrm>
            <a:off x="6236280" y="429300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0" name="Image 10" descr="preencoded.png"/>
          <p:cNvPicPr/>
          <p:nvPr/>
        </p:nvPicPr>
        <p:blipFill>
          <a:blip r:embed="rId12"/>
          <a:stretch/>
        </p:blipFill>
        <p:spPr>
          <a:xfrm>
            <a:off x="6302160" y="43588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Text 50"/>
          <p:cNvSpPr/>
          <p:nvPr/>
        </p:nvSpPr>
        <p:spPr>
          <a:xfrm>
            <a:off x="6620400" y="4270320"/>
            <a:ext cx="1974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Touching a decoy is never excused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11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E687AED-1F4F-4C44-B46C-88CD1958CF89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8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Shape 32">
            <a:extLst>
              <a:ext uri="{FF2B5EF4-FFF2-40B4-BE49-F238E27FC236}">
                <a16:creationId xmlns:a16="http://schemas.microsoft.com/office/drawing/2014/main" id="{AE842D3A-F239-3E79-1824-45FFD5CECF70}"/>
              </a:ext>
            </a:extLst>
          </p:cNvPr>
          <p:cNvSpPr/>
          <p:nvPr/>
        </p:nvSpPr>
        <p:spPr>
          <a:xfrm>
            <a:off x="2520035" y="2944766"/>
            <a:ext cx="6078312" cy="6588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Shape 31">
            <a:extLst>
              <a:ext uri="{FF2B5EF4-FFF2-40B4-BE49-F238E27FC236}">
                <a16:creationId xmlns:a16="http://schemas.microsoft.com/office/drawing/2014/main" id="{9AD38DC3-B5B5-3D90-0081-53B92FEB7B72}"/>
              </a:ext>
            </a:extLst>
          </p:cNvPr>
          <p:cNvSpPr/>
          <p:nvPr/>
        </p:nvSpPr>
        <p:spPr>
          <a:xfrm>
            <a:off x="2509809" y="2834280"/>
            <a:ext cx="3" cy="115726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Shape 31">
            <a:extLst>
              <a:ext uri="{FF2B5EF4-FFF2-40B4-BE49-F238E27FC236}">
                <a16:creationId xmlns:a16="http://schemas.microsoft.com/office/drawing/2014/main" id="{F12135A7-C12D-C6EF-AB50-FD81DBF4AB60}"/>
              </a:ext>
            </a:extLst>
          </p:cNvPr>
          <p:cNvSpPr/>
          <p:nvPr/>
        </p:nvSpPr>
        <p:spPr>
          <a:xfrm flipH="1">
            <a:off x="8598347" y="2834280"/>
            <a:ext cx="9863" cy="126531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One command, three outcomes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/>
          </p:nvPr>
        </p:nvSpPr>
        <p:spPr>
          <a:xfrm>
            <a:off x="271345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Three people run the same command on code none of them has touched before.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2"/>
          <p:cNvSpPr/>
          <p:nvPr/>
        </p:nvSpPr>
        <p:spPr>
          <a:xfrm>
            <a:off x="2743200" y="1097280"/>
            <a:ext cx="3657240" cy="411120"/>
          </a:xfrm>
          <a:prstGeom prst="roundRect">
            <a:avLst>
              <a:gd name="adj" fmla="val 17778"/>
            </a:avLst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"/>
          <p:cNvSpPr/>
          <p:nvPr/>
        </p:nvSpPr>
        <p:spPr>
          <a:xfrm>
            <a:off x="2853000" y="1156680"/>
            <a:ext cx="292320" cy="2923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7" name="Image 0" descr="preencoded.png"/>
          <p:cNvPicPr/>
          <p:nvPr/>
        </p:nvPicPr>
        <p:blipFill>
          <a:blip r:embed="rId3"/>
          <a:stretch/>
        </p:blipFill>
        <p:spPr>
          <a:xfrm>
            <a:off x="2923200" y="12268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8" name="Text 4"/>
          <p:cNvSpPr/>
          <p:nvPr/>
        </p:nvSpPr>
        <p:spPr>
          <a:xfrm>
            <a:off x="3255120" y="1143000"/>
            <a:ext cx="305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 clone payments-core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5"/>
          <p:cNvSpPr/>
          <p:nvPr/>
        </p:nvSpPr>
        <p:spPr>
          <a:xfrm>
            <a:off x="4572000" y="1508760"/>
            <a:ext cx="360" cy="11880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6"/>
          <p:cNvSpPr/>
          <p:nvPr/>
        </p:nvSpPr>
        <p:spPr>
          <a:xfrm>
            <a:off x="1737360" y="1627560"/>
            <a:ext cx="566928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7"/>
          <p:cNvSpPr/>
          <p:nvPr/>
        </p:nvSpPr>
        <p:spPr>
          <a:xfrm>
            <a:off x="1737360" y="1627560"/>
            <a:ext cx="360" cy="12780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8"/>
          <p:cNvSpPr/>
          <p:nvPr/>
        </p:nvSpPr>
        <p:spPr>
          <a:xfrm>
            <a:off x="457200" y="1755720"/>
            <a:ext cx="2559960" cy="731160"/>
          </a:xfrm>
          <a:prstGeom prst="roundRect">
            <a:avLst>
              <a:gd name="adj" fmla="val 10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9"/>
          <p:cNvSpPr/>
          <p:nvPr/>
        </p:nvSpPr>
        <p:spPr>
          <a:xfrm>
            <a:off x="567000" y="1947600"/>
            <a:ext cx="347040" cy="34704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4" name="Image 1" descr="preencoded.png"/>
          <p:cNvPicPr/>
          <p:nvPr/>
        </p:nvPicPr>
        <p:blipFill>
          <a:blip r:embed="rId4"/>
          <a:stretch/>
        </p:blipFill>
        <p:spPr>
          <a:xfrm>
            <a:off x="650160" y="20311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5" name="Text 10"/>
          <p:cNvSpPr/>
          <p:nvPr/>
        </p:nvSpPr>
        <p:spPr>
          <a:xfrm>
            <a:off x="1024200" y="1801440"/>
            <a:ext cx="1901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Person 1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Copied the code, then asked teammates to review a change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1"/>
          <p:cNvSpPr/>
          <p:nvPr/>
        </p:nvSpPr>
        <p:spPr>
          <a:xfrm>
            <a:off x="1737360" y="2486880"/>
            <a:ext cx="360" cy="1281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12"/>
          <p:cNvSpPr/>
          <p:nvPr/>
        </p:nvSpPr>
        <p:spPr>
          <a:xfrm>
            <a:off x="457200" y="2615040"/>
            <a:ext cx="2559960" cy="548280"/>
          </a:xfrm>
          <a:prstGeom prst="roundRect">
            <a:avLst>
              <a:gd name="adj" fmla="val 13333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13"/>
          <p:cNvSpPr/>
          <p:nvPr/>
        </p:nvSpPr>
        <p:spPr>
          <a:xfrm>
            <a:off x="567000" y="275220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9" name="Image 2" descr="preencoded.png"/>
          <p:cNvPicPr/>
          <p:nvPr/>
        </p:nvPicPr>
        <p:blipFill>
          <a:blip r:embed="rId5"/>
          <a:stretch/>
        </p:blipFill>
        <p:spPr>
          <a:xfrm>
            <a:off x="632880" y="28180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Text 14"/>
          <p:cNvSpPr/>
          <p:nvPr/>
        </p:nvSpPr>
        <p:spPr>
          <a:xfrm>
            <a:off x="951120" y="2660760"/>
            <a:ext cx="1974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Records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Ticket assigned by their team lead a day earlier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15"/>
          <p:cNvSpPr/>
          <p:nvPr/>
        </p:nvSpPr>
        <p:spPr>
          <a:xfrm>
            <a:off x="1737360" y="3163680"/>
            <a:ext cx="360" cy="1281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6"/>
          <p:cNvSpPr/>
          <p:nvPr/>
        </p:nvSpPr>
        <p:spPr>
          <a:xfrm>
            <a:off x="457200" y="3291840"/>
            <a:ext cx="2559960" cy="383760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17"/>
          <p:cNvSpPr/>
          <p:nvPr/>
        </p:nvSpPr>
        <p:spPr>
          <a:xfrm>
            <a:off x="585360" y="3337560"/>
            <a:ext cx="23403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Score 14: no alert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18"/>
          <p:cNvSpPr/>
          <p:nvPr/>
        </p:nvSpPr>
        <p:spPr>
          <a:xfrm>
            <a:off x="457200" y="3840480"/>
            <a:ext cx="2559960" cy="566640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19"/>
          <p:cNvSpPr/>
          <p:nvPr/>
        </p:nvSpPr>
        <p:spPr>
          <a:xfrm>
            <a:off x="567000" y="398664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6" name="Image 3" descr="preencoded.png"/>
          <p:cNvPicPr/>
          <p:nvPr/>
        </p:nvPicPr>
        <p:blipFill>
          <a:blip r:embed="rId6"/>
          <a:stretch/>
        </p:blipFill>
        <p:spPr>
          <a:xfrm>
            <a:off x="632880" y="40525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Text 20"/>
          <p:cNvSpPr/>
          <p:nvPr/>
        </p:nvSpPr>
        <p:spPr>
          <a:xfrm>
            <a:off x="951120" y="3886200"/>
            <a:ext cx="19746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basic tool would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Raises a false alarm someone must check by hand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21"/>
          <p:cNvSpPr/>
          <p:nvPr/>
        </p:nvSpPr>
        <p:spPr>
          <a:xfrm>
            <a:off x="4572000" y="1627560"/>
            <a:ext cx="360" cy="12780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22"/>
          <p:cNvSpPr/>
          <p:nvPr/>
        </p:nvSpPr>
        <p:spPr>
          <a:xfrm>
            <a:off x="3291840" y="1755720"/>
            <a:ext cx="2559960" cy="731160"/>
          </a:xfrm>
          <a:prstGeom prst="roundRect">
            <a:avLst>
              <a:gd name="adj" fmla="val 10000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23"/>
          <p:cNvSpPr/>
          <p:nvPr/>
        </p:nvSpPr>
        <p:spPr>
          <a:xfrm>
            <a:off x="3401640" y="1947600"/>
            <a:ext cx="347040" cy="34704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1" name="Image 4" descr="preencoded.png"/>
          <p:cNvPicPr/>
          <p:nvPr/>
        </p:nvPicPr>
        <p:blipFill>
          <a:blip r:embed="rId4"/>
          <a:stretch/>
        </p:blipFill>
        <p:spPr>
          <a:xfrm>
            <a:off x="3484800" y="20311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2" name="Text 24"/>
          <p:cNvSpPr/>
          <p:nvPr/>
        </p:nvSpPr>
        <p:spPr>
          <a:xfrm>
            <a:off x="3858840" y="1801440"/>
            <a:ext cx="1901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Person 2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Logged in at 1 a.m. from an unknown VPN and sent the code outside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25"/>
          <p:cNvSpPr/>
          <p:nvPr/>
        </p:nvSpPr>
        <p:spPr>
          <a:xfrm>
            <a:off x="4572000" y="2486880"/>
            <a:ext cx="360" cy="1281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26"/>
          <p:cNvSpPr/>
          <p:nvPr/>
        </p:nvSpPr>
        <p:spPr>
          <a:xfrm>
            <a:off x="3291840" y="2615040"/>
            <a:ext cx="2559960" cy="548280"/>
          </a:xfrm>
          <a:prstGeom prst="roundRect">
            <a:avLst>
              <a:gd name="adj" fmla="val 13333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27"/>
          <p:cNvSpPr/>
          <p:nvPr/>
        </p:nvSpPr>
        <p:spPr>
          <a:xfrm>
            <a:off x="3401640" y="275220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6" name="Image 5" descr="preencoded.png"/>
          <p:cNvPicPr/>
          <p:nvPr/>
        </p:nvPicPr>
        <p:blipFill>
          <a:blip r:embed="rId5"/>
          <a:stretch/>
        </p:blipFill>
        <p:spPr>
          <a:xfrm>
            <a:off x="3467520" y="28180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Text 28"/>
          <p:cNvSpPr/>
          <p:nvPr/>
        </p:nvSpPr>
        <p:spPr>
          <a:xfrm>
            <a:off x="3785760" y="2660760"/>
            <a:ext cx="1974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Records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 ticket, and resigned four days ago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29"/>
          <p:cNvSpPr/>
          <p:nvPr/>
        </p:nvSpPr>
        <p:spPr>
          <a:xfrm>
            <a:off x="4572000" y="3163680"/>
            <a:ext cx="360" cy="1281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30"/>
          <p:cNvSpPr/>
          <p:nvPr/>
        </p:nvSpPr>
        <p:spPr>
          <a:xfrm>
            <a:off x="3291840" y="3291840"/>
            <a:ext cx="2559960" cy="383760"/>
          </a:xfrm>
          <a:prstGeom prst="roundRect">
            <a:avLst>
              <a:gd name="adj" fmla="val 19048"/>
            </a:avLst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31"/>
          <p:cNvSpPr/>
          <p:nvPr/>
        </p:nvSpPr>
        <p:spPr>
          <a:xfrm>
            <a:off x="3420000" y="3337560"/>
            <a:ext cx="23403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Score 93: urgent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32"/>
          <p:cNvSpPr/>
          <p:nvPr/>
        </p:nvSpPr>
        <p:spPr>
          <a:xfrm>
            <a:off x="3291840" y="3840480"/>
            <a:ext cx="2559960" cy="566640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3"/>
          <p:cNvSpPr/>
          <p:nvPr/>
        </p:nvSpPr>
        <p:spPr>
          <a:xfrm>
            <a:off x="3401640" y="398664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3" name="Image 6" descr="preencoded.png"/>
          <p:cNvPicPr/>
          <p:nvPr/>
        </p:nvPicPr>
        <p:blipFill>
          <a:blip r:embed="rId6"/>
          <a:stretch/>
        </p:blipFill>
        <p:spPr>
          <a:xfrm>
            <a:off x="3467520" y="40525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Text 34"/>
          <p:cNvSpPr/>
          <p:nvPr/>
        </p:nvSpPr>
        <p:spPr>
          <a:xfrm>
            <a:off x="3785760" y="3886200"/>
            <a:ext cx="19746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basic tool would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Three separate alerts in three different tools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35"/>
          <p:cNvSpPr/>
          <p:nvPr/>
        </p:nvSpPr>
        <p:spPr>
          <a:xfrm>
            <a:off x="7406640" y="1627560"/>
            <a:ext cx="360" cy="12780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36"/>
          <p:cNvSpPr/>
          <p:nvPr/>
        </p:nvSpPr>
        <p:spPr>
          <a:xfrm>
            <a:off x="6126480" y="1755720"/>
            <a:ext cx="2559960" cy="73116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37"/>
          <p:cNvSpPr/>
          <p:nvPr/>
        </p:nvSpPr>
        <p:spPr>
          <a:xfrm>
            <a:off x="6236280" y="1947600"/>
            <a:ext cx="347040" cy="34704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8" name="Image 7" descr="preencoded.png"/>
          <p:cNvPicPr/>
          <p:nvPr/>
        </p:nvPicPr>
        <p:blipFill>
          <a:blip r:embed="rId4"/>
          <a:stretch/>
        </p:blipFill>
        <p:spPr>
          <a:xfrm>
            <a:off x="6319440" y="20311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Text 38"/>
          <p:cNvSpPr/>
          <p:nvPr/>
        </p:nvSpPr>
        <p:spPr>
          <a:xfrm>
            <a:off x="6693480" y="1801440"/>
            <a:ext cx="1901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Person 3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Wrote their own ticket, then copied and zipped the code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9"/>
          <p:cNvSpPr/>
          <p:nvPr/>
        </p:nvSpPr>
        <p:spPr>
          <a:xfrm>
            <a:off x="7406640" y="2486880"/>
            <a:ext cx="360" cy="1281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40"/>
          <p:cNvSpPr/>
          <p:nvPr/>
        </p:nvSpPr>
        <p:spPr>
          <a:xfrm>
            <a:off x="6126480" y="2615040"/>
            <a:ext cx="2559960" cy="548280"/>
          </a:xfrm>
          <a:prstGeom prst="roundRect">
            <a:avLst>
              <a:gd name="adj" fmla="val 13333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41"/>
          <p:cNvSpPr/>
          <p:nvPr/>
        </p:nvSpPr>
        <p:spPr>
          <a:xfrm>
            <a:off x="6236280" y="275220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3" name="Image 8" descr="preencoded.png"/>
          <p:cNvPicPr/>
          <p:nvPr/>
        </p:nvPicPr>
        <p:blipFill>
          <a:blip r:embed="rId5"/>
          <a:stretch/>
        </p:blipFill>
        <p:spPr>
          <a:xfrm>
            <a:off x="6302160" y="28180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4" name="Text 42"/>
          <p:cNvSpPr/>
          <p:nvPr/>
        </p:nvSpPr>
        <p:spPr>
          <a:xfrm>
            <a:off x="6620400" y="2660760"/>
            <a:ext cx="1974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Records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Wrote their own ticket 40 minutes before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43"/>
          <p:cNvSpPr/>
          <p:nvPr/>
        </p:nvSpPr>
        <p:spPr>
          <a:xfrm>
            <a:off x="7406640" y="3163680"/>
            <a:ext cx="360" cy="1281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44"/>
          <p:cNvSpPr/>
          <p:nvPr/>
        </p:nvSpPr>
        <p:spPr>
          <a:xfrm>
            <a:off x="6126480" y="3291840"/>
            <a:ext cx="2559960" cy="383760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45"/>
          <p:cNvSpPr/>
          <p:nvPr/>
        </p:nvSpPr>
        <p:spPr>
          <a:xfrm>
            <a:off x="6254640" y="3337560"/>
            <a:ext cx="23403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Score 78: flagged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6"/>
          <p:cNvSpPr/>
          <p:nvPr/>
        </p:nvSpPr>
        <p:spPr>
          <a:xfrm>
            <a:off x="6126480" y="3840480"/>
            <a:ext cx="2559960" cy="566640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47"/>
          <p:cNvSpPr/>
          <p:nvPr/>
        </p:nvSpPr>
        <p:spPr>
          <a:xfrm>
            <a:off x="6236280" y="398664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0" name="Image 9" descr="preencoded.png"/>
          <p:cNvPicPr/>
          <p:nvPr/>
        </p:nvPicPr>
        <p:blipFill>
          <a:blip r:embed="rId6"/>
          <a:stretch/>
        </p:blipFill>
        <p:spPr>
          <a:xfrm>
            <a:off x="6302160" y="40525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Text 48"/>
          <p:cNvSpPr/>
          <p:nvPr/>
        </p:nvSpPr>
        <p:spPr>
          <a:xfrm>
            <a:off x="6620400" y="3886200"/>
            <a:ext cx="19746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basic tool would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Stays silent: a ticket exists and the amount looks normal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49"/>
          <p:cNvSpPr/>
          <p:nvPr/>
        </p:nvSpPr>
        <p:spPr>
          <a:xfrm>
            <a:off x="457200" y="4498920"/>
            <a:ext cx="5486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Example scenario. Scores are illustrative.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12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94B2E1-A93B-4B56-B2AA-A60CE8F6B8CE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9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Steps 3 and 4: score, explain, decide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/>
          </p:nvPr>
        </p:nvSpPr>
        <p:spPr>
          <a:xfrm>
            <a:off x="234177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The analyst gets evidence, not just a number. The same checks also cover AI agents.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Text 2"/>
          <p:cNvSpPr/>
          <p:nvPr/>
        </p:nvSpPr>
        <p:spPr>
          <a:xfrm>
            <a:off x="457200" y="1051560"/>
            <a:ext cx="365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For the security analyst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"/>
          <p:cNvSpPr/>
          <p:nvPr/>
        </p:nvSpPr>
        <p:spPr>
          <a:xfrm>
            <a:off x="457200" y="1280160"/>
            <a:ext cx="1885680" cy="621360"/>
          </a:xfrm>
          <a:prstGeom prst="roundRect">
            <a:avLst>
              <a:gd name="adj" fmla="val 11765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4"/>
          <p:cNvSpPr/>
          <p:nvPr/>
        </p:nvSpPr>
        <p:spPr>
          <a:xfrm>
            <a:off x="567000" y="1417320"/>
            <a:ext cx="347040" cy="34704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9" name="Image 0" descr="preencoded.png"/>
          <p:cNvPicPr/>
          <p:nvPr/>
        </p:nvPicPr>
        <p:blipFill>
          <a:blip r:embed="rId3"/>
          <a:stretch/>
        </p:blipFill>
        <p:spPr>
          <a:xfrm>
            <a:off x="650160" y="15008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0" name="Text 5"/>
          <p:cNvSpPr/>
          <p:nvPr/>
        </p:nvSpPr>
        <p:spPr>
          <a:xfrm>
            <a:off x="1024200" y="1325880"/>
            <a:ext cx="122724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One score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Shows how much each signal added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6"/>
          <p:cNvSpPr/>
          <p:nvPr/>
        </p:nvSpPr>
        <p:spPr>
          <a:xfrm>
            <a:off x="2361240" y="1590840"/>
            <a:ext cx="191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7"/>
          <p:cNvSpPr/>
          <p:nvPr/>
        </p:nvSpPr>
        <p:spPr>
          <a:xfrm>
            <a:off x="2571840" y="1280160"/>
            <a:ext cx="1885680" cy="621360"/>
          </a:xfrm>
          <a:prstGeom prst="roundRect">
            <a:avLst>
              <a:gd name="adj" fmla="val 11765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8"/>
          <p:cNvSpPr/>
          <p:nvPr/>
        </p:nvSpPr>
        <p:spPr>
          <a:xfrm>
            <a:off x="2681640" y="1417320"/>
            <a:ext cx="347040" cy="3470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4" name="Image 1" descr="preencoded.png"/>
          <p:cNvPicPr/>
          <p:nvPr/>
        </p:nvPicPr>
        <p:blipFill>
          <a:blip r:embed="rId4"/>
          <a:stretch/>
        </p:blipFill>
        <p:spPr>
          <a:xfrm>
            <a:off x="2764800" y="15008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5" name="Text 9"/>
          <p:cNvSpPr/>
          <p:nvPr/>
        </p:nvSpPr>
        <p:spPr>
          <a:xfrm>
            <a:off x="3138840" y="1325880"/>
            <a:ext cx="122724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Case file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 timeline of every event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10"/>
          <p:cNvSpPr/>
          <p:nvPr/>
        </p:nvSpPr>
        <p:spPr>
          <a:xfrm>
            <a:off x="4475880" y="1590840"/>
            <a:ext cx="191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11"/>
          <p:cNvSpPr/>
          <p:nvPr/>
        </p:nvSpPr>
        <p:spPr>
          <a:xfrm>
            <a:off x="4686480" y="1280160"/>
            <a:ext cx="1885680" cy="621360"/>
          </a:xfrm>
          <a:prstGeom prst="roundRect">
            <a:avLst>
              <a:gd name="adj" fmla="val 11765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12"/>
          <p:cNvSpPr/>
          <p:nvPr/>
        </p:nvSpPr>
        <p:spPr>
          <a:xfrm>
            <a:off x="4795920" y="1417320"/>
            <a:ext cx="347040" cy="34704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9" name="Image 2" descr="preencoded.png"/>
          <p:cNvPicPr/>
          <p:nvPr/>
        </p:nvPicPr>
        <p:blipFill>
          <a:blip r:embed="rId5"/>
          <a:stretch/>
        </p:blipFill>
        <p:spPr>
          <a:xfrm>
            <a:off x="4879440" y="15008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Text 13"/>
          <p:cNvSpPr/>
          <p:nvPr/>
        </p:nvSpPr>
        <p:spPr>
          <a:xfrm>
            <a:off x="5253120" y="1325880"/>
            <a:ext cx="122724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AI assistant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Answers using only the case facts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4"/>
          <p:cNvSpPr/>
          <p:nvPr/>
        </p:nvSpPr>
        <p:spPr>
          <a:xfrm>
            <a:off x="6590520" y="1590840"/>
            <a:ext cx="191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15"/>
          <p:cNvSpPr/>
          <p:nvPr/>
        </p:nvSpPr>
        <p:spPr>
          <a:xfrm>
            <a:off x="6800760" y="1280160"/>
            <a:ext cx="1885680" cy="621360"/>
          </a:xfrm>
          <a:prstGeom prst="roundRect">
            <a:avLst>
              <a:gd name="adj" fmla="val 11765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16"/>
          <p:cNvSpPr/>
          <p:nvPr/>
        </p:nvSpPr>
        <p:spPr>
          <a:xfrm>
            <a:off x="6910560" y="1417320"/>
            <a:ext cx="347040" cy="34704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4" name="Image 3" descr="preencoded.png"/>
          <p:cNvPicPr/>
          <p:nvPr/>
        </p:nvPicPr>
        <p:blipFill>
          <a:blip r:embed="rId6"/>
          <a:stretch/>
        </p:blipFill>
        <p:spPr>
          <a:xfrm>
            <a:off x="6994080" y="15008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5" name="Text 17"/>
          <p:cNvSpPr/>
          <p:nvPr/>
        </p:nvSpPr>
        <p:spPr>
          <a:xfrm>
            <a:off x="7367760" y="1325880"/>
            <a:ext cx="122724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Person decides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e.g. log the account out, with approval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18"/>
          <p:cNvSpPr/>
          <p:nvPr/>
        </p:nvSpPr>
        <p:spPr>
          <a:xfrm>
            <a:off x="457200" y="201168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Example case file timeline for account #4912 (illustrative) (</a:t>
            </a:r>
            <a:r>
              <a:rPr lang="en-US" sz="1150" b="1" u="none" strike="noStrike" dirty="0">
                <a:solidFill>
                  <a:srgbClr val="009A65"/>
                </a:solidFill>
                <a:effectLst/>
                <a:uFillTx/>
                <a:latin typeface="Calibri"/>
                <a:ea typeface="Calibr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 here to see it in our demo</a:t>
            </a:r>
            <a:r>
              <a:rPr lang="en-US" sz="1150" b="1" u="none" strike="noStrike" dirty="0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en-IN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19"/>
          <p:cNvSpPr/>
          <p:nvPr/>
        </p:nvSpPr>
        <p:spPr>
          <a:xfrm>
            <a:off x="457200" y="2240280"/>
            <a:ext cx="1506600" cy="548280"/>
          </a:xfrm>
          <a:prstGeom prst="roundRect">
            <a:avLst>
              <a:gd name="adj" fmla="val 13333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20"/>
          <p:cNvSpPr/>
          <p:nvPr/>
        </p:nvSpPr>
        <p:spPr>
          <a:xfrm>
            <a:off x="585360" y="2286000"/>
            <a:ext cx="128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01:14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Login from a new VPN in Zurich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21"/>
          <p:cNvSpPr/>
          <p:nvPr/>
        </p:nvSpPr>
        <p:spPr>
          <a:xfrm>
            <a:off x="1982160" y="2514600"/>
            <a:ext cx="1371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22"/>
          <p:cNvSpPr/>
          <p:nvPr/>
        </p:nvSpPr>
        <p:spPr>
          <a:xfrm>
            <a:off x="2138040" y="2240280"/>
            <a:ext cx="1506600" cy="548280"/>
          </a:xfrm>
          <a:prstGeom prst="roundRect">
            <a:avLst>
              <a:gd name="adj" fmla="val 13333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23"/>
          <p:cNvSpPr/>
          <p:nvPr/>
        </p:nvSpPr>
        <p:spPr>
          <a:xfrm>
            <a:off x="2265840" y="2286000"/>
            <a:ext cx="128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01:18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Login prompt approved on an unknown device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24"/>
          <p:cNvSpPr/>
          <p:nvPr/>
        </p:nvSpPr>
        <p:spPr>
          <a:xfrm>
            <a:off x="3663000" y="2514600"/>
            <a:ext cx="1371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25"/>
          <p:cNvSpPr/>
          <p:nvPr/>
        </p:nvSpPr>
        <p:spPr>
          <a:xfrm>
            <a:off x="3818520" y="2240280"/>
            <a:ext cx="1506600" cy="548280"/>
          </a:xfrm>
          <a:prstGeom prst="roundRect">
            <a:avLst>
              <a:gd name="adj" fmla="val 13333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26"/>
          <p:cNvSpPr/>
          <p:nvPr/>
        </p:nvSpPr>
        <p:spPr>
          <a:xfrm>
            <a:off x="3946680" y="2286000"/>
            <a:ext cx="128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01:22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Copies payments-core, first time ever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27"/>
          <p:cNvSpPr/>
          <p:nvPr/>
        </p:nvSpPr>
        <p:spPr>
          <a:xfrm>
            <a:off x="5343480" y="2514600"/>
            <a:ext cx="1371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28"/>
          <p:cNvSpPr/>
          <p:nvPr/>
        </p:nvSpPr>
        <p:spPr>
          <a:xfrm>
            <a:off x="5499360" y="2240280"/>
            <a:ext cx="1506600" cy="548280"/>
          </a:xfrm>
          <a:prstGeom prst="roundRect">
            <a:avLst>
              <a:gd name="adj" fmla="val 13333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29"/>
          <p:cNvSpPr/>
          <p:nvPr/>
        </p:nvSpPr>
        <p:spPr>
          <a:xfrm>
            <a:off x="5627160" y="2286000"/>
            <a:ext cx="128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01:35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Zips 410 files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30"/>
          <p:cNvSpPr/>
          <p:nvPr/>
        </p:nvSpPr>
        <p:spPr>
          <a:xfrm>
            <a:off x="7024320" y="2514600"/>
            <a:ext cx="13716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31"/>
          <p:cNvSpPr/>
          <p:nvPr/>
        </p:nvSpPr>
        <p:spPr>
          <a:xfrm>
            <a:off x="7179840" y="2240280"/>
            <a:ext cx="1506600" cy="54828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32"/>
          <p:cNvSpPr/>
          <p:nvPr/>
        </p:nvSpPr>
        <p:spPr>
          <a:xfrm>
            <a:off x="7308000" y="2286000"/>
            <a:ext cx="128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01:42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Uploads it to storage outside the company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33"/>
          <p:cNvSpPr/>
          <p:nvPr/>
        </p:nvSpPr>
        <p:spPr>
          <a:xfrm>
            <a:off x="457200" y="2898720"/>
            <a:ext cx="8229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For AI agents: a hidden instruction in a file can hijack an agent that has valid access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34"/>
          <p:cNvSpPr/>
          <p:nvPr/>
        </p:nvSpPr>
        <p:spPr>
          <a:xfrm>
            <a:off x="457200" y="3127320"/>
            <a:ext cx="1462680" cy="68544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35"/>
          <p:cNvSpPr/>
          <p:nvPr/>
        </p:nvSpPr>
        <p:spPr>
          <a:xfrm>
            <a:off x="567000" y="3323880"/>
            <a:ext cx="292320" cy="29232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4" name="Image 4" descr="preencoded.png"/>
          <p:cNvPicPr/>
          <p:nvPr/>
        </p:nvPicPr>
        <p:blipFill>
          <a:blip r:embed="rId8"/>
          <a:stretch/>
        </p:blipFill>
        <p:spPr>
          <a:xfrm>
            <a:off x="637200" y="33940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Text 36"/>
          <p:cNvSpPr/>
          <p:nvPr/>
        </p:nvSpPr>
        <p:spPr>
          <a:xfrm>
            <a:off x="969120" y="3173040"/>
            <a:ext cx="859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Reads task files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37"/>
          <p:cNvSpPr/>
          <p:nvPr/>
        </p:nvSpPr>
        <p:spPr>
          <a:xfrm>
            <a:off x="1938240" y="347004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38"/>
          <p:cNvSpPr/>
          <p:nvPr/>
        </p:nvSpPr>
        <p:spPr>
          <a:xfrm>
            <a:off x="2148840" y="3127320"/>
            <a:ext cx="1462680" cy="68544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39"/>
          <p:cNvSpPr/>
          <p:nvPr/>
        </p:nvSpPr>
        <p:spPr>
          <a:xfrm>
            <a:off x="2258640" y="3323880"/>
            <a:ext cx="292320" cy="29232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9" name="Image 5" descr="preencoded.png"/>
          <p:cNvPicPr/>
          <p:nvPr/>
        </p:nvPicPr>
        <p:blipFill>
          <a:blip r:embed="rId9"/>
          <a:stretch/>
        </p:blipFill>
        <p:spPr>
          <a:xfrm>
            <a:off x="2328840" y="33940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Text 40"/>
          <p:cNvSpPr/>
          <p:nvPr/>
        </p:nvSpPr>
        <p:spPr>
          <a:xfrm>
            <a:off x="2660760" y="3173040"/>
            <a:ext cx="859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Opens a file with a hidden instruction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1"/>
          <p:cNvSpPr/>
          <p:nvPr/>
        </p:nvSpPr>
        <p:spPr>
          <a:xfrm>
            <a:off x="3629880" y="347004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42"/>
          <p:cNvSpPr/>
          <p:nvPr/>
        </p:nvSpPr>
        <p:spPr>
          <a:xfrm>
            <a:off x="3840480" y="3127320"/>
            <a:ext cx="146268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43"/>
          <p:cNvSpPr/>
          <p:nvPr/>
        </p:nvSpPr>
        <p:spPr>
          <a:xfrm>
            <a:off x="3950280" y="3323880"/>
            <a:ext cx="292320" cy="29232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4" name="Image 6" descr="preencoded.png"/>
          <p:cNvPicPr/>
          <p:nvPr/>
        </p:nvPicPr>
        <p:blipFill>
          <a:blip r:embed="rId10"/>
          <a:stretch/>
        </p:blipFill>
        <p:spPr>
          <a:xfrm>
            <a:off x="4020480" y="33940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Text 44"/>
          <p:cNvSpPr/>
          <p:nvPr/>
        </p:nvSpPr>
        <p:spPr>
          <a:xfrm>
            <a:off x="4352400" y="3173040"/>
            <a:ext cx="859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Searches the customer database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45"/>
          <p:cNvSpPr/>
          <p:nvPr/>
        </p:nvSpPr>
        <p:spPr>
          <a:xfrm>
            <a:off x="5321520" y="347004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46"/>
          <p:cNvSpPr/>
          <p:nvPr/>
        </p:nvSpPr>
        <p:spPr>
          <a:xfrm>
            <a:off x="5532120" y="3127320"/>
            <a:ext cx="146268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47"/>
          <p:cNvSpPr/>
          <p:nvPr/>
        </p:nvSpPr>
        <p:spPr>
          <a:xfrm>
            <a:off x="5641920" y="3323880"/>
            <a:ext cx="292320" cy="29232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9" name="Image 7" descr="preencoded.png"/>
          <p:cNvPicPr/>
          <p:nvPr/>
        </p:nvPicPr>
        <p:blipFill>
          <a:blip r:embed="rId11"/>
          <a:stretch/>
        </p:blipFill>
        <p:spPr>
          <a:xfrm>
            <a:off x="5712120" y="33940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0" name="Text 48"/>
          <p:cNvSpPr/>
          <p:nvPr/>
        </p:nvSpPr>
        <p:spPr>
          <a:xfrm>
            <a:off x="6044040" y="3173040"/>
            <a:ext cx="859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Sends data outside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49"/>
          <p:cNvSpPr/>
          <p:nvPr/>
        </p:nvSpPr>
        <p:spPr>
          <a:xfrm>
            <a:off x="7013160" y="347004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50"/>
          <p:cNvSpPr/>
          <p:nvPr/>
        </p:nvSpPr>
        <p:spPr>
          <a:xfrm>
            <a:off x="7223760" y="3127320"/>
            <a:ext cx="1462680" cy="685440"/>
          </a:xfrm>
          <a:prstGeom prst="roundRect">
            <a:avLst>
              <a:gd name="adj" fmla="val 10667"/>
            </a:avLst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51"/>
          <p:cNvSpPr/>
          <p:nvPr/>
        </p:nvSpPr>
        <p:spPr>
          <a:xfrm>
            <a:off x="7333560" y="3323880"/>
            <a:ext cx="292320" cy="2923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4" name="Image 8" descr="preencoded.png"/>
          <p:cNvPicPr/>
          <p:nvPr/>
        </p:nvPicPr>
        <p:blipFill>
          <a:blip r:embed="rId12"/>
          <a:stretch/>
        </p:blipFill>
        <p:spPr>
          <a:xfrm>
            <a:off x="7403760" y="33940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5" name="Text 52"/>
          <p:cNvSpPr/>
          <p:nvPr/>
        </p:nvSpPr>
        <p:spPr>
          <a:xfrm>
            <a:off x="7735680" y="3173040"/>
            <a:ext cx="8593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tellTale alert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53"/>
          <p:cNvSpPr/>
          <p:nvPr/>
        </p:nvSpPr>
        <p:spPr>
          <a:xfrm>
            <a:off x="457200" y="3977640"/>
            <a:ext cx="2559960" cy="54828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54"/>
          <p:cNvSpPr/>
          <p:nvPr/>
        </p:nvSpPr>
        <p:spPr>
          <a:xfrm>
            <a:off x="567000" y="4114800"/>
            <a:ext cx="273960" cy="273960"/>
          </a:xfrm>
          <a:prstGeom prst="ellipse">
            <a:avLst/>
          </a:prstGeom>
          <a:solidFill>
            <a:srgbClr val="47556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9" descr="preencoded.png"/>
          <p:cNvPicPr/>
          <p:nvPr/>
        </p:nvPicPr>
        <p:blipFill>
          <a:blip r:embed="rId13"/>
          <a:stretch/>
        </p:blipFill>
        <p:spPr>
          <a:xfrm>
            <a:off x="632880" y="41806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55"/>
          <p:cNvSpPr/>
          <p:nvPr/>
        </p:nvSpPr>
        <p:spPr>
          <a:xfrm>
            <a:off x="951120" y="4023360"/>
            <a:ext cx="1974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Names hidden behind IDs; revealing one needs two approvals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Shape 56"/>
          <p:cNvSpPr/>
          <p:nvPr/>
        </p:nvSpPr>
        <p:spPr>
          <a:xfrm>
            <a:off x="3291840" y="3977640"/>
            <a:ext cx="2559960" cy="54828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57"/>
          <p:cNvSpPr/>
          <p:nvPr/>
        </p:nvSpPr>
        <p:spPr>
          <a:xfrm>
            <a:off x="3401640" y="4114800"/>
            <a:ext cx="273960" cy="273960"/>
          </a:xfrm>
          <a:prstGeom prst="ellipse">
            <a:avLst/>
          </a:prstGeom>
          <a:solidFill>
            <a:srgbClr val="47556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2" name="Image 10" descr="preencoded.png"/>
          <p:cNvPicPr/>
          <p:nvPr/>
        </p:nvPicPr>
        <p:blipFill>
          <a:blip r:embed="rId14"/>
          <a:stretch/>
        </p:blipFill>
        <p:spPr>
          <a:xfrm>
            <a:off x="3467520" y="41806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Text 58"/>
          <p:cNvSpPr/>
          <p:nvPr/>
        </p:nvSpPr>
        <p:spPr>
          <a:xfrm>
            <a:off x="3785760" y="4023360"/>
            <a:ext cx="1974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The AI only rewords facts and never changes a score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Shape 59"/>
          <p:cNvSpPr/>
          <p:nvPr/>
        </p:nvSpPr>
        <p:spPr>
          <a:xfrm>
            <a:off x="6126480" y="3977640"/>
            <a:ext cx="2559960" cy="54828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60"/>
          <p:cNvSpPr/>
          <p:nvPr/>
        </p:nvSpPr>
        <p:spPr>
          <a:xfrm>
            <a:off x="6236280" y="4114800"/>
            <a:ext cx="273960" cy="273960"/>
          </a:xfrm>
          <a:prstGeom prst="ellipse">
            <a:avLst/>
          </a:prstGeom>
          <a:solidFill>
            <a:srgbClr val="47556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6" name="Image 11" descr="preencoded.png"/>
          <p:cNvPicPr/>
          <p:nvPr/>
        </p:nvPicPr>
        <p:blipFill>
          <a:blip r:embed="rId15"/>
          <a:stretch/>
        </p:blipFill>
        <p:spPr>
          <a:xfrm>
            <a:off x="6302160" y="41806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7" name="Text 61"/>
          <p:cNvSpPr/>
          <p:nvPr/>
        </p:nvSpPr>
        <p:spPr>
          <a:xfrm>
            <a:off x="6620400" y="4023360"/>
            <a:ext cx="1974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Text found in logs is never followed as an instruction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PlaceHolder 3"/>
          <p:cNvSpPr>
            <a:spLocks noGrp="1"/>
          </p:cNvSpPr>
          <p:nvPr>
            <p:ph type="sldNum" idx="13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87318D-308F-4C26-BC08-020F5E7D0F31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10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The workforce part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249047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For HR and operations teams, using the same optional desktop app.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Shape 2"/>
          <p:cNvSpPr/>
          <p:nvPr/>
        </p:nvSpPr>
        <p:spPr>
          <a:xfrm>
            <a:off x="457200" y="1691640"/>
            <a:ext cx="1737000" cy="914040"/>
          </a:xfrm>
          <a:prstGeom prst="roundRect">
            <a:avLst>
              <a:gd name="adj" fmla="val 8000"/>
            </a:avLst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Shape 3"/>
          <p:cNvSpPr/>
          <p:nvPr/>
        </p:nvSpPr>
        <p:spPr>
          <a:xfrm>
            <a:off x="567000" y="1974960"/>
            <a:ext cx="347040" cy="347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3" name="Image 0" descr="preencoded.png"/>
          <p:cNvPicPr/>
          <p:nvPr/>
        </p:nvPicPr>
        <p:blipFill>
          <a:blip r:embed="rId3"/>
          <a:stretch/>
        </p:blipFill>
        <p:spPr>
          <a:xfrm>
            <a:off x="650160" y="205848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Text 4"/>
          <p:cNvSpPr/>
          <p:nvPr/>
        </p:nvSpPr>
        <p:spPr>
          <a:xfrm>
            <a:off x="1024200" y="1737360"/>
            <a:ext cx="10785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Desktop app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Windows, macOS, Linux; uses under 1% of the processor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5"/>
          <p:cNvSpPr/>
          <p:nvPr/>
        </p:nvSpPr>
        <p:spPr>
          <a:xfrm>
            <a:off x="2194560" y="214884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6"/>
          <p:cNvSpPr/>
          <p:nvPr/>
        </p:nvSpPr>
        <p:spPr>
          <a:xfrm>
            <a:off x="2423160" y="1417320"/>
            <a:ext cx="360" cy="146304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7"/>
          <p:cNvSpPr/>
          <p:nvPr/>
        </p:nvSpPr>
        <p:spPr>
          <a:xfrm>
            <a:off x="2423160" y="141732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8"/>
          <p:cNvSpPr/>
          <p:nvPr/>
        </p:nvSpPr>
        <p:spPr>
          <a:xfrm>
            <a:off x="2651760" y="1143000"/>
            <a:ext cx="2605680" cy="566640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Shape 9"/>
          <p:cNvSpPr/>
          <p:nvPr/>
        </p:nvSpPr>
        <p:spPr>
          <a:xfrm>
            <a:off x="2761560" y="1280160"/>
            <a:ext cx="292320" cy="29232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0" name="Image 1" descr="preencoded.png"/>
          <p:cNvPicPr/>
          <p:nvPr/>
        </p:nvPicPr>
        <p:blipFill>
          <a:blip r:embed="rId4"/>
          <a:stretch/>
        </p:blipFill>
        <p:spPr>
          <a:xfrm>
            <a:off x="2831760" y="135036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1" name="Text 10"/>
          <p:cNvSpPr/>
          <p:nvPr/>
        </p:nvSpPr>
        <p:spPr>
          <a:xfrm>
            <a:off x="3163680" y="1188720"/>
            <a:ext cx="200232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Active and idle time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Based on each person’s own pattern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Shape 11"/>
          <p:cNvSpPr/>
          <p:nvPr/>
        </p:nvSpPr>
        <p:spPr>
          <a:xfrm>
            <a:off x="5275800" y="141732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12"/>
          <p:cNvSpPr/>
          <p:nvPr/>
        </p:nvSpPr>
        <p:spPr>
          <a:xfrm>
            <a:off x="5486400" y="1143000"/>
            <a:ext cx="3200040" cy="566640"/>
          </a:xfrm>
          <a:prstGeom prst="roundRect">
            <a:avLst>
              <a:gd name="adj" fmla="val 12903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13"/>
          <p:cNvSpPr/>
          <p:nvPr/>
        </p:nvSpPr>
        <p:spPr>
          <a:xfrm>
            <a:off x="5596200" y="1280160"/>
            <a:ext cx="292320" cy="29232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5" name="Image 2" descr="preencoded.png"/>
          <p:cNvPicPr/>
          <p:nvPr/>
        </p:nvPicPr>
        <p:blipFill>
          <a:blip r:embed="rId5"/>
          <a:stretch/>
        </p:blipFill>
        <p:spPr>
          <a:xfrm>
            <a:off x="5666400" y="135036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 14"/>
          <p:cNvSpPr/>
          <p:nvPr/>
        </p:nvSpPr>
        <p:spPr>
          <a:xfrm>
            <a:off x="5998320" y="1188720"/>
            <a:ext cx="25966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Team overview and attendance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Active and idle hours, with a 24-hour activity strip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15"/>
          <p:cNvSpPr/>
          <p:nvPr/>
        </p:nvSpPr>
        <p:spPr>
          <a:xfrm>
            <a:off x="2423160" y="214884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16"/>
          <p:cNvSpPr/>
          <p:nvPr/>
        </p:nvSpPr>
        <p:spPr>
          <a:xfrm>
            <a:off x="2651760" y="1874520"/>
            <a:ext cx="2605680" cy="566640"/>
          </a:xfrm>
          <a:prstGeom prst="roundRect">
            <a:avLst>
              <a:gd name="adj" fmla="val 12903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Shape 17"/>
          <p:cNvSpPr/>
          <p:nvPr/>
        </p:nvSpPr>
        <p:spPr>
          <a:xfrm>
            <a:off x="2761560" y="2011680"/>
            <a:ext cx="292320" cy="29232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0" name="Image 3" descr="preencoded.png"/>
          <p:cNvPicPr/>
          <p:nvPr/>
        </p:nvPicPr>
        <p:blipFill>
          <a:blip r:embed="rId6"/>
          <a:stretch/>
        </p:blipFill>
        <p:spPr>
          <a:xfrm>
            <a:off x="2831760" y="20818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1" name="Text 18"/>
          <p:cNvSpPr/>
          <p:nvPr/>
        </p:nvSpPr>
        <p:spPr>
          <a:xfrm>
            <a:off x="3163680" y="1920240"/>
            <a:ext cx="200232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Apps and websites used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Grouped into six categories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Shape 19"/>
          <p:cNvSpPr/>
          <p:nvPr/>
        </p:nvSpPr>
        <p:spPr>
          <a:xfrm>
            <a:off x="5275800" y="214884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20"/>
          <p:cNvSpPr/>
          <p:nvPr/>
        </p:nvSpPr>
        <p:spPr>
          <a:xfrm>
            <a:off x="5486400" y="1874520"/>
            <a:ext cx="3200040" cy="566640"/>
          </a:xfrm>
          <a:prstGeom prst="roundRect">
            <a:avLst>
              <a:gd name="adj" fmla="val 12903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21"/>
          <p:cNvSpPr/>
          <p:nvPr/>
        </p:nvSpPr>
        <p:spPr>
          <a:xfrm>
            <a:off x="5596200" y="2011680"/>
            <a:ext cx="292320" cy="29232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5" name="Image 4" descr="preencoded.png"/>
          <p:cNvPicPr/>
          <p:nvPr/>
        </p:nvPicPr>
        <p:blipFill>
          <a:blip r:embed="rId7"/>
          <a:stretch/>
        </p:blipFill>
        <p:spPr>
          <a:xfrm>
            <a:off x="5666400" y="20818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 22"/>
          <p:cNvSpPr/>
          <p:nvPr/>
        </p:nvSpPr>
        <p:spPr>
          <a:xfrm>
            <a:off x="5998320" y="1920240"/>
            <a:ext cx="25966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App usage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Time per app and category, searchable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23"/>
          <p:cNvSpPr/>
          <p:nvPr/>
        </p:nvSpPr>
        <p:spPr>
          <a:xfrm>
            <a:off x="2423160" y="288036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24"/>
          <p:cNvSpPr/>
          <p:nvPr/>
        </p:nvSpPr>
        <p:spPr>
          <a:xfrm>
            <a:off x="2651760" y="2606040"/>
            <a:ext cx="2605680" cy="566640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25"/>
          <p:cNvSpPr/>
          <p:nvPr/>
        </p:nvSpPr>
        <p:spPr>
          <a:xfrm>
            <a:off x="2761560" y="2743200"/>
            <a:ext cx="292320" cy="29232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0" name="Image 5" descr="preencoded.png"/>
          <p:cNvPicPr/>
          <p:nvPr/>
        </p:nvPicPr>
        <p:blipFill>
          <a:blip r:embed="rId8"/>
          <a:stretch/>
        </p:blipFill>
        <p:spPr>
          <a:xfrm>
            <a:off x="2831760" y="281340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1" name="Text 26"/>
          <p:cNvSpPr/>
          <p:nvPr/>
        </p:nvSpPr>
        <p:spPr>
          <a:xfrm>
            <a:off x="3163680" y="2651760"/>
            <a:ext cx="200232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Screenshots (optional)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Every 5 minutes in work hours, or only around a serious alert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7"/>
          <p:cNvSpPr/>
          <p:nvPr/>
        </p:nvSpPr>
        <p:spPr>
          <a:xfrm>
            <a:off x="5275800" y="288036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Shape 28"/>
          <p:cNvSpPr/>
          <p:nvPr/>
        </p:nvSpPr>
        <p:spPr>
          <a:xfrm>
            <a:off x="5486400" y="2606040"/>
            <a:ext cx="3200040" cy="566640"/>
          </a:xfrm>
          <a:prstGeom prst="roundRect">
            <a:avLst>
              <a:gd name="adj" fmla="val 12903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29"/>
          <p:cNvSpPr/>
          <p:nvPr/>
        </p:nvSpPr>
        <p:spPr>
          <a:xfrm>
            <a:off x="5596200" y="2743200"/>
            <a:ext cx="292320" cy="29232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5" name="Image 6" descr="preencoded.png"/>
          <p:cNvPicPr/>
          <p:nvPr/>
        </p:nvPicPr>
        <p:blipFill>
          <a:blip r:embed="rId9"/>
          <a:stretch/>
        </p:blipFill>
        <p:spPr>
          <a:xfrm>
            <a:off x="5666400" y="281340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6" name="Text 30"/>
          <p:cNvSpPr/>
          <p:nvPr/>
        </p:nvSpPr>
        <p:spPr>
          <a:xfrm>
            <a:off x="5998320" y="2651760"/>
            <a:ext cx="25966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Screenshot gallery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Encrypted; can be flagged for review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31"/>
          <p:cNvSpPr/>
          <p:nvPr/>
        </p:nvSpPr>
        <p:spPr>
          <a:xfrm>
            <a:off x="457200" y="3429000"/>
            <a:ext cx="365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Safeguards built in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32"/>
          <p:cNvSpPr/>
          <p:nvPr/>
        </p:nvSpPr>
        <p:spPr>
          <a:xfrm>
            <a:off x="457200" y="3675960"/>
            <a:ext cx="1906200" cy="639720"/>
          </a:xfrm>
          <a:prstGeom prst="roundRect">
            <a:avLst>
              <a:gd name="adj" fmla="val 11429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33"/>
          <p:cNvSpPr/>
          <p:nvPr/>
        </p:nvSpPr>
        <p:spPr>
          <a:xfrm>
            <a:off x="567000" y="385884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0" name="Image 7" descr="preencoded.png"/>
          <p:cNvPicPr/>
          <p:nvPr/>
        </p:nvPicPr>
        <p:blipFill>
          <a:blip r:embed="rId10"/>
          <a:stretch/>
        </p:blipFill>
        <p:spPr>
          <a:xfrm>
            <a:off x="632880" y="39247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1" name="Text 34"/>
          <p:cNvSpPr/>
          <p:nvPr/>
        </p:nvSpPr>
        <p:spPr>
          <a:xfrm>
            <a:off x="951120" y="3721680"/>
            <a:ext cx="1320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Staff told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Notice at onboarding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35"/>
          <p:cNvSpPr/>
          <p:nvPr/>
        </p:nvSpPr>
        <p:spPr>
          <a:xfrm>
            <a:off x="2381760" y="3995640"/>
            <a:ext cx="1645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36"/>
          <p:cNvSpPr/>
          <p:nvPr/>
        </p:nvSpPr>
        <p:spPr>
          <a:xfrm>
            <a:off x="2565000" y="3675960"/>
            <a:ext cx="1906200" cy="639720"/>
          </a:xfrm>
          <a:prstGeom prst="roundRect">
            <a:avLst>
              <a:gd name="adj" fmla="val 11429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Shape 37"/>
          <p:cNvSpPr/>
          <p:nvPr/>
        </p:nvSpPr>
        <p:spPr>
          <a:xfrm>
            <a:off x="2674800" y="385884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5" name="Image 8" descr="preencoded.png"/>
          <p:cNvPicPr/>
          <p:nvPr/>
        </p:nvPicPr>
        <p:blipFill>
          <a:blip r:embed="rId11"/>
          <a:stretch/>
        </p:blipFill>
        <p:spPr>
          <a:xfrm>
            <a:off x="2740320" y="39247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6" name="Text 38"/>
          <p:cNvSpPr/>
          <p:nvPr/>
        </p:nvSpPr>
        <p:spPr>
          <a:xfrm>
            <a:off x="3058560" y="3721680"/>
            <a:ext cx="1320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Names for HR only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Security sees IDs, not names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39"/>
          <p:cNvSpPr/>
          <p:nvPr/>
        </p:nvSpPr>
        <p:spPr>
          <a:xfrm>
            <a:off x="4489560" y="3995640"/>
            <a:ext cx="1645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40"/>
          <p:cNvSpPr/>
          <p:nvPr/>
        </p:nvSpPr>
        <p:spPr>
          <a:xfrm>
            <a:off x="4672440" y="3675960"/>
            <a:ext cx="1906200" cy="639720"/>
          </a:xfrm>
          <a:prstGeom prst="roundRect">
            <a:avLst>
              <a:gd name="adj" fmla="val 11429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Shape 41"/>
          <p:cNvSpPr/>
          <p:nvPr/>
        </p:nvSpPr>
        <p:spPr>
          <a:xfrm>
            <a:off x="4782240" y="385884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0" name="Image 9" descr="preencoded.png"/>
          <p:cNvPicPr/>
          <p:nvPr/>
        </p:nvPicPr>
        <p:blipFill>
          <a:blip r:embed="rId12"/>
          <a:stretch/>
        </p:blipFill>
        <p:spPr>
          <a:xfrm>
            <a:off x="4848120" y="39247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1" name="Text 42"/>
          <p:cNvSpPr/>
          <p:nvPr/>
        </p:nvSpPr>
        <p:spPr>
          <a:xfrm>
            <a:off x="5166360" y="3721680"/>
            <a:ext cx="1320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Productivity kept out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Never used in risk scores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Shape 43"/>
          <p:cNvSpPr/>
          <p:nvPr/>
        </p:nvSpPr>
        <p:spPr>
          <a:xfrm>
            <a:off x="6597360" y="3995640"/>
            <a:ext cx="1645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44"/>
          <p:cNvSpPr/>
          <p:nvPr/>
        </p:nvSpPr>
        <p:spPr>
          <a:xfrm>
            <a:off x="6780240" y="3675960"/>
            <a:ext cx="1906200" cy="639720"/>
          </a:xfrm>
          <a:prstGeom prst="roundRect">
            <a:avLst>
              <a:gd name="adj" fmla="val 11429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45"/>
          <p:cNvSpPr/>
          <p:nvPr/>
        </p:nvSpPr>
        <p:spPr>
          <a:xfrm>
            <a:off x="6890040" y="385884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5" name="Image 10" descr="preencoded.png"/>
          <p:cNvPicPr/>
          <p:nvPr/>
        </p:nvPicPr>
        <p:blipFill>
          <a:blip r:embed="rId13"/>
          <a:stretch/>
        </p:blipFill>
        <p:spPr>
          <a:xfrm>
            <a:off x="6955920" y="39247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6" name="Text 46"/>
          <p:cNvSpPr/>
          <p:nvPr/>
        </p:nvSpPr>
        <p:spPr>
          <a:xfrm>
            <a:off x="7274160" y="3721680"/>
            <a:ext cx="1320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Follows local law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Screenshots off where not allowed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47"/>
          <p:cNvSpPr/>
          <p:nvPr/>
        </p:nvSpPr>
        <p:spPr>
          <a:xfrm>
            <a:off x="457200" y="4434840"/>
            <a:ext cx="8229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Never collected: keystrokes, message or email text, file contents, source code.</a:t>
            </a:r>
            <a:endParaRPr lang="en-IN" sz="1050" b="0" u="none" strike="noStrike" dirty="0">
              <a:solidFill>
                <a:srgbClr val="009A65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14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4DC1081-BA3E-4DF1-B5E8-5E69E65BA02B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11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Tech stack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/>
          </p:nvPr>
        </p:nvSpPr>
        <p:spPr>
          <a:xfrm>
            <a:off x="234176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The whole system starts with one command and runs on a single laptop.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Shape 2"/>
          <p:cNvSpPr/>
          <p:nvPr/>
        </p:nvSpPr>
        <p:spPr>
          <a:xfrm>
            <a:off x="457200" y="1143000"/>
            <a:ext cx="1462680" cy="137124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2" name="Shape 3"/>
          <p:cNvSpPr/>
          <p:nvPr/>
        </p:nvSpPr>
        <p:spPr>
          <a:xfrm>
            <a:off x="585360" y="1271160"/>
            <a:ext cx="347040" cy="3470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3" name="Image 0" descr="preencoded.png"/>
          <p:cNvPicPr/>
          <p:nvPr/>
        </p:nvPicPr>
        <p:blipFill>
          <a:blip r:embed="rId3"/>
          <a:stretch/>
        </p:blipFill>
        <p:spPr>
          <a:xfrm>
            <a:off x="66852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4" name="Text 4"/>
          <p:cNvSpPr/>
          <p:nvPr/>
        </p:nvSpPr>
        <p:spPr>
          <a:xfrm>
            <a:off x="585360" y="169164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Data sources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5"/>
          <p:cNvSpPr/>
          <p:nvPr/>
        </p:nvSpPr>
        <p:spPr>
          <a:xfrm>
            <a:off x="585360" y="1956960"/>
            <a:ext cx="120672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Okta, Google, GitHub, AWS CloudTrail, Jira, HR, PagerDuty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6"/>
          <p:cNvSpPr/>
          <p:nvPr/>
        </p:nvSpPr>
        <p:spPr>
          <a:xfrm>
            <a:off x="1938240" y="182880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Shape 7"/>
          <p:cNvSpPr/>
          <p:nvPr/>
        </p:nvSpPr>
        <p:spPr>
          <a:xfrm>
            <a:off x="2148840" y="1143000"/>
            <a:ext cx="1462680" cy="137124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9"/>
          <p:cNvSpPr/>
          <p:nvPr/>
        </p:nvSpPr>
        <p:spPr>
          <a:xfrm>
            <a:off x="2277000" y="169164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FastAPI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0"/>
          <p:cNvSpPr/>
          <p:nvPr/>
        </p:nvSpPr>
        <p:spPr>
          <a:xfrm>
            <a:off x="2277000" y="1956960"/>
            <a:ext cx="120672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Python 3.12; checks every incoming event is well formed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Shape 11"/>
          <p:cNvSpPr/>
          <p:nvPr/>
        </p:nvSpPr>
        <p:spPr>
          <a:xfrm>
            <a:off x="3629880" y="182880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12"/>
          <p:cNvSpPr/>
          <p:nvPr/>
        </p:nvSpPr>
        <p:spPr>
          <a:xfrm>
            <a:off x="3840480" y="1143000"/>
            <a:ext cx="1462680" cy="137124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Shape 13"/>
          <p:cNvSpPr/>
          <p:nvPr/>
        </p:nvSpPr>
        <p:spPr>
          <a:xfrm>
            <a:off x="3968640" y="1271160"/>
            <a:ext cx="347040" cy="34704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14"/>
          <p:cNvSpPr/>
          <p:nvPr/>
        </p:nvSpPr>
        <p:spPr>
          <a:xfrm>
            <a:off x="3968640" y="169164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PostgreSQL 16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15"/>
          <p:cNvSpPr/>
          <p:nvPr/>
        </p:nvSpPr>
        <p:spPr>
          <a:xfrm>
            <a:off x="3968640" y="1956960"/>
            <a:ext cx="120672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Events, records and baselines in one place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16"/>
          <p:cNvSpPr/>
          <p:nvPr/>
        </p:nvSpPr>
        <p:spPr>
          <a:xfrm>
            <a:off x="5321520" y="182880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Shape 17"/>
          <p:cNvSpPr/>
          <p:nvPr/>
        </p:nvSpPr>
        <p:spPr>
          <a:xfrm>
            <a:off x="5532120" y="1143000"/>
            <a:ext cx="1462680" cy="137124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18"/>
          <p:cNvSpPr/>
          <p:nvPr/>
        </p:nvSpPr>
        <p:spPr>
          <a:xfrm>
            <a:off x="5660280" y="1271160"/>
            <a:ext cx="347040" cy="34704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1" name="Image 3" descr="preencoded.png"/>
          <p:cNvPicPr/>
          <p:nvPr/>
        </p:nvPicPr>
        <p:blipFill>
          <a:blip r:embed="rId4"/>
          <a:stretch/>
        </p:blipFill>
        <p:spPr>
          <a:xfrm>
            <a:off x="5743440" y="135432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2" name="Text 19"/>
          <p:cNvSpPr/>
          <p:nvPr/>
        </p:nvSpPr>
        <p:spPr>
          <a:xfrm>
            <a:off x="5660280" y="169164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NumPy, SciPy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20"/>
          <p:cNvSpPr/>
          <p:nvPr/>
        </p:nvSpPr>
        <p:spPr>
          <a:xfrm>
            <a:off x="5660280" y="1956960"/>
            <a:ext cx="120672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Baselines, sequence model and scoring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Shape 21"/>
          <p:cNvSpPr/>
          <p:nvPr/>
        </p:nvSpPr>
        <p:spPr>
          <a:xfrm>
            <a:off x="7013160" y="182880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22"/>
          <p:cNvSpPr/>
          <p:nvPr/>
        </p:nvSpPr>
        <p:spPr>
          <a:xfrm>
            <a:off x="7223760" y="1143000"/>
            <a:ext cx="1462680" cy="1371240"/>
          </a:xfrm>
          <a:prstGeom prst="roundRect">
            <a:avLst>
              <a:gd name="adj" fmla="val 5333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23"/>
          <p:cNvSpPr/>
          <p:nvPr/>
        </p:nvSpPr>
        <p:spPr>
          <a:xfrm>
            <a:off x="7351920" y="1271160"/>
            <a:ext cx="347040" cy="34704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24"/>
          <p:cNvSpPr/>
          <p:nvPr/>
        </p:nvSpPr>
        <p:spPr>
          <a:xfrm>
            <a:off x="7351920" y="169164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25"/>
          <p:cNvSpPr/>
          <p:nvPr/>
        </p:nvSpPr>
        <p:spPr>
          <a:xfrm>
            <a:off x="7351920" y="1956960"/>
            <a:ext cx="120672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TypeScript, Tailwind, shadcn/ui, Recharts, React Flow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26"/>
          <p:cNvSpPr/>
          <p:nvPr/>
        </p:nvSpPr>
        <p:spPr>
          <a:xfrm flipV="1">
            <a:off x="2880360" y="2532600"/>
            <a:ext cx="360" cy="3477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27"/>
          <p:cNvSpPr/>
          <p:nvPr/>
        </p:nvSpPr>
        <p:spPr>
          <a:xfrm>
            <a:off x="2057400" y="288036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8"/>
          <p:cNvSpPr/>
          <p:nvPr/>
        </p:nvSpPr>
        <p:spPr>
          <a:xfrm>
            <a:off x="2167200" y="3076920"/>
            <a:ext cx="292320" cy="29232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83" name="Image 5" descr="preencoded.png"/>
          <p:cNvPicPr/>
          <p:nvPr/>
        </p:nvPicPr>
        <p:blipFill>
          <a:blip r:embed="rId5"/>
          <a:stretch/>
        </p:blipFill>
        <p:spPr>
          <a:xfrm>
            <a:off x="2237400" y="314712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4" name="Text 29"/>
          <p:cNvSpPr/>
          <p:nvPr/>
        </p:nvSpPr>
        <p:spPr>
          <a:xfrm>
            <a:off x="2569320" y="2926080"/>
            <a:ext cx="10422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Desktop app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Python; keeps data while offline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Shape 30"/>
          <p:cNvSpPr/>
          <p:nvPr/>
        </p:nvSpPr>
        <p:spPr>
          <a:xfrm flipV="1">
            <a:off x="4572000" y="2532600"/>
            <a:ext cx="360" cy="3477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Shape 31"/>
          <p:cNvSpPr/>
          <p:nvPr/>
        </p:nvSpPr>
        <p:spPr>
          <a:xfrm>
            <a:off x="3749040" y="2880360"/>
            <a:ext cx="1645560" cy="685440"/>
          </a:xfrm>
          <a:prstGeom prst="roundRect">
            <a:avLst>
              <a:gd name="adj" fmla="val 10667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32"/>
          <p:cNvSpPr/>
          <p:nvPr/>
        </p:nvSpPr>
        <p:spPr>
          <a:xfrm>
            <a:off x="3858840" y="3076920"/>
            <a:ext cx="292320" cy="29232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88" name="Image 6" descr="preencoded.png"/>
          <p:cNvPicPr/>
          <p:nvPr/>
        </p:nvPicPr>
        <p:blipFill>
          <a:blip r:embed="rId6"/>
          <a:stretch/>
        </p:blipFill>
        <p:spPr>
          <a:xfrm>
            <a:off x="3929040" y="314712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9" name="Text 33"/>
          <p:cNvSpPr/>
          <p:nvPr/>
        </p:nvSpPr>
        <p:spPr>
          <a:xfrm>
            <a:off x="4260960" y="2926080"/>
            <a:ext cx="10422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Simulator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Generates a 100-person company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34"/>
          <p:cNvSpPr/>
          <p:nvPr/>
        </p:nvSpPr>
        <p:spPr>
          <a:xfrm flipV="1">
            <a:off x="7955280" y="2532600"/>
            <a:ext cx="360" cy="3477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35"/>
          <p:cNvSpPr/>
          <p:nvPr/>
        </p:nvSpPr>
        <p:spPr>
          <a:xfrm>
            <a:off x="7132320" y="288036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6"/>
          <p:cNvSpPr/>
          <p:nvPr/>
        </p:nvSpPr>
        <p:spPr>
          <a:xfrm>
            <a:off x="7242120" y="3076920"/>
            <a:ext cx="292320" cy="29232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93" name="Image 7" descr="preencoded.png"/>
          <p:cNvPicPr/>
          <p:nvPr/>
        </p:nvPicPr>
        <p:blipFill>
          <a:blip r:embed="rId7"/>
          <a:stretch/>
        </p:blipFill>
        <p:spPr>
          <a:xfrm>
            <a:off x="7312320" y="314712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4" name="Text 37"/>
          <p:cNvSpPr/>
          <p:nvPr/>
        </p:nvSpPr>
        <p:spPr>
          <a:xfrm>
            <a:off x="7644240" y="2926080"/>
            <a:ext cx="10422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AI assistant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Language model, with offline fallback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Shape 38"/>
          <p:cNvSpPr/>
          <p:nvPr/>
        </p:nvSpPr>
        <p:spPr>
          <a:xfrm>
            <a:off x="457200" y="3749040"/>
            <a:ext cx="4023000" cy="776880"/>
          </a:xfrm>
          <a:prstGeom prst="roundRect">
            <a:avLst>
              <a:gd name="adj" fmla="val 9412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Shape 39"/>
          <p:cNvSpPr/>
          <p:nvPr/>
        </p:nvSpPr>
        <p:spPr>
          <a:xfrm>
            <a:off x="567000" y="3972960"/>
            <a:ext cx="328680" cy="3286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40"/>
          <p:cNvSpPr/>
          <p:nvPr/>
        </p:nvSpPr>
        <p:spPr>
          <a:xfrm>
            <a:off x="1005840" y="3794760"/>
            <a:ext cx="33829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Packs everything together, so the demo needs no internet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41"/>
          <p:cNvSpPr/>
          <p:nvPr/>
        </p:nvSpPr>
        <p:spPr>
          <a:xfrm>
            <a:off x="4663440" y="3749040"/>
            <a:ext cx="4114440" cy="776880"/>
          </a:xfrm>
          <a:prstGeom prst="roundRect">
            <a:avLst>
              <a:gd name="adj" fmla="val 9412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42"/>
          <p:cNvSpPr/>
          <p:nvPr/>
        </p:nvSpPr>
        <p:spPr>
          <a:xfrm>
            <a:off x="4773240" y="3972960"/>
            <a:ext cx="328680" cy="32868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1" name="Image 9" descr="preencoded.png"/>
          <p:cNvPicPr/>
          <p:nvPr/>
        </p:nvPicPr>
        <p:blipFill>
          <a:blip r:embed="rId8"/>
          <a:stretch/>
        </p:blipFill>
        <p:spPr>
          <a:xfrm>
            <a:off x="4852080" y="4052160"/>
            <a:ext cx="1706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2" name="Text 43"/>
          <p:cNvSpPr/>
          <p:nvPr/>
        </p:nvSpPr>
        <p:spPr>
          <a:xfrm>
            <a:off x="5212080" y="3794760"/>
            <a:ext cx="34743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Left out on purpose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Kafka, </a:t>
            </a:r>
            <a:r>
              <a:rPr lang="en-US" sz="1050" b="0" u="none" strike="noStrike" dirty="0" err="1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ClickHouse</a:t>
            </a:r>
            <a:r>
              <a:rPr lang="en-US" sz="1050" b="0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, Redis and deep learning: not needed at this scale</a:t>
            </a:r>
            <a:endParaRPr lang="en-IN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PlaceHolder 3"/>
          <p:cNvSpPr>
            <a:spLocks noGrp="1"/>
          </p:cNvSpPr>
          <p:nvPr>
            <p:ph type="sldNum" idx="15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AB062C-7266-4DA9-A731-F17B8DE50053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12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04" name="Logo Okta" descr="Okta logo"/>
          <p:cNvPicPr/>
          <p:nvPr/>
        </p:nvPicPr>
        <p:blipFill>
          <a:blip r:embed="rId9"/>
          <a:stretch/>
        </p:blipFill>
        <p:spPr>
          <a:xfrm>
            <a:off x="1243440" y="128016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5" name="Logo Google Workspace" descr="Google Workspace logo"/>
          <p:cNvPicPr/>
          <p:nvPr/>
        </p:nvPicPr>
        <p:blipFill>
          <a:blip r:embed="rId10"/>
          <a:stretch/>
        </p:blipFill>
        <p:spPr>
          <a:xfrm>
            <a:off x="1444680" y="128016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6" name="Logo GitHub" descr="GitHub logo"/>
          <p:cNvPicPr/>
          <p:nvPr/>
        </p:nvPicPr>
        <p:blipFill>
          <a:blip r:embed="rId11"/>
          <a:stretch/>
        </p:blipFill>
        <p:spPr>
          <a:xfrm>
            <a:off x="1645920" y="128016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7" name="Logo AWS CloudTrail" descr="AWS CloudTrail logo"/>
          <p:cNvPicPr/>
          <p:nvPr/>
        </p:nvPicPr>
        <p:blipFill>
          <a:blip r:embed="rId12"/>
          <a:stretch/>
        </p:blipFill>
        <p:spPr>
          <a:xfrm>
            <a:off x="1243440" y="146304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8" name="Logo Jira" descr="Jira logo"/>
          <p:cNvPicPr/>
          <p:nvPr/>
        </p:nvPicPr>
        <p:blipFill>
          <a:blip r:embed="rId13"/>
          <a:stretch/>
        </p:blipFill>
        <p:spPr>
          <a:xfrm>
            <a:off x="1444680" y="146304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9" name="Logo PagerDuty" descr="PagerDuty logo"/>
          <p:cNvPicPr/>
          <p:nvPr/>
        </p:nvPicPr>
        <p:blipFill>
          <a:blip r:embed="rId14"/>
          <a:stretch/>
        </p:blipFill>
        <p:spPr>
          <a:xfrm>
            <a:off x="1645920" y="1463040"/>
            <a:ext cx="145800" cy="14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2" descr="Fastapi Icon Icon | Free Download PNG &amp; SVG | SVG Logos">
            <a:extLst>
              <a:ext uri="{FF2B5EF4-FFF2-40B4-BE49-F238E27FC236}">
                <a16:creationId xmlns:a16="http://schemas.microsoft.com/office/drawing/2014/main" id="{928134BF-64B4-7BF8-71F3-60AA32A1406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77000" y="1271160"/>
            <a:ext cx="347040" cy="347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E42A08-948F-A8BF-8721-EEF54683B378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10" y="1325520"/>
            <a:ext cx="257850" cy="257850"/>
          </a:xfrm>
          <a:prstGeom prst="rect">
            <a:avLst/>
          </a:prstGeom>
        </p:spPr>
      </p:pic>
      <p:pic>
        <p:nvPicPr>
          <p:cNvPr id="7" name="Picture 6" descr="Next.js Logo Icon | Free Download PNG &amp; SVG | Ultimate Light">
            <a:extLst>
              <a:ext uri="{FF2B5EF4-FFF2-40B4-BE49-F238E27FC236}">
                <a16:creationId xmlns:a16="http://schemas.microsoft.com/office/drawing/2014/main" id="{7D3E13CB-432F-D224-B0A5-3D848300A33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74247" y="1293645"/>
            <a:ext cx="310005" cy="310005"/>
          </a:xfrm>
          <a:prstGeom prst="rect">
            <a:avLst/>
          </a:prstGeom>
        </p:spPr>
      </p:pic>
      <p:pic>
        <p:nvPicPr>
          <p:cNvPr id="8" name="Picture 7" descr="Docker - Download SVG vector logo or transparent PNG">
            <a:extLst>
              <a:ext uri="{FF2B5EF4-FFF2-40B4-BE49-F238E27FC236}">
                <a16:creationId xmlns:a16="http://schemas.microsoft.com/office/drawing/2014/main" id="{1E49F15D-7AC5-1631-9897-A11E549DB11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2550" y="4035542"/>
            <a:ext cx="257940" cy="2035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Feasibility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1" name="PlaceHolder 2"/>
          <p:cNvSpPr>
            <a:spLocks noGrp="1"/>
          </p:cNvSpPr>
          <p:nvPr>
            <p:ph/>
          </p:nvPr>
        </p:nvSpPr>
        <p:spPr>
          <a:xfrm>
            <a:off x="219308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What we will build, how we will test it, and what it costs to run.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2" name="Text 2"/>
          <p:cNvSpPr/>
          <p:nvPr/>
        </p:nvSpPr>
        <p:spPr>
          <a:xfrm>
            <a:off x="457200" y="102420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Build plan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3"/>
          <p:cNvSpPr/>
          <p:nvPr/>
        </p:nvSpPr>
        <p:spPr>
          <a:xfrm>
            <a:off x="457200" y="1261800"/>
            <a:ext cx="146268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4"/>
          <p:cNvSpPr/>
          <p:nvPr/>
        </p:nvSpPr>
        <p:spPr>
          <a:xfrm>
            <a:off x="585360" y="1307520"/>
            <a:ext cx="124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Simulated company data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5"/>
          <p:cNvSpPr/>
          <p:nvPr/>
        </p:nvSpPr>
        <p:spPr>
          <a:xfrm>
            <a:off x="1938240" y="149040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6"/>
          <p:cNvSpPr/>
          <p:nvPr/>
        </p:nvSpPr>
        <p:spPr>
          <a:xfrm>
            <a:off x="2148840" y="1261800"/>
            <a:ext cx="1462680" cy="45684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7"/>
          <p:cNvSpPr/>
          <p:nvPr/>
        </p:nvSpPr>
        <p:spPr>
          <a:xfrm>
            <a:off x="2277000" y="1307520"/>
            <a:ext cx="124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Detection engine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8"/>
          <p:cNvSpPr/>
          <p:nvPr/>
        </p:nvSpPr>
        <p:spPr>
          <a:xfrm>
            <a:off x="3629880" y="149040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Shape 9"/>
          <p:cNvSpPr/>
          <p:nvPr/>
        </p:nvSpPr>
        <p:spPr>
          <a:xfrm>
            <a:off x="3840480" y="1261800"/>
            <a:ext cx="1462680" cy="456840"/>
          </a:xfrm>
          <a:prstGeom prst="roundRect">
            <a:avLst>
              <a:gd name="adj" fmla="val 16000"/>
            </a:avLst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10"/>
          <p:cNvSpPr/>
          <p:nvPr/>
        </p:nvSpPr>
        <p:spPr>
          <a:xfrm>
            <a:off x="3968640" y="1307520"/>
            <a:ext cx="124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Checkpoint: works end to end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1"/>
          <p:cNvSpPr/>
          <p:nvPr/>
        </p:nvSpPr>
        <p:spPr>
          <a:xfrm>
            <a:off x="5321520" y="149040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Shape 12"/>
          <p:cNvSpPr/>
          <p:nvPr/>
        </p:nvSpPr>
        <p:spPr>
          <a:xfrm>
            <a:off x="5532120" y="1261800"/>
            <a:ext cx="1462680" cy="456840"/>
          </a:xfrm>
          <a:prstGeom prst="roundRect">
            <a:avLst>
              <a:gd name="adj" fmla="val 16000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3"/>
          <p:cNvSpPr/>
          <p:nvPr/>
        </p:nvSpPr>
        <p:spPr>
          <a:xfrm>
            <a:off x="5660280" y="1307520"/>
            <a:ext cx="124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Console and AI assistant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4"/>
          <p:cNvSpPr/>
          <p:nvPr/>
        </p:nvSpPr>
        <p:spPr>
          <a:xfrm>
            <a:off x="7013160" y="1490400"/>
            <a:ext cx="19224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Shape 15"/>
          <p:cNvSpPr/>
          <p:nvPr/>
        </p:nvSpPr>
        <p:spPr>
          <a:xfrm>
            <a:off x="7223760" y="1261800"/>
            <a:ext cx="146268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6"/>
          <p:cNvSpPr/>
          <p:nvPr/>
        </p:nvSpPr>
        <p:spPr>
          <a:xfrm>
            <a:off x="7351920" y="1307520"/>
            <a:ext cx="124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Offline demo and backup video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 17"/>
          <p:cNvSpPr/>
          <p:nvPr/>
        </p:nvSpPr>
        <p:spPr>
          <a:xfrm>
            <a:off x="457200" y="182880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Test plan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Shape 18"/>
          <p:cNvSpPr/>
          <p:nvPr/>
        </p:nvSpPr>
        <p:spPr>
          <a:xfrm>
            <a:off x="457200" y="2066400"/>
            <a:ext cx="1885680" cy="548280"/>
          </a:xfrm>
          <a:prstGeom prst="roundRect">
            <a:avLst>
              <a:gd name="adj" fmla="val 13333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9"/>
          <p:cNvSpPr/>
          <p:nvPr/>
        </p:nvSpPr>
        <p:spPr>
          <a:xfrm>
            <a:off x="585360" y="2112120"/>
            <a:ext cx="1666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Fake company with normal and unusual-but-genuine work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20"/>
          <p:cNvSpPr/>
          <p:nvPr/>
        </p:nvSpPr>
        <p:spPr>
          <a:xfrm>
            <a:off x="2361240" y="2340720"/>
            <a:ext cx="191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21"/>
          <p:cNvSpPr/>
          <p:nvPr/>
        </p:nvSpPr>
        <p:spPr>
          <a:xfrm>
            <a:off x="2571840" y="2066400"/>
            <a:ext cx="1885680" cy="54828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2"/>
          <p:cNvSpPr/>
          <p:nvPr/>
        </p:nvSpPr>
        <p:spPr>
          <a:xfrm>
            <a:off x="2699640" y="2112120"/>
            <a:ext cx="1666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Attacks written by the teammate who didn’t build the detector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23"/>
          <p:cNvSpPr/>
          <p:nvPr/>
        </p:nvSpPr>
        <p:spPr>
          <a:xfrm>
            <a:off x="4475880" y="2340720"/>
            <a:ext cx="191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4"/>
          <p:cNvSpPr/>
          <p:nvPr/>
        </p:nvSpPr>
        <p:spPr>
          <a:xfrm>
            <a:off x="4686480" y="2066400"/>
            <a:ext cx="1885680" cy="54828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25"/>
          <p:cNvSpPr/>
          <p:nvPr/>
        </p:nvSpPr>
        <p:spPr>
          <a:xfrm>
            <a:off x="4814280" y="2112120"/>
            <a:ext cx="1666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One attack type kept secret until the final run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26"/>
          <p:cNvSpPr/>
          <p:nvPr/>
        </p:nvSpPr>
        <p:spPr>
          <a:xfrm>
            <a:off x="6590520" y="2340720"/>
            <a:ext cx="19188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Shape 27"/>
          <p:cNvSpPr/>
          <p:nvPr/>
        </p:nvSpPr>
        <p:spPr>
          <a:xfrm>
            <a:off x="6800760" y="2066400"/>
            <a:ext cx="1885680" cy="548280"/>
          </a:xfrm>
          <a:prstGeom prst="roundRect">
            <a:avLst>
              <a:gd name="adj" fmla="val 13333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8"/>
          <p:cNvSpPr/>
          <p:nvPr/>
        </p:nvSpPr>
        <p:spPr>
          <a:xfrm>
            <a:off x="6928920" y="2112120"/>
            <a:ext cx="1666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Compare with a basic tool; publish the numbers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9"/>
          <p:cNvSpPr/>
          <p:nvPr/>
        </p:nvSpPr>
        <p:spPr>
          <a:xfrm>
            <a:off x="457200" y="272484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Why it is realistic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Shape 30"/>
          <p:cNvSpPr/>
          <p:nvPr/>
        </p:nvSpPr>
        <p:spPr>
          <a:xfrm>
            <a:off x="457200" y="2962800"/>
            <a:ext cx="1885680" cy="502560"/>
          </a:xfrm>
          <a:prstGeom prst="roundRect">
            <a:avLst>
              <a:gd name="adj" fmla="val 14545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Shape 31"/>
          <p:cNvSpPr/>
          <p:nvPr/>
        </p:nvSpPr>
        <p:spPr>
          <a:xfrm>
            <a:off x="567000" y="307692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2" name="Image 0" descr="preencoded.png"/>
          <p:cNvPicPr/>
          <p:nvPr/>
        </p:nvPicPr>
        <p:blipFill>
          <a:blip r:embed="rId3"/>
          <a:stretch/>
        </p:blipFill>
        <p:spPr>
          <a:xfrm>
            <a:off x="632880" y="31428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3" name="Text 32"/>
          <p:cNvSpPr/>
          <p:nvPr/>
        </p:nvSpPr>
        <p:spPr>
          <a:xfrm>
            <a:off x="951120" y="3008520"/>
            <a:ext cx="1300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 GPU or model training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33"/>
          <p:cNvSpPr/>
          <p:nvPr/>
        </p:nvSpPr>
        <p:spPr>
          <a:xfrm>
            <a:off x="2571840" y="2962800"/>
            <a:ext cx="1885680" cy="502560"/>
          </a:xfrm>
          <a:prstGeom prst="roundRect">
            <a:avLst>
              <a:gd name="adj" fmla="val 14545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Shape 34"/>
          <p:cNvSpPr/>
          <p:nvPr/>
        </p:nvSpPr>
        <p:spPr>
          <a:xfrm>
            <a:off x="2681640" y="307692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6" name="Image 1" descr="preencoded.png"/>
          <p:cNvPicPr/>
          <p:nvPr/>
        </p:nvPicPr>
        <p:blipFill>
          <a:blip r:embed="rId4"/>
          <a:stretch/>
        </p:blipFill>
        <p:spPr>
          <a:xfrm>
            <a:off x="2747160" y="31428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7" name="Text 35"/>
          <p:cNvSpPr/>
          <p:nvPr/>
        </p:nvSpPr>
        <p:spPr>
          <a:xfrm>
            <a:off x="3065400" y="3008520"/>
            <a:ext cx="1300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Only one database to run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36"/>
          <p:cNvSpPr/>
          <p:nvPr/>
        </p:nvSpPr>
        <p:spPr>
          <a:xfrm>
            <a:off x="4686480" y="2962800"/>
            <a:ext cx="1885680" cy="502560"/>
          </a:xfrm>
          <a:prstGeom prst="roundRect">
            <a:avLst>
              <a:gd name="adj" fmla="val 14545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7"/>
          <p:cNvSpPr/>
          <p:nvPr/>
        </p:nvSpPr>
        <p:spPr>
          <a:xfrm>
            <a:off x="4795920" y="307692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0" name="Image 2" descr="preencoded.png"/>
          <p:cNvPicPr/>
          <p:nvPr/>
        </p:nvPicPr>
        <p:blipFill>
          <a:blip r:embed="rId5"/>
          <a:stretch/>
        </p:blipFill>
        <p:spPr>
          <a:xfrm>
            <a:off x="4861800" y="31428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1" name="Text 38"/>
          <p:cNvSpPr/>
          <p:nvPr/>
        </p:nvSpPr>
        <p:spPr>
          <a:xfrm>
            <a:off x="5180040" y="3008520"/>
            <a:ext cx="1300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Real apps simulated with their real data formats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Shape 39"/>
          <p:cNvSpPr/>
          <p:nvPr/>
        </p:nvSpPr>
        <p:spPr>
          <a:xfrm>
            <a:off x="6800760" y="2962800"/>
            <a:ext cx="1885680" cy="502560"/>
          </a:xfrm>
          <a:prstGeom prst="roundRect">
            <a:avLst>
              <a:gd name="adj" fmla="val 14545"/>
            </a:avLst>
          </a:prstGeom>
          <a:solidFill>
            <a:schemeClr val="tx1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0"/>
          <p:cNvSpPr/>
          <p:nvPr/>
        </p:nvSpPr>
        <p:spPr>
          <a:xfrm>
            <a:off x="6910560" y="3076920"/>
            <a:ext cx="273960" cy="27396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4" name="Image 3" descr="preencoded.png"/>
          <p:cNvPicPr/>
          <p:nvPr/>
        </p:nvPicPr>
        <p:blipFill>
          <a:blip r:embed="rId6"/>
          <a:stretch/>
        </p:blipFill>
        <p:spPr>
          <a:xfrm>
            <a:off x="6976440" y="31428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5" name="Text 41"/>
          <p:cNvSpPr/>
          <p:nvPr/>
        </p:nvSpPr>
        <p:spPr>
          <a:xfrm>
            <a:off x="7294680" y="3008520"/>
            <a:ext cx="1300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About 75% of the code is reusable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42"/>
          <p:cNvSpPr/>
          <p:nvPr/>
        </p:nvSpPr>
        <p:spPr>
          <a:xfrm>
            <a:off x="457200" y="357516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Scale and cost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3"/>
          <p:cNvSpPr/>
          <p:nvPr/>
        </p:nvSpPr>
        <p:spPr>
          <a:xfrm>
            <a:off x="457200" y="3813120"/>
            <a:ext cx="1885680" cy="50256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44"/>
          <p:cNvSpPr/>
          <p:nvPr/>
        </p:nvSpPr>
        <p:spPr>
          <a:xfrm>
            <a:off x="567000" y="3927240"/>
            <a:ext cx="273960" cy="27396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9" name="Image 4" descr="preencoded.png"/>
          <p:cNvPicPr/>
          <p:nvPr/>
        </p:nvPicPr>
        <p:blipFill>
          <a:blip r:embed="rId7"/>
          <a:stretch/>
        </p:blipFill>
        <p:spPr>
          <a:xfrm>
            <a:off x="632880" y="39931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0" name="Text 45"/>
          <p:cNvSpPr/>
          <p:nvPr/>
        </p:nvSpPr>
        <p:spPr>
          <a:xfrm>
            <a:off x="951120" y="3858840"/>
            <a:ext cx="1300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Up to about 5,000 accounts per server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46"/>
          <p:cNvSpPr/>
          <p:nvPr/>
        </p:nvSpPr>
        <p:spPr>
          <a:xfrm>
            <a:off x="2571840" y="3813120"/>
            <a:ext cx="1885680" cy="50256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Shape 47"/>
          <p:cNvSpPr/>
          <p:nvPr/>
        </p:nvSpPr>
        <p:spPr>
          <a:xfrm>
            <a:off x="2681640" y="3927240"/>
            <a:ext cx="273960" cy="27396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63" name="Image 5" descr="preencoded.png"/>
          <p:cNvPicPr/>
          <p:nvPr/>
        </p:nvPicPr>
        <p:blipFill>
          <a:blip r:embed="rId8"/>
          <a:stretch/>
        </p:blipFill>
        <p:spPr>
          <a:xfrm>
            <a:off x="2747160" y="39931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4" name="Text 48"/>
          <p:cNvSpPr/>
          <p:nvPr/>
        </p:nvSpPr>
        <p:spPr>
          <a:xfrm>
            <a:off x="3065400" y="3858840"/>
            <a:ext cx="1300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100 accounts scored in under a second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Shape 49"/>
          <p:cNvSpPr/>
          <p:nvPr/>
        </p:nvSpPr>
        <p:spPr>
          <a:xfrm>
            <a:off x="4686480" y="3813120"/>
            <a:ext cx="1885680" cy="50256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0"/>
          <p:cNvSpPr/>
          <p:nvPr/>
        </p:nvSpPr>
        <p:spPr>
          <a:xfrm>
            <a:off x="4795920" y="3927240"/>
            <a:ext cx="273960" cy="27396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67" name="Image 6" descr="preencoded.png"/>
          <p:cNvPicPr/>
          <p:nvPr/>
        </p:nvPicPr>
        <p:blipFill>
          <a:blip r:embed="rId9"/>
          <a:stretch/>
        </p:blipFill>
        <p:spPr>
          <a:xfrm>
            <a:off x="4861800" y="39931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8" name="Text 51"/>
          <p:cNvSpPr/>
          <p:nvPr/>
        </p:nvSpPr>
        <p:spPr>
          <a:xfrm>
            <a:off x="5180040" y="3858840"/>
            <a:ext cx="1300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About 14 GB of data a month for 2,000 staff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Shape 52"/>
          <p:cNvSpPr/>
          <p:nvPr/>
        </p:nvSpPr>
        <p:spPr>
          <a:xfrm>
            <a:off x="6800760" y="3813120"/>
            <a:ext cx="1885680" cy="50256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Shape 53"/>
          <p:cNvSpPr/>
          <p:nvPr/>
        </p:nvSpPr>
        <p:spPr>
          <a:xfrm>
            <a:off x="6910560" y="3927240"/>
            <a:ext cx="273960" cy="27396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1" name="Image 7" descr="preencoded.png"/>
          <p:cNvPicPr/>
          <p:nvPr/>
        </p:nvPicPr>
        <p:blipFill>
          <a:blip r:embed="rId10"/>
          <a:stretch/>
        </p:blipFill>
        <p:spPr>
          <a:xfrm>
            <a:off x="6976440" y="39931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2" name="Text 54"/>
          <p:cNvSpPr/>
          <p:nvPr/>
        </p:nvSpPr>
        <p:spPr>
          <a:xfrm>
            <a:off x="7294680" y="3858840"/>
            <a:ext cx="1300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₹350–420 per account a year to run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 55"/>
          <p:cNvSpPr/>
          <p:nvPr/>
        </p:nvSpPr>
        <p:spPr>
          <a:xfrm>
            <a:off x="457200" y="4434840"/>
            <a:ext cx="7314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Scale and cost figures are estimates from our design, not measurements.</a:t>
            </a:r>
            <a:endParaRPr lang="en-IN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16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B44F37-0C6D-48EB-8328-1D9059A5F732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13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Risks and how we handle them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6" name="PlaceHolder 2"/>
          <p:cNvSpPr>
            <a:spLocks noGrp="1"/>
          </p:cNvSpPr>
          <p:nvPr>
            <p:ph/>
          </p:nvPr>
        </p:nvSpPr>
        <p:spPr>
          <a:xfrm>
            <a:off x="226746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Each risk on the left is handled by the design choice on the right.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7" name="Shape 2"/>
          <p:cNvSpPr/>
          <p:nvPr/>
        </p:nvSpPr>
        <p:spPr>
          <a:xfrm>
            <a:off x="457200" y="1143000"/>
            <a:ext cx="178272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3"/>
          <p:cNvSpPr/>
          <p:nvPr/>
        </p:nvSpPr>
        <p:spPr>
          <a:xfrm>
            <a:off x="567000" y="134892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9" name="Image 0" descr="preencoded.png"/>
          <p:cNvPicPr/>
          <p:nvPr/>
        </p:nvPicPr>
        <p:blipFill>
          <a:blip r:embed="rId3"/>
          <a:stretch/>
        </p:blipFill>
        <p:spPr>
          <a:xfrm>
            <a:off x="632880" y="141444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0" name="Text 4"/>
          <p:cNvSpPr/>
          <p:nvPr/>
        </p:nvSpPr>
        <p:spPr>
          <a:xfrm>
            <a:off x="951120" y="1188720"/>
            <a:ext cx="1197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False alarms from normal job changes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Shape 5"/>
          <p:cNvSpPr/>
          <p:nvPr/>
        </p:nvSpPr>
        <p:spPr>
          <a:xfrm>
            <a:off x="2258280" y="148572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6"/>
          <p:cNvSpPr/>
          <p:nvPr/>
        </p:nvSpPr>
        <p:spPr>
          <a:xfrm>
            <a:off x="2514600" y="114300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7"/>
          <p:cNvSpPr/>
          <p:nvPr/>
        </p:nvSpPr>
        <p:spPr>
          <a:xfrm>
            <a:off x="2624400" y="134892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4" name="Image 1" descr="preencoded.png"/>
          <p:cNvPicPr/>
          <p:nvPr/>
        </p:nvPicPr>
        <p:blipFill>
          <a:blip r:embed="rId4"/>
          <a:stretch/>
        </p:blipFill>
        <p:spPr>
          <a:xfrm>
            <a:off x="2690280" y="141444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5" name="Text 8"/>
          <p:cNvSpPr/>
          <p:nvPr/>
        </p:nvSpPr>
        <p:spPr>
          <a:xfrm>
            <a:off x="3008520" y="1188720"/>
            <a:ext cx="1243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Checks approvals and each person’s normal hours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4663440" y="1143000"/>
            <a:ext cx="178272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4773240" y="134892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8" name="Image 2" descr="preencoded.png"/>
          <p:cNvPicPr/>
          <p:nvPr/>
        </p:nvPicPr>
        <p:blipFill>
          <a:blip r:embed="rId3"/>
          <a:stretch/>
        </p:blipFill>
        <p:spPr>
          <a:xfrm>
            <a:off x="4839120" y="141444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9" name="Text 11"/>
          <p:cNvSpPr/>
          <p:nvPr/>
        </p:nvSpPr>
        <p:spPr>
          <a:xfrm>
            <a:off x="5157360" y="1188720"/>
            <a:ext cx="1197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An insider fakes a ticket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2"/>
          <p:cNvSpPr/>
          <p:nvPr/>
        </p:nvSpPr>
        <p:spPr>
          <a:xfrm>
            <a:off x="6464520" y="148572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Shape 13"/>
          <p:cNvSpPr/>
          <p:nvPr/>
        </p:nvSpPr>
        <p:spPr>
          <a:xfrm>
            <a:off x="6720840" y="114300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Shape 14"/>
          <p:cNvSpPr/>
          <p:nvPr/>
        </p:nvSpPr>
        <p:spPr>
          <a:xfrm>
            <a:off x="6830640" y="134892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3" name="Image 3" descr="preencoded.png"/>
          <p:cNvPicPr/>
          <p:nvPr/>
        </p:nvPicPr>
        <p:blipFill>
          <a:blip r:embed="rId4"/>
          <a:stretch/>
        </p:blipFill>
        <p:spPr>
          <a:xfrm>
            <a:off x="6896520" y="141444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4" name="Text 15"/>
          <p:cNvSpPr/>
          <p:nvPr/>
        </p:nvSpPr>
        <p:spPr>
          <a:xfrm>
            <a:off x="7214760" y="1188720"/>
            <a:ext cx="1243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Four checks; a fake ticket is itself a warning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Shape 16"/>
          <p:cNvSpPr/>
          <p:nvPr/>
        </p:nvSpPr>
        <p:spPr>
          <a:xfrm>
            <a:off x="457200" y="1984320"/>
            <a:ext cx="178272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Shape 17"/>
          <p:cNvSpPr/>
          <p:nvPr/>
        </p:nvSpPr>
        <p:spPr>
          <a:xfrm>
            <a:off x="567000" y="218988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7" name="Image 4" descr="preencoded.png"/>
          <p:cNvPicPr/>
          <p:nvPr/>
        </p:nvPicPr>
        <p:blipFill>
          <a:blip r:embed="rId3"/>
          <a:stretch/>
        </p:blipFill>
        <p:spPr>
          <a:xfrm>
            <a:off x="632880" y="225576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8" name="Text 18"/>
          <p:cNvSpPr/>
          <p:nvPr/>
        </p:nvSpPr>
        <p:spPr>
          <a:xfrm>
            <a:off x="951120" y="2030040"/>
            <a:ext cx="1197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Slow theft becomes the new normal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Shape 19"/>
          <p:cNvSpPr/>
          <p:nvPr/>
        </p:nvSpPr>
        <p:spPr>
          <a:xfrm>
            <a:off x="2258280" y="232704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Shape 20"/>
          <p:cNvSpPr/>
          <p:nvPr/>
        </p:nvSpPr>
        <p:spPr>
          <a:xfrm>
            <a:off x="2514600" y="198432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Shape 21"/>
          <p:cNvSpPr/>
          <p:nvPr/>
        </p:nvSpPr>
        <p:spPr>
          <a:xfrm>
            <a:off x="2624400" y="218988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5" descr="preencoded.png"/>
          <p:cNvPicPr/>
          <p:nvPr/>
        </p:nvPicPr>
        <p:blipFill>
          <a:blip r:embed="rId4"/>
          <a:stretch/>
        </p:blipFill>
        <p:spPr>
          <a:xfrm>
            <a:off x="2690280" y="225576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2"/>
          <p:cNvSpPr/>
          <p:nvPr/>
        </p:nvSpPr>
        <p:spPr>
          <a:xfrm>
            <a:off x="3008520" y="2030040"/>
            <a:ext cx="1243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Compare with a snapshot from months ago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Shape 23"/>
          <p:cNvSpPr/>
          <p:nvPr/>
        </p:nvSpPr>
        <p:spPr>
          <a:xfrm>
            <a:off x="4663440" y="1984320"/>
            <a:ext cx="178272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Shape 24"/>
          <p:cNvSpPr/>
          <p:nvPr/>
        </p:nvSpPr>
        <p:spPr>
          <a:xfrm>
            <a:off x="4773240" y="218988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6" name="Image 6" descr="preencoded.png"/>
          <p:cNvPicPr/>
          <p:nvPr/>
        </p:nvPicPr>
        <p:blipFill>
          <a:blip r:embed="rId3"/>
          <a:stretch/>
        </p:blipFill>
        <p:spPr>
          <a:xfrm>
            <a:off x="4839120" y="225576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7" name="Text 25"/>
          <p:cNvSpPr/>
          <p:nvPr/>
        </p:nvSpPr>
        <p:spPr>
          <a:xfrm>
            <a:off x="5157360" y="2030040"/>
            <a:ext cx="1197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Someone switches off a data feed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Shape 26"/>
          <p:cNvSpPr/>
          <p:nvPr/>
        </p:nvSpPr>
        <p:spPr>
          <a:xfrm>
            <a:off x="6464520" y="232704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27"/>
          <p:cNvSpPr/>
          <p:nvPr/>
        </p:nvSpPr>
        <p:spPr>
          <a:xfrm>
            <a:off x="6720840" y="198432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Shape 28"/>
          <p:cNvSpPr/>
          <p:nvPr/>
        </p:nvSpPr>
        <p:spPr>
          <a:xfrm>
            <a:off x="6830640" y="218988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1" name="Image 7" descr="preencoded.png"/>
          <p:cNvPicPr/>
          <p:nvPr/>
        </p:nvPicPr>
        <p:blipFill>
          <a:blip r:embed="rId4"/>
          <a:stretch/>
        </p:blipFill>
        <p:spPr>
          <a:xfrm>
            <a:off x="6896520" y="225576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2" name="Text 29"/>
          <p:cNvSpPr/>
          <p:nvPr/>
        </p:nvSpPr>
        <p:spPr>
          <a:xfrm>
            <a:off x="7214760" y="2030040"/>
            <a:ext cx="1243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Missing data raises an alert within 15 minutes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Shape 30"/>
          <p:cNvSpPr/>
          <p:nvPr/>
        </p:nvSpPr>
        <p:spPr>
          <a:xfrm>
            <a:off x="457200" y="2825640"/>
            <a:ext cx="178272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Shape 31"/>
          <p:cNvSpPr/>
          <p:nvPr/>
        </p:nvSpPr>
        <p:spPr>
          <a:xfrm>
            <a:off x="567000" y="303120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5" name="Image 8" descr="preencoded.png"/>
          <p:cNvPicPr/>
          <p:nvPr/>
        </p:nvPicPr>
        <p:blipFill>
          <a:blip r:embed="rId3"/>
          <a:stretch/>
        </p:blipFill>
        <p:spPr>
          <a:xfrm>
            <a:off x="632880" y="30970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6" name="Text 32"/>
          <p:cNvSpPr/>
          <p:nvPr/>
        </p:nvSpPr>
        <p:spPr>
          <a:xfrm>
            <a:off x="951120" y="2871360"/>
            <a:ext cx="1197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The AI assistant makes something up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Shape 33"/>
          <p:cNvSpPr/>
          <p:nvPr/>
        </p:nvSpPr>
        <p:spPr>
          <a:xfrm>
            <a:off x="2258280" y="316836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Shape 34"/>
          <p:cNvSpPr/>
          <p:nvPr/>
        </p:nvSpPr>
        <p:spPr>
          <a:xfrm>
            <a:off x="2514600" y="282564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35"/>
          <p:cNvSpPr/>
          <p:nvPr/>
        </p:nvSpPr>
        <p:spPr>
          <a:xfrm>
            <a:off x="2624400" y="303120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0" name="Image 9" descr="preencoded.png"/>
          <p:cNvPicPr/>
          <p:nvPr/>
        </p:nvPicPr>
        <p:blipFill>
          <a:blip r:embed="rId4"/>
          <a:stretch/>
        </p:blipFill>
        <p:spPr>
          <a:xfrm>
            <a:off x="2690280" y="30970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1" name="Text 36"/>
          <p:cNvSpPr/>
          <p:nvPr/>
        </p:nvSpPr>
        <p:spPr>
          <a:xfrm>
            <a:off x="3008520" y="2871360"/>
            <a:ext cx="1243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It only rewords facts and never edits scores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Shape 37"/>
          <p:cNvSpPr/>
          <p:nvPr/>
        </p:nvSpPr>
        <p:spPr>
          <a:xfrm>
            <a:off x="4663440" y="2825640"/>
            <a:ext cx="178272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38"/>
          <p:cNvSpPr/>
          <p:nvPr/>
        </p:nvSpPr>
        <p:spPr>
          <a:xfrm>
            <a:off x="4773240" y="303120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4" name="Image 10" descr="preencoded.png"/>
          <p:cNvPicPr/>
          <p:nvPr/>
        </p:nvPicPr>
        <p:blipFill>
          <a:blip r:embed="rId3"/>
          <a:stretch/>
        </p:blipFill>
        <p:spPr>
          <a:xfrm>
            <a:off x="4839120" y="30970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5" name="Text 39"/>
          <p:cNvSpPr/>
          <p:nvPr/>
        </p:nvSpPr>
        <p:spPr>
          <a:xfrm>
            <a:off x="5157360" y="2871360"/>
            <a:ext cx="1197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Work-time data gets misused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Shape 40"/>
          <p:cNvSpPr/>
          <p:nvPr/>
        </p:nvSpPr>
        <p:spPr>
          <a:xfrm>
            <a:off x="6464520" y="316836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41"/>
          <p:cNvSpPr/>
          <p:nvPr/>
        </p:nvSpPr>
        <p:spPr>
          <a:xfrm>
            <a:off x="6720840" y="282564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Shape 42"/>
          <p:cNvSpPr/>
          <p:nvPr/>
        </p:nvSpPr>
        <p:spPr>
          <a:xfrm>
            <a:off x="6830640" y="303120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9" name="Image 11" descr="preencoded.png"/>
          <p:cNvPicPr/>
          <p:nvPr/>
        </p:nvPicPr>
        <p:blipFill>
          <a:blip r:embed="rId4"/>
          <a:stretch/>
        </p:blipFill>
        <p:spPr>
          <a:xfrm>
            <a:off x="6896520" y="30970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0" name="Text 43"/>
          <p:cNvSpPr/>
          <p:nvPr/>
        </p:nvSpPr>
        <p:spPr>
          <a:xfrm>
            <a:off x="7214760" y="2871360"/>
            <a:ext cx="1243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Separate roles, logged access, two-person approval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Shape 44"/>
          <p:cNvSpPr/>
          <p:nvPr/>
        </p:nvSpPr>
        <p:spPr>
          <a:xfrm>
            <a:off x="457200" y="3666600"/>
            <a:ext cx="178272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Shape 45"/>
          <p:cNvSpPr/>
          <p:nvPr/>
        </p:nvSpPr>
        <p:spPr>
          <a:xfrm>
            <a:off x="567000" y="387252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3" name="Image 12" descr="preencoded.png"/>
          <p:cNvPicPr/>
          <p:nvPr/>
        </p:nvPicPr>
        <p:blipFill>
          <a:blip r:embed="rId3"/>
          <a:stretch/>
        </p:blipFill>
        <p:spPr>
          <a:xfrm>
            <a:off x="632880" y="39384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4" name="Text 46"/>
          <p:cNvSpPr/>
          <p:nvPr/>
        </p:nvSpPr>
        <p:spPr>
          <a:xfrm>
            <a:off x="951120" y="3712320"/>
            <a:ext cx="1197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Simulated data is cleaner than real data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Shape 47"/>
          <p:cNvSpPr/>
          <p:nvPr/>
        </p:nvSpPr>
        <p:spPr>
          <a:xfrm>
            <a:off x="2258280" y="400932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48"/>
          <p:cNvSpPr/>
          <p:nvPr/>
        </p:nvSpPr>
        <p:spPr>
          <a:xfrm>
            <a:off x="2514600" y="366660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Shape 49"/>
          <p:cNvSpPr/>
          <p:nvPr/>
        </p:nvSpPr>
        <p:spPr>
          <a:xfrm>
            <a:off x="2624400" y="387252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8" name="Image 13" descr="preencoded.png"/>
          <p:cNvPicPr/>
          <p:nvPr/>
        </p:nvPicPr>
        <p:blipFill>
          <a:blip r:embed="rId4"/>
          <a:stretch/>
        </p:blipFill>
        <p:spPr>
          <a:xfrm>
            <a:off x="2690280" y="39384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50"/>
          <p:cNvSpPr/>
          <p:nvPr/>
        </p:nvSpPr>
        <p:spPr>
          <a:xfrm>
            <a:off x="3008520" y="3712320"/>
            <a:ext cx="1243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Test on a partner’s past logs before going live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1"/>
          <p:cNvSpPr/>
          <p:nvPr/>
        </p:nvSpPr>
        <p:spPr>
          <a:xfrm>
            <a:off x="4663440" y="3666600"/>
            <a:ext cx="1782720" cy="68544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Shape 52"/>
          <p:cNvSpPr/>
          <p:nvPr/>
        </p:nvSpPr>
        <p:spPr>
          <a:xfrm>
            <a:off x="4773240" y="387252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2" name="Image 14" descr="preencoded.png"/>
          <p:cNvPicPr/>
          <p:nvPr/>
        </p:nvPicPr>
        <p:blipFill>
          <a:blip r:embed="rId3"/>
          <a:stretch/>
        </p:blipFill>
        <p:spPr>
          <a:xfrm>
            <a:off x="4839120" y="39384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3" name="Text 53"/>
          <p:cNvSpPr/>
          <p:nvPr/>
        </p:nvSpPr>
        <p:spPr>
          <a:xfrm>
            <a:off x="5157360" y="3712320"/>
            <a:ext cx="1197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The demo fails on the day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54"/>
          <p:cNvSpPr/>
          <p:nvPr/>
        </p:nvSpPr>
        <p:spPr>
          <a:xfrm>
            <a:off x="6464520" y="4009320"/>
            <a:ext cx="2563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Shape 55"/>
          <p:cNvSpPr/>
          <p:nvPr/>
        </p:nvSpPr>
        <p:spPr>
          <a:xfrm>
            <a:off x="6720840" y="366660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Shape 56"/>
          <p:cNvSpPr/>
          <p:nvPr/>
        </p:nvSpPr>
        <p:spPr>
          <a:xfrm>
            <a:off x="6830640" y="387252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7" name="Image 15" descr="preencoded.png"/>
          <p:cNvPicPr/>
          <p:nvPr/>
        </p:nvPicPr>
        <p:blipFill>
          <a:blip r:embed="rId4"/>
          <a:stretch/>
        </p:blipFill>
        <p:spPr>
          <a:xfrm>
            <a:off x="6896520" y="39384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8" name="Text 57"/>
          <p:cNvSpPr/>
          <p:nvPr/>
        </p:nvSpPr>
        <p:spPr>
          <a:xfrm>
            <a:off x="7214760" y="3712320"/>
            <a:ext cx="1243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Fully offline setup and a recorded backup video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PlaceHolder 3"/>
          <p:cNvSpPr>
            <a:spLocks noGrp="1"/>
          </p:cNvSpPr>
          <p:nvPr>
            <p:ph type="sldNum" idx="17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28C8B6B-8106-4563-A8EC-8272B2BA50E0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14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Legality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1" name="PlaceHolder 2"/>
          <p:cNvSpPr>
            <a:spLocks noGrp="1"/>
          </p:cNvSpPr>
          <p:nvPr>
            <p:ph/>
          </p:nvPr>
        </p:nvSpPr>
        <p:spPr>
          <a:xfrm>
            <a:off x="241613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Our reading of the main laws. A lawyer would review this before any real deployment.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2" name="Text 2"/>
          <p:cNvSpPr/>
          <p:nvPr/>
        </p:nvSpPr>
        <p:spPr>
          <a:xfrm>
            <a:off x="457200" y="1051560"/>
            <a:ext cx="2011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Law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Text 3"/>
          <p:cNvSpPr/>
          <p:nvPr/>
        </p:nvSpPr>
        <p:spPr>
          <a:xfrm>
            <a:off x="2743200" y="105156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it requires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 4"/>
          <p:cNvSpPr/>
          <p:nvPr/>
        </p:nvSpPr>
        <p:spPr>
          <a:xfrm>
            <a:off x="5897880" y="105156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tellTale does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Shape 5"/>
          <p:cNvSpPr/>
          <p:nvPr/>
        </p:nvSpPr>
        <p:spPr>
          <a:xfrm>
            <a:off x="457200" y="128016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6"/>
          <p:cNvSpPr/>
          <p:nvPr/>
        </p:nvSpPr>
        <p:spPr>
          <a:xfrm>
            <a:off x="567000" y="1380600"/>
            <a:ext cx="255600" cy="2556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7" name="Image 0" descr="preencoded.png"/>
          <p:cNvPicPr/>
          <p:nvPr/>
        </p:nvPicPr>
        <p:blipFill>
          <a:blip r:embed="rId3"/>
          <a:stretch/>
        </p:blipFill>
        <p:spPr>
          <a:xfrm>
            <a:off x="628200" y="1442160"/>
            <a:ext cx="132840" cy="13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8" name="Text 7"/>
          <p:cNvSpPr/>
          <p:nvPr/>
        </p:nvSpPr>
        <p:spPr>
          <a:xfrm>
            <a:off x="932760" y="1325880"/>
            <a:ext cx="149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India DPDP Act, s.7(i)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Shape 8"/>
          <p:cNvSpPr/>
          <p:nvPr/>
        </p:nvSpPr>
        <p:spPr>
          <a:xfrm>
            <a:off x="2532600" y="150876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Shape 9"/>
          <p:cNvSpPr/>
          <p:nvPr/>
        </p:nvSpPr>
        <p:spPr>
          <a:xfrm>
            <a:off x="2743200" y="1280160"/>
            <a:ext cx="292572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10"/>
          <p:cNvSpPr/>
          <p:nvPr/>
        </p:nvSpPr>
        <p:spPr>
          <a:xfrm>
            <a:off x="2871360" y="1325880"/>
            <a:ext cx="2706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Allows processing for employment and to stop corporate spying, without consent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11"/>
          <p:cNvSpPr/>
          <p:nvPr/>
        </p:nvSpPr>
        <p:spPr>
          <a:xfrm>
            <a:off x="5687280" y="150876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Shape 12"/>
          <p:cNvSpPr/>
          <p:nvPr/>
        </p:nvSpPr>
        <p:spPr>
          <a:xfrm>
            <a:off x="5897880" y="1280160"/>
            <a:ext cx="278856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3"/>
          <p:cNvSpPr/>
          <p:nvPr/>
        </p:nvSpPr>
        <p:spPr>
          <a:xfrm>
            <a:off x="6026040" y="1325880"/>
            <a:ext cx="2568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Runs only on company devices, with notice to staff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14"/>
          <p:cNvSpPr/>
          <p:nvPr/>
        </p:nvSpPr>
        <p:spPr>
          <a:xfrm>
            <a:off x="457200" y="181044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15"/>
          <p:cNvSpPr/>
          <p:nvPr/>
        </p:nvSpPr>
        <p:spPr>
          <a:xfrm>
            <a:off x="567000" y="1911240"/>
            <a:ext cx="255600" cy="2556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7" name="Image 1" descr="preencoded.png"/>
          <p:cNvPicPr/>
          <p:nvPr/>
        </p:nvPicPr>
        <p:blipFill>
          <a:blip r:embed="rId3"/>
          <a:stretch/>
        </p:blipFill>
        <p:spPr>
          <a:xfrm>
            <a:off x="628200" y="1972440"/>
            <a:ext cx="132840" cy="13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16"/>
          <p:cNvSpPr/>
          <p:nvPr/>
        </p:nvSpPr>
        <p:spPr>
          <a:xfrm>
            <a:off x="932760" y="1856160"/>
            <a:ext cx="149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India DPDP Act, s.8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17"/>
          <p:cNvSpPr/>
          <p:nvPr/>
        </p:nvSpPr>
        <p:spPr>
          <a:xfrm>
            <a:off x="2532600" y="203904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Shape 18"/>
          <p:cNvSpPr/>
          <p:nvPr/>
        </p:nvSpPr>
        <p:spPr>
          <a:xfrm>
            <a:off x="2743200" y="1810440"/>
            <a:ext cx="292572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19"/>
          <p:cNvSpPr/>
          <p:nvPr/>
        </p:nvSpPr>
        <p:spPr>
          <a:xfrm>
            <a:off x="2871360" y="1856160"/>
            <a:ext cx="2706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Reasonable security and deletion once the purpose ends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Shape 20"/>
          <p:cNvSpPr/>
          <p:nvPr/>
        </p:nvSpPr>
        <p:spPr>
          <a:xfrm>
            <a:off x="5687280" y="203904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21"/>
          <p:cNvSpPr/>
          <p:nvPr/>
        </p:nvSpPr>
        <p:spPr>
          <a:xfrm>
            <a:off x="5897880" y="1810440"/>
            <a:ext cx="278856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 22"/>
          <p:cNvSpPr/>
          <p:nvPr/>
        </p:nvSpPr>
        <p:spPr>
          <a:xfrm>
            <a:off x="6026040" y="1856160"/>
            <a:ext cx="2568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Encryption, retention limits and automatic deletion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Shape 23"/>
          <p:cNvSpPr/>
          <p:nvPr/>
        </p:nvSpPr>
        <p:spPr>
          <a:xfrm>
            <a:off x="457200" y="234072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Shape 24"/>
          <p:cNvSpPr/>
          <p:nvPr/>
        </p:nvSpPr>
        <p:spPr>
          <a:xfrm>
            <a:off x="567000" y="2441520"/>
            <a:ext cx="255600" cy="2556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7" name="Image 2" descr="preencoded.png"/>
          <p:cNvPicPr/>
          <p:nvPr/>
        </p:nvPicPr>
        <p:blipFill>
          <a:blip r:embed="rId3"/>
          <a:stretch/>
        </p:blipFill>
        <p:spPr>
          <a:xfrm>
            <a:off x="628200" y="2502720"/>
            <a:ext cx="132840" cy="13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8" name="Text 25"/>
          <p:cNvSpPr/>
          <p:nvPr/>
        </p:nvSpPr>
        <p:spPr>
          <a:xfrm>
            <a:off x="932760" y="2386440"/>
            <a:ext cx="149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EU GDPR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Shape 26"/>
          <p:cNvSpPr/>
          <p:nvPr/>
        </p:nvSpPr>
        <p:spPr>
          <a:xfrm>
            <a:off x="2532600" y="256932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Shape 27"/>
          <p:cNvSpPr/>
          <p:nvPr/>
        </p:nvSpPr>
        <p:spPr>
          <a:xfrm>
            <a:off x="2743200" y="2340720"/>
            <a:ext cx="292572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28"/>
          <p:cNvSpPr/>
          <p:nvPr/>
        </p:nvSpPr>
        <p:spPr>
          <a:xfrm>
            <a:off x="2871360" y="2386440"/>
            <a:ext cx="2706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Necessary and proportionate; strict on biometrics and automated decisions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Shape 29"/>
          <p:cNvSpPr/>
          <p:nvPr/>
        </p:nvSpPr>
        <p:spPr>
          <a:xfrm>
            <a:off x="5687280" y="256932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3" name="Shape 30"/>
          <p:cNvSpPr/>
          <p:nvPr/>
        </p:nvSpPr>
        <p:spPr>
          <a:xfrm>
            <a:off x="5897880" y="2340720"/>
            <a:ext cx="278856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31"/>
          <p:cNvSpPr/>
          <p:nvPr/>
        </p:nvSpPr>
        <p:spPr>
          <a:xfrm>
            <a:off x="6026040" y="2386440"/>
            <a:ext cx="2568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Activity details only, no biometrics, a person decides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32"/>
          <p:cNvSpPr/>
          <p:nvPr/>
        </p:nvSpPr>
        <p:spPr>
          <a:xfrm>
            <a:off x="457200" y="287136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6" name="Shape 33"/>
          <p:cNvSpPr/>
          <p:nvPr/>
        </p:nvSpPr>
        <p:spPr>
          <a:xfrm>
            <a:off x="567000" y="2971800"/>
            <a:ext cx="255600" cy="2556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7" name="Image 3" descr="preencoded.png"/>
          <p:cNvPicPr/>
          <p:nvPr/>
        </p:nvPicPr>
        <p:blipFill>
          <a:blip r:embed="rId3"/>
          <a:stretch/>
        </p:blipFill>
        <p:spPr>
          <a:xfrm>
            <a:off x="628200" y="3033360"/>
            <a:ext cx="132840" cy="13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8" name="Text 34"/>
          <p:cNvSpPr/>
          <p:nvPr/>
        </p:nvSpPr>
        <p:spPr>
          <a:xfrm>
            <a:off x="932760" y="2917080"/>
            <a:ext cx="149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Germany: works councils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Shape 35"/>
          <p:cNvSpPr/>
          <p:nvPr/>
        </p:nvSpPr>
        <p:spPr>
          <a:xfrm>
            <a:off x="2532600" y="309960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Shape 36"/>
          <p:cNvSpPr/>
          <p:nvPr/>
        </p:nvSpPr>
        <p:spPr>
          <a:xfrm>
            <a:off x="2743200" y="2871360"/>
            <a:ext cx="292572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37"/>
          <p:cNvSpPr/>
          <p:nvPr/>
        </p:nvSpPr>
        <p:spPr>
          <a:xfrm>
            <a:off x="2871360" y="2917080"/>
            <a:ext cx="2706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Monitoring tools need agreement with employee representatives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Shape 38"/>
          <p:cNvSpPr/>
          <p:nvPr/>
        </p:nvSpPr>
        <p:spPr>
          <a:xfrm>
            <a:off x="5687280" y="309960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39"/>
          <p:cNvSpPr/>
          <p:nvPr/>
        </p:nvSpPr>
        <p:spPr>
          <a:xfrm>
            <a:off x="5897880" y="2871360"/>
            <a:ext cx="278856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Text 40"/>
          <p:cNvSpPr/>
          <p:nvPr/>
        </p:nvSpPr>
        <p:spPr>
          <a:xfrm>
            <a:off x="6026040" y="2917080"/>
            <a:ext cx="2568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Comes with a draft agreement and a list of apps to exclude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Shape 41"/>
          <p:cNvSpPr/>
          <p:nvPr/>
        </p:nvSpPr>
        <p:spPr>
          <a:xfrm>
            <a:off x="457200" y="3401640"/>
            <a:ext cx="2057040" cy="45684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6" name="Shape 42"/>
          <p:cNvSpPr/>
          <p:nvPr/>
        </p:nvSpPr>
        <p:spPr>
          <a:xfrm>
            <a:off x="567000" y="3502080"/>
            <a:ext cx="255600" cy="2556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7" name="Image 4" descr="preencoded.png"/>
          <p:cNvPicPr/>
          <p:nvPr/>
        </p:nvPicPr>
        <p:blipFill>
          <a:blip r:embed="rId3"/>
          <a:stretch/>
        </p:blipFill>
        <p:spPr>
          <a:xfrm>
            <a:off x="628200" y="3563640"/>
            <a:ext cx="132840" cy="13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8" name="Text 43"/>
          <p:cNvSpPr/>
          <p:nvPr/>
        </p:nvSpPr>
        <p:spPr>
          <a:xfrm>
            <a:off x="932760" y="3447360"/>
            <a:ext cx="149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United States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Shape 44"/>
          <p:cNvSpPr/>
          <p:nvPr/>
        </p:nvSpPr>
        <p:spPr>
          <a:xfrm>
            <a:off x="2532600" y="362988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Shape 45"/>
          <p:cNvSpPr/>
          <p:nvPr/>
        </p:nvSpPr>
        <p:spPr>
          <a:xfrm>
            <a:off x="2743200" y="3401640"/>
            <a:ext cx="292572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46"/>
          <p:cNvSpPr/>
          <p:nvPr/>
        </p:nvSpPr>
        <p:spPr>
          <a:xfrm>
            <a:off x="2871360" y="3447360"/>
            <a:ext cx="2706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Company-device monitoring with notice and acknowledgement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47"/>
          <p:cNvSpPr/>
          <p:nvPr/>
        </p:nvSpPr>
        <p:spPr>
          <a:xfrm>
            <a:off x="5687280" y="3629880"/>
            <a:ext cx="210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Shape 48"/>
          <p:cNvSpPr/>
          <p:nvPr/>
        </p:nvSpPr>
        <p:spPr>
          <a:xfrm>
            <a:off x="5897880" y="3401640"/>
            <a:ext cx="278856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49"/>
          <p:cNvSpPr/>
          <p:nvPr/>
        </p:nvSpPr>
        <p:spPr>
          <a:xfrm>
            <a:off x="6026040" y="3447360"/>
            <a:ext cx="2568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Notice at onboarding, policy kept on record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50"/>
          <p:cNvSpPr/>
          <p:nvPr/>
        </p:nvSpPr>
        <p:spPr>
          <a:xfrm>
            <a:off x="457200" y="3959280"/>
            <a:ext cx="7314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Settings per country, chosen at setup and changed only with two approvals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51"/>
          <p:cNvSpPr/>
          <p:nvPr/>
        </p:nvSpPr>
        <p:spPr>
          <a:xfrm>
            <a:off x="457200" y="4206240"/>
            <a:ext cx="1919880" cy="45684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Shape 52"/>
          <p:cNvSpPr/>
          <p:nvPr/>
        </p:nvSpPr>
        <p:spPr>
          <a:xfrm>
            <a:off x="567000" y="4306680"/>
            <a:ext cx="255600" cy="25560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8" name="Image 5" descr="preencoded.png"/>
          <p:cNvPicPr/>
          <p:nvPr/>
        </p:nvPicPr>
        <p:blipFill>
          <a:blip r:embed="rId4"/>
          <a:stretch/>
        </p:blipFill>
        <p:spPr>
          <a:xfrm>
            <a:off x="628200" y="4368240"/>
            <a:ext cx="132840" cy="13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9" name="Text 53"/>
          <p:cNvSpPr/>
          <p:nvPr/>
        </p:nvSpPr>
        <p:spPr>
          <a:xfrm>
            <a:off x="932760" y="4251960"/>
            <a:ext cx="1352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India and US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Everything on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54"/>
          <p:cNvSpPr/>
          <p:nvPr/>
        </p:nvSpPr>
        <p:spPr>
          <a:xfrm>
            <a:off x="2560320" y="4206240"/>
            <a:ext cx="191988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Shape 55"/>
          <p:cNvSpPr/>
          <p:nvPr/>
        </p:nvSpPr>
        <p:spPr>
          <a:xfrm>
            <a:off x="2670120" y="4306680"/>
            <a:ext cx="255600" cy="25560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2" name="Image 6" descr="preencoded.png"/>
          <p:cNvPicPr/>
          <p:nvPr/>
        </p:nvPicPr>
        <p:blipFill>
          <a:blip r:embed="rId4"/>
          <a:stretch/>
        </p:blipFill>
        <p:spPr>
          <a:xfrm>
            <a:off x="2731320" y="4368240"/>
            <a:ext cx="132840" cy="13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3" name="Text 56"/>
          <p:cNvSpPr/>
          <p:nvPr/>
        </p:nvSpPr>
        <p:spPr>
          <a:xfrm>
            <a:off x="3035880" y="4251960"/>
            <a:ext cx="1352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EU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 regular screenshots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57"/>
          <p:cNvSpPr/>
          <p:nvPr/>
        </p:nvSpPr>
        <p:spPr>
          <a:xfrm>
            <a:off x="4663440" y="4206240"/>
            <a:ext cx="191988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Shape 58"/>
          <p:cNvSpPr/>
          <p:nvPr/>
        </p:nvSpPr>
        <p:spPr>
          <a:xfrm>
            <a:off x="4773240" y="4306680"/>
            <a:ext cx="255600" cy="25560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6" name="Image 7" descr="preencoded.png"/>
          <p:cNvPicPr/>
          <p:nvPr/>
        </p:nvPicPr>
        <p:blipFill>
          <a:blip r:embed="rId4"/>
          <a:stretch/>
        </p:blipFill>
        <p:spPr>
          <a:xfrm>
            <a:off x="4834440" y="4368240"/>
            <a:ext cx="132840" cy="13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7" name="Text 59"/>
          <p:cNvSpPr/>
          <p:nvPr/>
        </p:nvSpPr>
        <p:spPr>
          <a:xfrm>
            <a:off x="5139000" y="4251960"/>
            <a:ext cx="1352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Germany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Works agreement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Shape 60"/>
          <p:cNvSpPr/>
          <p:nvPr/>
        </p:nvSpPr>
        <p:spPr>
          <a:xfrm>
            <a:off x="6766560" y="4206240"/>
            <a:ext cx="1919880" cy="45684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Shape 61"/>
          <p:cNvSpPr/>
          <p:nvPr/>
        </p:nvSpPr>
        <p:spPr>
          <a:xfrm>
            <a:off x="6876360" y="4306680"/>
            <a:ext cx="255600" cy="255600"/>
          </a:xfrm>
          <a:prstGeom prst="ellipse">
            <a:avLst/>
          </a:prstGeom>
          <a:solidFill>
            <a:srgbClr val="47556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20" name="Image 8" descr="preencoded.png"/>
          <p:cNvPicPr/>
          <p:nvPr/>
        </p:nvPicPr>
        <p:blipFill>
          <a:blip r:embed="rId4"/>
          <a:stretch/>
        </p:blipFill>
        <p:spPr>
          <a:xfrm>
            <a:off x="6937560" y="4368240"/>
            <a:ext cx="132840" cy="13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1" name="Text 62"/>
          <p:cNvSpPr/>
          <p:nvPr/>
        </p:nvSpPr>
        <p:spPr>
          <a:xfrm>
            <a:off x="7242120" y="4251960"/>
            <a:ext cx="1352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Security only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No workforce part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PlaceHolder 3"/>
          <p:cNvSpPr>
            <a:spLocks noGrp="1"/>
          </p:cNvSpPr>
          <p:nvPr>
            <p:ph type="sldNum" idx="18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A5A68DA-AA25-41BE-AA0B-B7D40ABC1862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15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Why it fits Mitigata, and what comes next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PlaceHolder 2"/>
          <p:cNvSpPr>
            <a:spLocks noGrp="1"/>
          </p:cNvSpPr>
          <p:nvPr>
            <p:ph/>
          </p:nvPr>
        </p:nvSpPr>
        <p:spPr>
          <a:xfrm>
            <a:off x="234176" y="731520"/>
            <a:ext cx="7314840" cy="31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 defTabSz="914400">
              <a:lnSpc>
                <a:spcPct val="100000"/>
              </a:lnSpc>
              <a:spcBef>
                <a:spcPts val="269"/>
              </a:spcBef>
              <a:buNone/>
              <a:tabLst>
                <a:tab pos="0" algn="l"/>
              </a:tabLst>
            </a:pP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One case file serves three of </a:t>
            </a:r>
            <a:r>
              <a:rPr lang="en-US" sz="1350" b="0" u="none" strike="noStrike" dirty="0" err="1">
                <a:solidFill>
                  <a:schemeClr val="dk2"/>
                </a:solidFill>
                <a:effectLst/>
                <a:uFillTx/>
                <a:latin typeface="Calibri"/>
              </a:rPr>
              <a:t>Mitigata’s</a:t>
            </a:r>
            <a:r>
              <a:rPr lang="en-US" sz="1350" b="0" u="none" strike="noStrike" dirty="0">
                <a:solidFill>
                  <a:schemeClr val="dk2"/>
                </a:solidFill>
                <a:effectLst/>
                <a:uFillTx/>
                <a:latin typeface="Calibri"/>
              </a:rPr>
              <a:t> business areas.</a:t>
            </a:r>
            <a:endParaRPr lang="en-IN" sz="135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5" name="Shape 2"/>
          <p:cNvSpPr/>
          <p:nvPr/>
        </p:nvSpPr>
        <p:spPr>
          <a:xfrm>
            <a:off x="457200" y="1143000"/>
            <a:ext cx="2194200" cy="1782720"/>
          </a:xfrm>
          <a:prstGeom prst="roundRect">
            <a:avLst>
              <a:gd name="adj" fmla="val 4103"/>
            </a:avLst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3"/>
          <p:cNvSpPr/>
          <p:nvPr/>
        </p:nvSpPr>
        <p:spPr>
          <a:xfrm>
            <a:off x="585360" y="1271160"/>
            <a:ext cx="420120" cy="420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7" name="Image 0" descr="preencoded.png"/>
          <p:cNvPicPr/>
          <p:nvPr/>
        </p:nvPicPr>
        <p:blipFill>
          <a:blip r:embed="rId3"/>
          <a:stretch/>
        </p:blipFill>
        <p:spPr>
          <a:xfrm>
            <a:off x="686160" y="1371960"/>
            <a:ext cx="2185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8" name="Text 4"/>
          <p:cNvSpPr/>
          <p:nvPr/>
        </p:nvSpPr>
        <p:spPr>
          <a:xfrm>
            <a:off x="585360" y="1764720"/>
            <a:ext cx="1938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tellTale case file</a:t>
            </a:r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5"/>
          <p:cNvSpPr/>
          <p:nvPr/>
        </p:nvSpPr>
        <p:spPr>
          <a:xfrm>
            <a:off x="585360" y="2066400"/>
            <a:ext cx="1938240" cy="79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Evidence, timeline, score breakdown and actions taken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Shape 6"/>
          <p:cNvSpPr/>
          <p:nvPr/>
        </p:nvSpPr>
        <p:spPr>
          <a:xfrm>
            <a:off x="2651760" y="2019492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7"/>
          <p:cNvSpPr/>
          <p:nvPr/>
        </p:nvSpPr>
        <p:spPr>
          <a:xfrm>
            <a:off x="2880360" y="1371600"/>
            <a:ext cx="360" cy="132588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Shape 8"/>
          <p:cNvSpPr/>
          <p:nvPr/>
        </p:nvSpPr>
        <p:spPr>
          <a:xfrm>
            <a:off x="2880360" y="137160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9"/>
          <p:cNvSpPr/>
          <p:nvPr/>
        </p:nvSpPr>
        <p:spPr>
          <a:xfrm>
            <a:off x="3108960" y="1143000"/>
            <a:ext cx="557748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Shape 10"/>
          <p:cNvSpPr/>
          <p:nvPr/>
        </p:nvSpPr>
        <p:spPr>
          <a:xfrm>
            <a:off x="3218760" y="123444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5" name="Image 1" descr="preencoded.png"/>
          <p:cNvPicPr/>
          <p:nvPr/>
        </p:nvPicPr>
        <p:blipFill>
          <a:blip r:embed="rId4"/>
          <a:stretch/>
        </p:blipFill>
        <p:spPr>
          <a:xfrm>
            <a:off x="3284640" y="13003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6" name="Text 11"/>
          <p:cNvSpPr/>
          <p:nvPr/>
        </p:nvSpPr>
        <p:spPr>
          <a:xfrm>
            <a:off x="3602880" y="1188720"/>
            <a:ext cx="499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Security operations:  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12"/>
          <p:cNvSpPr/>
          <p:nvPr/>
        </p:nvSpPr>
        <p:spPr>
          <a:xfrm>
            <a:off x="5120640" y="114300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One ranked case per account instead of many alerts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Shape 13"/>
          <p:cNvSpPr/>
          <p:nvPr/>
        </p:nvSpPr>
        <p:spPr>
          <a:xfrm>
            <a:off x="2880360" y="202968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4"/>
          <p:cNvSpPr/>
          <p:nvPr/>
        </p:nvSpPr>
        <p:spPr>
          <a:xfrm>
            <a:off x="3108960" y="1801440"/>
            <a:ext cx="5577480" cy="45684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Shape 15"/>
          <p:cNvSpPr/>
          <p:nvPr/>
        </p:nvSpPr>
        <p:spPr>
          <a:xfrm>
            <a:off x="3218760" y="189288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1" name="Image 2" descr="preencoded.png"/>
          <p:cNvPicPr/>
          <p:nvPr/>
        </p:nvPicPr>
        <p:blipFill>
          <a:blip r:embed="rId5"/>
          <a:stretch/>
        </p:blipFill>
        <p:spPr>
          <a:xfrm>
            <a:off x="3284640" y="195876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2" name="Text 16"/>
          <p:cNvSpPr/>
          <p:nvPr/>
        </p:nvSpPr>
        <p:spPr>
          <a:xfrm>
            <a:off x="3602880" y="1847160"/>
            <a:ext cx="499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Cyber insurance:  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17"/>
          <p:cNvSpPr/>
          <p:nvPr/>
        </p:nvSpPr>
        <p:spPr>
          <a:xfrm>
            <a:off x="5120640" y="180144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An evidence record that can support a claim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Shape 18"/>
          <p:cNvSpPr/>
          <p:nvPr/>
        </p:nvSpPr>
        <p:spPr>
          <a:xfrm>
            <a:off x="2880360" y="268812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Shape 19"/>
          <p:cNvSpPr/>
          <p:nvPr/>
        </p:nvSpPr>
        <p:spPr>
          <a:xfrm>
            <a:off x="3108960" y="2459880"/>
            <a:ext cx="557748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Shape 20"/>
          <p:cNvSpPr/>
          <p:nvPr/>
        </p:nvSpPr>
        <p:spPr>
          <a:xfrm>
            <a:off x="3218760" y="2551320"/>
            <a:ext cx="273960" cy="27396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3" descr="preencoded.png"/>
          <p:cNvPicPr/>
          <p:nvPr/>
        </p:nvPicPr>
        <p:blipFill>
          <a:blip r:embed="rId6"/>
          <a:stretch/>
        </p:blipFill>
        <p:spPr>
          <a:xfrm>
            <a:off x="3284640" y="261684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1"/>
          <p:cNvSpPr/>
          <p:nvPr/>
        </p:nvSpPr>
        <p:spPr>
          <a:xfrm>
            <a:off x="3602880" y="2505600"/>
            <a:ext cx="499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Compliance in India:  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2"/>
          <p:cNvSpPr/>
          <p:nvPr/>
        </p:nvSpPr>
        <p:spPr>
          <a:xfrm>
            <a:off x="5120640" y="245988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Collects only activity details, in line with the DPDP Act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23"/>
          <p:cNvSpPr/>
          <p:nvPr/>
        </p:nvSpPr>
        <p:spPr>
          <a:xfrm>
            <a:off x="457200" y="310896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Shape 24"/>
          <p:cNvSpPr/>
          <p:nvPr/>
        </p:nvSpPr>
        <p:spPr>
          <a:xfrm>
            <a:off x="457200" y="3355920"/>
            <a:ext cx="1906200" cy="731160"/>
          </a:xfrm>
          <a:prstGeom prst="roundRect">
            <a:avLst>
              <a:gd name="adj" fmla="val 10000"/>
            </a:avLst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25"/>
          <p:cNvSpPr/>
          <p:nvPr/>
        </p:nvSpPr>
        <p:spPr>
          <a:xfrm>
            <a:off x="585360" y="3401640"/>
            <a:ext cx="1686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Now: competition build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Simulator, engine, console, AI assistant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Shape 26"/>
          <p:cNvSpPr/>
          <p:nvPr/>
        </p:nvSpPr>
        <p:spPr>
          <a:xfrm>
            <a:off x="2381760" y="3721320"/>
            <a:ext cx="1645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Shape 27"/>
          <p:cNvSpPr/>
          <p:nvPr/>
        </p:nvSpPr>
        <p:spPr>
          <a:xfrm>
            <a:off x="2565000" y="3355920"/>
            <a:ext cx="1906200" cy="731160"/>
          </a:xfrm>
          <a:prstGeom prst="roundRect">
            <a:avLst>
              <a:gd name="adj" fmla="val 10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28"/>
          <p:cNvSpPr/>
          <p:nvPr/>
        </p:nvSpPr>
        <p:spPr>
          <a:xfrm>
            <a:off x="2692800" y="3401640"/>
            <a:ext cx="1686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Months 1–6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Real connectors and five pilot audits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29"/>
          <p:cNvSpPr/>
          <p:nvPr/>
        </p:nvSpPr>
        <p:spPr>
          <a:xfrm>
            <a:off x="4489560" y="3721320"/>
            <a:ext cx="1645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Shape 30"/>
          <p:cNvSpPr/>
          <p:nvPr/>
        </p:nvSpPr>
        <p:spPr>
          <a:xfrm>
            <a:off x="4672440" y="3355920"/>
            <a:ext cx="1906200" cy="73116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31"/>
          <p:cNvSpPr/>
          <p:nvPr/>
        </p:nvSpPr>
        <p:spPr>
          <a:xfrm>
            <a:off x="4800600" y="3401640"/>
            <a:ext cx="1686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Months 7–12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Desktop app, workforce part, SOC 2 audit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32"/>
          <p:cNvSpPr/>
          <p:nvPr/>
        </p:nvSpPr>
        <p:spPr>
          <a:xfrm>
            <a:off x="6597360" y="3721320"/>
            <a:ext cx="16452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33"/>
          <p:cNvSpPr/>
          <p:nvPr/>
        </p:nvSpPr>
        <p:spPr>
          <a:xfrm>
            <a:off x="6780240" y="3355920"/>
            <a:ext cx="1906200" cy="73116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34"/>
          <p:cNvSpPr/>
          <p:nvPr/>
        </p:nvSpPr>
        <p:spPr>
          <a:xfrm>
            <a:off x="6908400" y="3401640"/>
            <a:ext cx="1686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Months 13–24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AI agents, service accounts, EU launch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35"/>
          <p:cNvSpPr/>
          <p:nvPr/>
        </p:nvSpPr>
        <p:spPr>
          <a:xfrm>
            <a:off x="457200" y="422460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Open source plan: release the sequence-scoring library and the company simulator.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PlaceHolder 3"/>
          <p:cNvSpPr>
            <a:spLocks noGrp="1"/>
          </p:cNvSpPr>
          <p:nvPr>
            <p:ph type="sldNum" idx="19"/>
          </p:nvPr>
        </p:nvSpPr>
        <p:spPr>
          <a:xfrm>
            <a:off x="8366760" y="480060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F3DB1F-612A-4C9C-B22C-E69986CE6F74}" type="slidenum">
              <a:rPr lang="en-US" sz="900" b="0" u="none" strike="noStrike">
                <a:solidFill>
                  <a:srgbClr val="475569"/>
                </a:solidFill>
                <a:effectLst/>
                <a:uFillTx/>
                <a:latin typeface="Calibri"/>
              </a:rPr>
              <a:t>16</a:t>
            </a:fld>
            <a:endParaRPr lang="en-IN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7040520" cy="4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Team and references</a:t>
            </a:r>
            <a:endParaRPr lang="en-IN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"/>
          <p:cNvSpPr/>
          <p:nvPr/>
        </p:nvSpPr>
        <p:spPr>
          <a:xfrm>
            <a:off x="457200" y="914400"/>
            <a:ext cx="2559960" cy="1005480"/>
          </a:xfrm>
          <a:prstGeom prst="roundRect">
            <a:avLst>
              <a:gd name="adj" fmla="val 7273"/>
            </a:avLst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Shape 2"/>
          <p:cNvSpPr/>
          <p:nvPr/>
        </p:nvSpPr>
        <p:spPr>
          <a:xfrm>
            <a:off x="567000" y="118872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7" name="Image 0" descr="preencoded.png"/>
          <p:cNvPicPr/>
          <p:nvPr/>
        </p:nvPicPr>
        <p:blipFill>
          <a:blip r:embed="rId3"/>
          <a:stretch/>
        </p:blipFill>
        <p:spPr>
          <a:xfrm>
            <a:off x="676800" y="129852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8" name="Text 3"/>
          <p:cNvSpPr/>
          <p:nvPr/>
        </p:nvSpPr>
        <p:spPr>
          <a:xfrm>
            <a:off x="1134000" y="960120"/>
            <a:ext cx="17917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Team Purple Crocs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4"/>
          <p:cNvSpPr/>
          <p:nvPr/>
        </p:nvSpPr>
        <p:spPr>
          <a:xfrm>
            <a:off x="3017520" y="141732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Shape 5"/>
          <p:cNvSpPr/>
          <p:nvPr/>
        </p:nvSpPr>
        <p:spPr>
          <a:xfrm>
            <a:off x="3246120" y="1143000"/>
            <a:ext cx="360" cy="548640"/>
          </a:xfrm>
          <a:prstGeom prst="line">
            <a:avLst/>
          </a:prstGeom>
          <a:ln w="22320">
            <a:solidFill>
              <a:srgbClr val="64748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Shape 6"/>
          <p:cNvSpPr/>
          <p:nvPr/>
        </p:nvSpPr>
        <p:spPr>
          <a:xfrm>
            <a:off x="3246120" y="114300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7"/>
          <p:cNvSpPr/>
          <p:nvPr/>
        </p:nvSpPr>
        <p:spPr>
          <a:xfrm>
            <a:off x="3246120" y="1691640"/>
            <a:ext cx="228600" cy="360"/>
          </a:xfrm>
          <a:prstGeom prst="line">
            <a:avLst/>
          </a:prstGeom>
          <a:ln w="2232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8"/>
          <p:cNvSpPr/>
          <p:nvPr/>
        </p:nvSpPr>
        <p:spPr>
          <a:xfrm>
            <a:off x="3474720" y="914400"/>
            <a:ext cx="2742840" cy="456840"/>
          </a:xfrm>
          <a:prstGeom prst="roundRect">
            <a:avLst>
              <a:gd name="adj" fmla="val 16000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Shape 9"/>
          <p:cNvSpPr/>
          <p:nvPr/>
        </p:nvSpPr>
        <p:spPr>
          <a:xfrm>
            <a:off x="3584520" y="996840"/>
            <a:ext cx="292320" cy="29232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5" name="Image 1" descr="preencoded.png"/>
          <p:cNvPicPr/>
          <p:nvPr/>
        </p:nvPicPr>
        <p:blipFill>
          <a:blip r:embed="rId4"/>
          <a:stretch/>
        </p:blipFill>
        <p:spPr>
          <a:xfrm>
            <a:off x="3654720" y="106704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6" name="Text 10"/>
          <p:cNvSpPr/>
          <p:nvPr/>
        </p:nvSpPr>
        <p:spPr>
          <a:xfrm>
            <a:off x="3986640" y="960120"/>
            <a:ext cx="2139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Aarav Gupta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Shape 11"/>
          <p:cNvSpPr/>
          <p:nvPr/>
        </p:nvSpPr>
        <p:spPr>
          <a:xfrm>
            <a:off x="3474720" y="1463040"/>
            <a:ext cx="274284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12"/>
          <p:cNvSpPr/>
          <p:nvPr/>
        </p:nvSpPr>
        <p:spPr>
          <a:xfrm>
            <a:off x="3584520" y="1545480"/>
            <a:ext cx="292320" cy="29232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9" name="Image 2" descr="preencoded.png"/>
          <p:cNvPicPr/>
          <p:nvPr/>
        </p:nvPicPr>
        <p:blipFill>
          <a:blip r:embed="rId4"/>
          <a:stretch/>
        </p:blipFill>
        <p:spPr>
          <a:xfrm>
            <a:off x="3654720" y="1615680"/>
            <a:ext cx="151920" cy="15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0" name="Text 13"/>
          <p:cNvSpPr/>
          <p:nvPr/>
        </p:nvSpPr>
        <p:spPr>
          <a:xfrm>
            <a:off x="3986640" y="1508760"/>
            <a:ext cx="2139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</a:rPr>
              <a:t>Aankhi Roy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14"/>
          <p:cNvSpPr/>
          <p:nvPr/>
        </p:nvSpPr>
        <p:spPr>
          <a:xfrm>
            <a:off x="457200" y="210312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9A65"/>
                </a:solidFill>
                <a:effectLst/>
                <a:uFillTx/>
                <a:latin typeface="Calibri"/>
                <a:ea typeface="Calibri"/>
              </a:rPr>
              <a:t>References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Shape 15"/>
          <p:cNvSpPr/>
          <p:nvPr/>
        </p:nvSpPr>
        <p:spPr>
          <a:xfrm>
            <a:off x="457200" y="2359080"/>
            <a:ext cx="402300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16"/>
          <p:cNvSpPr/>
          <p:nvPr/>
        </p:nvSpPr>
        <p:spPr>
          <a:xfrm>
            <a:off x="548640" y="2450520"/>
            <a:ext cx="273960" cy="27396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4" name="Image 3" descr="preencoded.png"/>
          <p:cNvPicPr/>
          <p:nvPr/>
        </p:nvPicPr>
        <p:blipFill>
          <a:blip r:embed="rId5"/>
          <a:stretch/>
        </p:blipFill>
        <p:spPr>
          <a:xfrm>
            <a:off x="614520" y="25164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5" name="Text 17"/>
          <p:cNvSpPr/>
          <p:nvPr/>
        </p:nvSpPr>
        <p:spPr>
          <a:xfrm>
            <a:off x="914400" y="235908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sng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  <a:hlinkClick r:id="rId6"/>
              </a:rPr>
              <a:t>CMU CERT Insider Threat Test Dataset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Shape 18"/>
          <p:cNvSpPr/>
          <p:nvPr/>
        </p:nvSpPr>
        <p:spPr>
          <a:xfrm>
            <a:off x="4663440" y="2359080"/>
            <a:ext cx="402300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Shape 19"/>
          <p:cNvSpPr/>
          <p:nvPr/>
        </p:nvSpPr>
        <p:spPr>
          <a:xfrm>
            <a:off x="4754880" y="2450520"/>
            <a:ext cx="273960" cy="27396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8" name="Image 4" descr="preencoded.png"/>
          <p:cNvPicPr/>
          <p:nvPr/>
        </p:nvPicPr>
        <p:blipFill>
          <a:blip r:embed="rId5"/>
          <a:stretch/>
        </p:blipFill>
        <p:spPr>
          <a:xfrm>
            <a:off x="4820760" y="25164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9" name="Text 20"/>
          <p:cNvSpPr/>
          <p:nvPr/>
        </p:nvSpPr>
        <p:spPr>
          <a:xfrm>
            <a:off x="5120640" y="235908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sng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  <a:hlinkClick r:id="rId7"/>
              </a:rPr>
              <a:t>Glasser and Lindauer, insider threat data, 2013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Shape 21"/>
          <p:cNvSpPr/>
          <p:nvPr/>
        </p:nvSpPr>
        <p:spPr>
          <a:xfrm>
            <a:off x="457200" y="2907720"/>
            <a:ext cx="4023000" cy="45684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Shape 22"/>
          <p:cNvSpPr/>
          <p:nvPr/>
        </p:nvSpPr>
        <p:spPr>
          <a:xfrm>
            <a:off x="548640" y="2999160"/>
            <a:ext cx="273960" cy="273960"/>
          </a:xfrm>
          <a:prstGeom prst="ellipse">
            <a:avLst/>
          </a:prstGeom>
          <a:solidFill>
            <a:srgbClr val="009A6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2" name="Image 5" descr="preencoded.png"/>
          <p:cNvPicPr/>
          <p:nvPr/>
        </p:nvPicPr>
        <p:blipFill>
          <a:blip r:embed="rId5"/>
          <a:stretch/>
        </p:blipFill>
        <p:spPr>
          <a:xfrm>
            <a:off x="614520" y="306504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3" name="Text 23"/>
          <p:cNvSpPr/>
          <p:nvPr/>
        </p:nvSpPr>
        <p:spPr>
          <a:xfrm>
            <a:off x="914400" y="290772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sng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  <a:hlinkClick r:id="rId8"/>
              </a:rPr>
              <a:t>Du et al., DeepLog log anomaly detection, 2017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Shape 24"/>
          <p:cNvSpPr/>
          <p:nvPr/>
        </p:nvSpPr>
        <p:spPr>
          <a:xfrm>
            <a:off x="4663440" y="2907720"/>
            <a:ext cx="4023000" cy="456840"/>
          </a:xfrm>
          <a:prstGeom prst="roundRect">
            <a:avLst>
              <a:gd name="adj" fmla="val 16000"/>
            </a:avLst>
          </a:prstGeom>
          <a:solidFill>
            <a:srgbClr val="FCE7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Shape 25"/>
          <p:cNvSpPr/>
          <p:nvPr/>
        </p:nvSpPr>
        <p:spPr>
          <a:xfrm>
            <a:off x="4754880" y="2999160"/>
            <a:ext cx="273960" cy="273960"/>
          </a:xfrm>
          <a:prstGeom prst="ellipse">
            <a:avLst/>
          </a:prstGeom>
          <a:solidFill>
            <a:srgbClr val="DB277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6" name="Image 6" descr="preencoded.png"/>
          <p:cNvPicPr/>
          <p:nvPr/>
        </p:nvPicPr>
        <p:blipFill>
          <a:blip r:embed="rId5"/>
          <a:stretch/>
        </p:blipFill>
        <p:spPr>
          <a:xfrm>
            <a:off x="4820760" y="306504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7" name="Text 26"/>
          <p:cNvSpPr/>
          <p:nvPr/>
        </p:nvSpPr>
        <p:spPr>
          <a:xfrm>
            <a:off x="5120640" y="290772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sng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  <a:hlinkClick r:id="rId9"/>
              </a:rPr>
              <a:t>Greshake et al., indirect prompt injection, 2023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27"/>
          <p:cNvSpPr/>
          <p:nvPr/>
        </p:nvSpPr>
        <p:spPr>
          <a:xfrm>
            <a:off x="457200" y="3456360"/>
            <a:ext cx="4023000" cy="45684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Shape 28"/>
          <p:cNvSpPr/>
          <p:nvPr/>
        </p:nvSpPr>
        <p:spPr>
          <a:xfrm>
            <a:off x="548640" y="3547800"/>
            <a:ext cx="273960" cy="273960"/>
          </a:xfrm>
          <a:prstGeom prst="ellipse">
            <a:avLst/>
          </a:prstGeom>
          <a:solidFill>
            <a:srgbClr val="0891B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0" name="Image 7" descr="preencoded.png"/>
          <p:cNvPicPr/>
          <p:nvPr/>
        </p:nvPicPr>
        <p:blipFill>
          <a:blip r:embed="rId5"/>
          <a:stretch/>
        </p:blipFill>
        <p:spPr>
          <a:xfrm>
            <a:off x="614520" y="36136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1" name="Text 29"/>
          <p:cNvSpPr/>
          <p:nvPr/>
        </p:nvSpPr>
        <p:spPr>
          <a:xfrm>
            <a:off x="914400" y="345636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sng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  <a:hlinkClick r:id="rId10"/>
              </a:rPr>
              <a:t>Survey of deep learning for insider threat, 2020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Shape 30"/>
          <p:cNvSpPr/>
          <p:nvPr/>
        </p:nvSpPr>
        <p:spPr>
          <a:xfrm>
            <a:off x="4663440" y="3456360"/>
            <a:ext cx="4023000" cy="45684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31"/>
          <p:cNvSpPr/>
          <p:nvPr/>
        </p:nvSpPr>
        <p:spPr>
          <a:xfrm>
            <a:off x="4754880" y="3547800"/>
            <a:ext cx="273960" cy="273960"/>
          </a:xfrm>
          <a:prstGeom prst="ellipse">
            <a:avLst/>
          </a:prstGeom>
          <a:solidFill>
            <a:srgbClr val="EA580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4" name="Image 8" descr="preencoded.png"/>
          <p:cNvPicPr/>
          <p:nvPr/>
        </p:nvPicPr>
        <p:blipFill>
          <a:blip r:embed="rId5"/>
          <a:stretch/>
        </p:blipFill>
        <p:spPr>
          <a:xfrm>
            <a:off x="4820760" y="361368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5" name="Text 32"/>
          <p:cNvSpPr/>
          <p:nvPr/>
        </p:nvSpPr>
        <p:spPr>
          <a:xfrm>
            <a:off x="5120640" y="345636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sng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  <a:hlinkClick r:id="rId11"/>
              </a:rPr>
              <a:t>MITRE ATT&amp;CK, attacker techniques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Shape 33"/>
          <p:cNvSpPr/>
          <p:nvPr/>
        </p:nvSpPr>
        <p:spPr>
          <a:xfrm>
            <a:off x="457200" y="4005000"/>
            <a:ext cx="402300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Shape 34"/>
          <p:cNvSpPr/>
          <p:nvPr/>
        </p:nvSpPr>
        <p:spPr>
          <a:xfrm>
            <a:off x="548640" y="4096440"/>
            <a:ext cx="273960" cy="27396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8" name="Image 9" descr="preencoded.png"/>
          <p:cNvPicPr/>
          <p:nvPr/>
        </p:nvPicPr>
        <p:blipFill>
          <a:blip r:embed="rId5"/>
          <a:stretch/>
        </p:blipFill>
        <p:spPr>
          <a:xfrm>
            <a:off x="614520" y="41623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9" name="Text 35"/>
          <p:cNvSpPr/>
          <p:nvPr/>
        </p:nvSpPr>
        <p:spPr>
          <a:xfrm>
            <a:off x="914400" y="400500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sng" strike="noStrike">
                <a:solidFill>
                  <a:srgbClr val="1E1B4B"/>
                </a:solidFill>
                <a:effectLst/>
                <a:uFillTx/>
                <a:latin typeface="Calibri"/>
                <a:ea typeface="Calibri"/>
                <a:hlinkClick r:id="rId12"/>
              </a:rPr>
              <a:t>OCSF, open event schema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36"/>
          <p:cNvSpPr/>
          <p:nvPr/>
        </p:nvSpPr>
        <p:spPr>
          <a:xfrm>
            <a:off x="4663440" y="4005000"/>
            <a:ext cx="4023000" cy="45684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1" name="Shape 37"/>
          <p:cNvSpPr/>
          <p:nvPr/>
        </p:nvSpPr>
        <p:spPr>
          <a:xfrm>
            <a:off x="4754880" y="4096440"/>
            <a:ext cx="273960" cy="273960"/>
          </a:xfrm>
          <a:prstGeom prst="ellipse">
            <a:avLst/>
          </a:prstGeom>
          <a:solidFill>
            <a:srgbClr val="47556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12" name="Image 10" descr="preencoded.png"/>
          <p:cNvPicPr/>
          <p:nvPr/>
        </p:nvPicPr>
        <p:blipFill>
          <a:blip r:embed="rId13"/>
          <a:stretch/>
        </p:blipFill>
        <p:spPr>
          <a:xfrm>
            <a:off x="4820760" y="416232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38"/>
          <p:cNvSpPr/>
          <p:nvPr/>
        </p:nvSpPr>
        <p:spPr>
          <a:xfrm>
            <a:off x="5120640" y="400500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dirty="0">
                <a:solidFill>
                  <a:srgbClr val="1E1B4B"/>
                </a:solidFill>
                <a:latin typeface="Calibri"/>
                <a:ea typeface="Calibri"/>
                <a:hlinkClick r:id="rId14"/>
              </a:rPr>
              <a:t>Link to GitHub repository</a:t>
            </a:r>
            <a:endParaRPr lang="en-IN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6">
            <a:extLst>
              <a:ext uri="{FF2B5EF4-FFF2-40B4-BE49-F238E27FC236}">
                <a16:creationId xmlns:a16="http://schemas.microsoft.com/office/drawing/2014/main" id="{5F9F51EA-E241-6FBC-710B-DB275BA49C67}"/>
              </a:ext>
            </a:extLst>
          </p:cNvPr>
          <p:cNvSpPr/>
          <p:nvPr/>
        </p:nvSpPr>
        <p:spPr>
          <a:xfrm>
            <a:off x="457200" y="4572180"/>
            <a:ext cx="8229240" cy="456840"/>
          </a:xfrm>
          <a:prstGeom prst="roundRect">
            <a:avLst>
              <a:gd name="adj" fmla="val 16000"/>
            </a:avLst>
          </a:prstGeom>
          <a:solidFill>
            <a:schemeClr val="accent3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7">
            <a:extLst>
              <a:ext uri="{FF2B5EF4-FFF2-40B4-BE49-F238E27FC236}">
                <a16:creationId xmlns:a16="http://schemas.microsoft.com/office/drawing/2014/main" id="{1E08E17E-6E97-C63B-24BF-D05400003FD2}"/>
              </a:ext>
            </a:extLst>
          </p:cNvPr>
          <p:cNvSpPr/>
          <p:nvPr/>
        </p:nvSpPr>
        <p:spPr>
          <a:xfrm>
            <a:off x="548640" y="4663620"/>
            <a:ext cx="273960" cy="273960"/>
          </a:xfrm>
          <a:prstGeom prst="ellipse">
            <a:avLst/>
          </a:prstGeom>
          <a:solidFill>
            <a:schemeClr val="accent3">
              <a:lumMod val="7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" name="Image 10" descr="preencoded.png">
            <a:extLst>
              <a:ext uri="{FF2B5EF4-FFF2-40B4-BE49-F238E27FC236}">
                <a16:creationId xmlns:a16="http://schemas.microsoft.com/office/drawing/2014/main" id="{80E08A99-E46B-347B-8370-198487F974C6}"/>
              </a:ext>
            </a:extLst>
          </p:cNvPr>
          <p:cNvPicPr/>
          <p:nvPr/>
        </p:nvPicPr>
        <p:blipFill>
          <a:blip r:embed="rId13"/>
          <a:stretch/>
        </p:blipFill>
        <p:spPr>
          <a:xfrm>
            <a:off x="614520" y="4729500"/>
            <a:ext cx="142200" cy="1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Text 38">
            <a:extLst>
              <a:ext uri="{FF2B5EF4-FFF2-40B4-BE49-F238E27FC236}">
                <a16:creationId xmlns:a16="http://schemas.microsoft.com/office/drawing/2014/main" id="{4EF2A6C6-CAF3-C03B-845C-D3849A58A071}"/>
              </a:ext>
            </a:extLst>
          </p:cNvPr>
          <p:cNvSpPr/>
          <p:nvPr/>
        </p:nvSpPr>
        <p:spPr>
          <a:xfrm>
            <a:off x="914400" y="457218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1E1B4B"/>
                </a:solidFill>
                <a:effectLst/>
                <a:uFillTx/>
                <a:latin typeface="Calibri"/>
                <a:ea typeface="Calibri"/>
                <a:hlinkClick r:id="rId15"/>
              </a:rPr>
              <a:t>Link to live demo</a:t>
            </a:r>
            <a:endParaRPr lang="en-IN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llTale Purple Crocs">
  <a:themeElements>
    <a:clrScheme name="tellTale Purple Crocs">
      <a:dk1>
        <a:srgbClr val="1E1B4B"/>
      </a:dk1>
      <a:lt1>
        <a:srgbClr val="FFFFFF"/>
      </a:lt1>
      <a:dk2>
        <a:srgbClr val="334155"/>
      </a:dk2>
      <a:lt2>
        <a:srgbClr val="ECFDF5"/>
      </a:lt2>
      <a:accent1>
        <a:srgbClr val="009A65"/>
      </a:accent1>
      <a:accent2>
        <a:srgbClr val="0D9488"/>
      </a:accent2>
      <a:accent3>
        <a:srgbClr val="EA580C"/>
      </a:accent3>
      <a:accent4>
        <a:srgbClr val="DB2777"/>
      </a:accent4>
      <a:accent5>
        <a:srgbClr val="2563EB"/>
      </a:accent5>
      <a:accent6>
        <a:srgbClr val="D97706"/>
      </a:accent6>
      <a:hlink>
        <a:srgbClr val="2563EB"/>
      </a:hlink>
      <a:folHlink>
        <a:srgbClr val="04785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llTale Purple Crocs">
  <a:themeElements>
    <a:clrScheme name="tellTale Purple Crocs">
      <a:dk1>
        <a:srgbClr val="1E1B4B"/>
      </a:dk1>
      <a:lt1>
        <a:srgbClr val="FFFFFF"/>
      </a:lt1>
      <a:dk2>
        <a:srgbClr val="334155"/>
      </a:dk2>
      <a:lt2>
        <a:srgbClr val="ECFDF5"/>
      </a:lt2>
      <a:accent1>
        <a:srgbClr val="009A65"/>
      </a:accent1>
      <a:accent2>
        <a:srgbClr val="0D9488"/>
      </a:accent2>
      <a:accent3>
        <a:srgbClr val="EA580C"/>
      </a:accent3>
      <a:accent4>
        <a:srgbClr val="DB2777"/>
      </a:accent4>
      <a:accent5>
        <a:srgbClr val="2563EB"/>
      </a:accent5>
      <a:accent6>
        <a:srgbClr val="D97706"/>
      </a:accent6>
      <a:hlink>
        <a:srgbClr val="2563EB"/>
      </a:hlink>
      <a:folHlink>
        <a:srgbClr val="04785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llTale Purple Crocs">
  <a:themeElements>
    <a:clrScheme name="tellTale Purple Crocs">
      <a:dk1>
        <a:srgbClr val="1E1B4B"/>
      </a:dk1>
      <a:lt1>
        <a:srgbClr val="FFFFFF"/>
      </a:lt1>
      <a:dk2>
        <a:srgbClr val="334155"/>
      </a:dk2>
      <a:lt2>
        <a:srgbClr val="ECFDF5"/>
      </a:lt2>
      <a:accent1>
        <a:srgbClr val="009A65"/>
      </a:accent1>
      <a:accent2>
        <a:srgbClr val="0D9488"/>
      </a:accent2>
      <a:accent3>
        <a:srgbClr val="EA580C"/>
      </a:accent3>
      <a:accent4>
        <a:srgbClr val="DB2777"/>
      </a:accent4>
      <a:accent5>
        <a:srgbClr val="2563EB"/>
      </a:accent5>
      <a:accent6>
        <a:srgbClr val="D97706"/>
      </a:accent6>
      <a:hlink>
        <a:srgbClr val="2563EB"/>
      </a:hlink>
      <a:folHlink>
        <a:srgbClr val="04785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</TotalTime>
  <Words>2358</Words>
  <Application>Microsoft Office PowerPoint</Application>
  <PresentationFormat>On-screen Show (16:9)</PresentationFormat>
  <Paragraphs>404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Symbol</vt:lpstr>
      <vt:lpstr>Times New Roman</vt:lpstr>
      <vt:lpstr>Wingdings</vt:lpstr>
      <vt:lpstr>tellTale Purple Crocs</vt:lpstr>
      <vt:lpstr>tellTale Purple Crocs</vt:lpstr>
      <vt:lpstr>tellTale Purple Crocs</vt:lpstr>
      <vt:lpstr>tellTale</vt:lpstr>
      <vt:lpstr>The problem</vt:lpstr>
      <vt:lpstr>Why current tools fall short</vt:lpstr>
      <vt:lpstr>Existing tools and where tellTale differs</vt:lpstr>
      <vt:lpstr>What tellTale is</vt:lpstr>
      <vt:lpstr>How the security part works</vt:lpstr>
      <vt:lpstr>Step 1: is the behaviour unusual?</vt:lpstr>
      <vt:lpstr>Step 2: was it approved?</vt:lpstr>
      <vt:lpstr>One command, three outcomes</vt:lpstr>
      <vt:lpstr>Steps 3 and 4: score, explain, decide</vt:lpstr>
      <vt:lpstr>The workforce part</vt:lpstr>
      <vt:lpstr>Tech stack</vt:lpstr>
      <vt:lpstr>Feasibility</vt:lpstr>
      <vt:lpstr>Risks and how we handle them</vt:lpstr>
      <vt:lpstr>Legality</vt:lpstr>
      <vt:lpstr>Why it fits Mitigata, and what comes next</vt:lpstr>
      <vt:lpstr>Team and references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tellTale - Team Purple Crocs - CyberForge</dc:title>
  <dc:subject>PptxGenJS Presentation</dc:subject>
  <dc:creator>Team Purple Crocs</dc:creator>
  <dc:description/>
  <cp:lastModifiedBy>AARAV GUPTA - 251090580088 - MITMPL</cp:lastModifiedBy>
  <cp:revision>6</cp:revision>
  <dcterms:created xsi:type="dcterms:W3CDTF">2026-10-17T06:20:33Z</dcterms:created>
  <dcterms:modified xsi:type="dcterms:W3CDTF">2026-10-18T04:59:37Z</dcterms:modified>
  <dc:language>en-IN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18</vt:r8>
  </property>
  <property fmtid="{D5CDD505-2E9C-101B-9397-08002B2CF9AE}" pid="3" name="PresentationFormat">
    <vt:lpwstr>On-screen Show (16:9)</vt:lpwstr>
  </property>
  <property fmtid="{D5CDD505-2E9C-101B-9397-08002B2CF9AE}" pid="4" name="Slides">
    <vt:r8>18</vt:r8>
  </property>
</Properties>
</file>