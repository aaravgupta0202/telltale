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Behaviour</c:v>
                </c:pt>
              </c:strCache>
            </c:strRef>
          </c:tx>
          <c:spPr>
            <a:solidFill>
              <a:srgbClr val="009A65"/>
            </a:solidFill>
            <a:ln w="50800" cap="flat">
              <a:solidFill>
                <a:srgbClr val="009A6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A65"/>
              </a:solidFill>
              <a:ln w="9525" cap="flat">
                <a:solidFill>
                  <a:srgbClr val="009A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</c:v>
                </c:pt>
                <c:pt idx="1">
                  <c:v>10.4</c:v>
                </c:pt>
                <c:pt idx="2">
                  <c:v>9.8</c:v>
                </c:pt>
                <c:pt idx="3">
                  <c:v>10.5</c:v>
                </c:pt>
                <c:pt idx="4">
                  <c:v>10</c:v>
                </c:pt>
                <c:pt idx="5">
                  <c:v>10.3</c:v>
                </c:pt>
                <c:pt idx="6">
                  <c:v>9.9</c:v>
                </c:pt>
                <c:pt idx="7">
                  <c:v>10.2</c:v>
                </c:pt>
                <c:pt idx="8">
                  <c:v>10.1</c:v>
                </c:pt>
                <c:pt idx="9">
                  <c:v>10.6</c:v>
                </c:pt>
                <c:pt idx="10">
                  <c:v>11.5</c:v>
                </c:pt>
                <c:pt idx="11">
                  <c:v>13.5</c:v>
                </c:pt>
                <c:pt idx="12">
                  <c:v>17</c:v>
                </c:pt>
                <c:pt idx="13">
                  <c:v>22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2743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38160" y="2743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A65"/>
                </a:solidFill>
              </a:rPr>
              <a:t>tellTale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91640" y="868680"/>
            <a:ext cx="3840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chart" Target="../charts/chart1.xml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5.png"/><Relationship Id="rId1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hyperlink" Target="https://www.sei.cmu.edu/library/insider-threat-test-dataset/" TargetMode="External"/><Relationship Id="rId6" Type="http://schemas.openxmlformats.org/officeDocument/2006/relationships/image" Target="../media/image-18-5.png"/><Relationship Id="rId7" Type="http://schemas.openxmlformats.org/officeDocument/2006/relationships/hyperlink" Target="https://www.ieee-security.org/TC/SPW2013/papers/data/5017a098.pdf" TargetMode="External"/><Relationship Id="rId8" Type="http://schemas.openxmlformats.org/officeDocument/2006/relationships/image" Target="../media/image-18-6.png"/><Relationship Id="rId9" Type="http://schemas.openxmlformats.org/officeDocument/2006/relationships/hyperlink" Target="https://users.cs.utah.edu/~lifeifei/papers/deeplog.pdf" TargetMode="External"/><Relationship Id="rId10" Type="http://schemas.openxmlformats.org/officeDocument/2006/relationships/image" Target="../media/image-18-7.png"/><Relationship Id="rId11" Type="http://schemas.openxmlformats.org/officeDocument/2006/relationships/hyperlink" Target="https://arxiv.org/abs/2302.12173" TargetMode="External"/><Relationship Id="rId12" Type="http://schemas.openxmlformats.org/officeDocument/2006/relationships/image" Target="../media/image-18-8.png"/><Relationship Id="rId13" Type="http://schemas.openxmlformats.org/officeDocument/2006/relationships/hyperlink" Target="https://arxiv.org/abs/2005.12433" TargetMode="External"/><Relationship Id="rId14" Type="http://schemas.openxmlformats.org/officeDocument/2006/relationships/image" Target="../media/image-18-9.png"/><Relationship Id="rId15" Type="http://schemas.openxmlformats.org/officeDocument/2006/relationships/hyperlink" Target="https://attack.mitre.org" TargetMode="External"/><Relationship Id="rId16" Type="http://schemas.openxmlformats.org/officeDocument/2006/relationships/image" Target="../media/image-18-10.png"/><Relationship Id="rId17" Type="http://schemas.openxmlformats.org/officeDocument/2006/relationships/hyperlink" Target="https://schema.ocsf.io" TargetMode="External"/><Relationship Id="rId18" Type="http://schemas.openxmlformats.org/officeDocument/2006/relationships/image" Target="../media/image-18-11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91640" y="868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tellTale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Finds hacked and insider work accounts by spotting when their behaviour starts to change. Also includes a work-time module for HR.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15468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009A65"/>
          </a:solidFill>
          <a:ln/>
        </p:spPr>
      </p:sp>
      <p:sp>
        <p:nvSpPr>
          <p:cNvPr id="6" name="Shape 3"/>
          <p:cNvSpPr/>
          <p:nvPr/>
        </p:nvSpPr>
        <p:spPr>
          <a:xfrm>
            <a:off x="658368" y="32826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0" y="3374868"/>
            <a:ext cx="199705" cy="199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" y="320040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Purple Crocs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Gupta and Aankhi Roy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93192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10" name="Shape 6"/>
          <p:cNvSpPr/>
          <p:nvPr/>
        </p:nvSpPr>
        <p:spPr>
          <a:xfrm>
            <a:off x="658368" y="401421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0" y="4106388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52144" y="397764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CyberForge by Mitigata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AI and Cybersecurity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212080" y="86868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ECFDF5"/>
          </a:solidFill>
          <a:ln/>
        </p:spPr>
      </p:sp>
      <p:graphicFrame>
        <p:nvGraphicFramePr>
          <p:cNvPr id="14" name="Chart 0" descr=""/>
          <p:cNvGraphicFramePr/>
          <p:nvPr/>
        </p:nvGraphicFramePr>
        <p:xfrm>
          <a:off x="5349240" y="914400"/>
          <a:ext cx="3200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5440680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routine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6858000" y="24871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349240" y="281635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8" name="Shape 12"/>
          <p:cNvSpPr/>
          <p:nvPr/>
        </p:nvSpPr>
        <p:spPr>
          <a:xfrm>
            <a:off x="5458968" y="2898648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194" y="2968874"/>
            <a:ext cx="152156" cy="1521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861304" y="286207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part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hacked and insider accounts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349240" y="336499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22" name="Shape 15"/>
          <p:cNvSpPr/>
          <p:nvPr/>
        </p:nvSpPr>
        <p:spPr>
          <a:xfrm>
            <a:off x="5458968" y="3447288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9194" y="3517514"/>
            <a:ext cx="152156" cy="1521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861304" y="341071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part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time, idle time and app usage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349240" y="391363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6" name="Shape 18"/>
          <p:cNvSpPr/>
          <p:nvPr/>
        </p:nvSpPr>
        <p:spPr>
          <a:xfrm>
            <a:off x="5458968" y="399592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194" y="4066154"/>
            <a:ext cx="152156" cy="1521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861304" y="395935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laptop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hardware; works fully offline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One engineer’s work account over a week. Every single step is allowed on its own.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63040" cy="1207008"/>
          </a:xfrm>
          <a:prstGeom prst="roundRect">
            <a:avLst>
              <a:gd name="adj" fmla="val 6061"/>
            </a:avLst>
          </a:prstGeom>
          <a:solidFill>
            <a:srgbClr val="CFFAFE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27101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31" y="1345631"/>
            <a:ext cx="161666" cy="1616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16550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1920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coding work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38528" y="174650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1143000"/>
            <a:ext cx="1463040" cy="1207008"/>
          </a:xfrm>
          <a:prstGeom prst="roundRect">
            <a:avLst>
              <a:gd name="adj" fmla="val 6061"/>
            </a:avLst>
          </a:prstGeom>
          <a:solidFill>
            <a:srgbClr val="CFFAFE"/>
          </a:solidFill>
          <a:ln/>
        </p:spPr>
      </p:sp>
      <p:sp>
        <p:nvSpPr>
          <p:cNvPr id="11" name="Shape 8"/>
          <p:cNvSpPr/>
          <p:nvPr/>
        </p:nvSpPr>
        <p:spPr>
          <a:xfrm>
            <a:off x="2276856" y="127101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71" y="1345631"/>
            <a:ext cx="161666" cy="16166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76856" y="16550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20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another team’s setup guide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30168" y="174650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40480" y="1143000"/>
            <a:ext cx="1463040" cy="1207008"/>
          </a:xfrm>
          <a:prstGeom prst="roundRect">
            <a:avLst>
              <a:gd name="adj" fmla="val 6061"/>
            </a:avLst>
          </a:prstGeom>
          <a:solidFill>
            <a:srgbClr val="CFFAFE"/>
          </a:solidFill>
          <a:ln/>
        </p:spPr>
      </p:sp>
      <p:sp>
        <p:nvSpPr>
          <p:cNvPr id="17" name="Shape 13"/>
          <p:cNvSpPr/>
          <p:nvPr/>
        </p:nvSpPr>
        <p:spPr>
          <a:xfrm>
            <a:off x="3968496" y="127101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111" y="1345631"/>
            <a:ext cx="161666" cy="1616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68496" y="16550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68496" y="1920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another team’s code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21808" y="174650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32120" y="1143000"/>
            <a:ext cx="1463040" cy="1207008"/>
          </a:xfrm>
          <a:prstGeom prst="roundRect">
            <a:avLst>
              <a:gd name="adj" fmla="val 6061"/>
            </a:avLst>
          </a:prstGeom>
          <a:solidFill>
            <a:srgbClr val="CFFAFE"/>
          </a:solidFill>
          <a:ln/>
        </p:spPr>
      </p:sp>
      <p:sp>
        <p:nvSpPr>
          <p:cNvPr id="23" name="Shape 18"/>
          <p:cNvSpPr/>
          <p:nvPr/>
        </p:nvSpPr>
        <p:spPr>
          <a:xfrm>
            <a:off x="5660136" y="127101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751" y="1345631"/>
            <a:ext cx="161666" cy="16166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60136" y="16550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60136" y="1920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personal access key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013448" y="174650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223760" y="1143000"/>
            <a:ext cx="1463040" cy="1207008"/>
          </a:xfrm>
          <a:prstGeom prst="roundRect">
            <a:avLst>
              <a:gd name="adj" fmla="val 6061"/>
            </a:avLst>
          </a:prstGeom>
          <a:solidFill>
            <a:srgbClr val="EA580C"/>
          </a:solidFill>
          <a:ln/>
        </p:spPr>
      </p:sp>
      <p:sp>
        <p:nvSpPr>
          <p:cNvPr id="29" name="Shape 23"/>
          <p:cNvSpPr/>
          <p:nvPr/>
        </p:nvSpPr>
        <p:spPr>
          <a:xfrm>
            <a:off x="7351776" y="127101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391" y="1345631"/>
            <a:ext cx="161666" cy="16166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51776" y="16550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51776" y="1920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the code to an outside server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1188720" y="2350008"/>
            <a:ext cx="0" cy="21031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457200" y="25603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35" name="Shape 28"/>
          <p:cNvSpPr/>
          <p:nvPr/>
        </p:nvSpPr>
        <p:spPr>
          <a:xfrm>
            <a:off x="566928" y="271576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" y="2799161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24128" y="26060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normal tool sees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separate actions, each one allowed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3035808" y="2889504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3291840" y="25603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FEDD5"/>
          </a:solidFill>
          <a:ln/>
        </p:spPr>
      </p:sp>
      <p:sp>
        <p:nvSpPr>
          <p:cNvPr id="40" name="Shape 32"/>
          <p:cNvSpPr/>
          <p:nvPr/>
        </p:nvSpPr>
        <p:spPr>
          <a:xfrm>
            <a:off x="3401568" y="2715768"/>
            <a:ext cx="347472" cy="347472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4961" y="2799161"/>
            <a:ext cx="180685" cy="18068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3858768" y="26060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happened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plan to steal code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5870448" y="2889504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126480" y="25603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45" name="Shape 36"/>
          <p:cNvSpPr/>
          <p:nvPr/>
        </p:nvSpPr>
        <p:spPr>
          <a:xfrm>
            <a:off x="6236208" y="2715768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601" y="2799161"/>
            <a:ext cx="180685" cy="18068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693408" y="26060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tellTale notices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 drifting from Tuesday onwards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457200" y="3364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 to catch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457200" y="3611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/>
        </p:spPr>
      </p:sp>
      <p:sp>
        <p:nvSpPr>
          <p:cNvPr id="50" name="Shape 40"/>
          <p:cNvSpPr/>
          <p:nvPr/>
        </p:nvSpPr>
        <p:spPr>
          <a:xfrm>
            <a:off x="566928" y="3826764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21" y="3910157"/>
            <a:ext cx="180685" cy="18068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024128" y="365760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work changes too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roles, team moves and 2 a.m. emergencies look similar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3035808" y="4000500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43"/>
          <p:cNvSpPr/>
          <p:nvPr/>
        </p:nvSpPr>
        <p:spPr>
          <a:xfrm>
            <a:off x="3291840" y="3611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55" name="Shape 44"/>
          <p:cNvSpPr/>
          <p:nvPr/>
        </p:nvSpPr>
        <p:spPr>
          <a:xfrm>
            <a:off x="3401568" y="3826764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4961" y="3910157"/>
            <a:ext cx="180685" cy="18068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3858768" y="365760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theft hides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five files a night for 60 days never hits a daily limit</a:t>
            </a:r>
            <a:endParaRPr lang="en-US" sz="1200" dirty="0"/>
          </a:p>
        </p:txBody>
      </p:sp>
      <p:sp>
        <p:nvSpPr>
          <p:cNvPr id="58" name="Shape 46"/>
          <p:cNvSpPr/>
          <p:nvPr/>
        </p:nvSpPr>
        <p:spPr>
          <a:xfrm>
            <a:off x="5870448" y="4000500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6126480" y="3611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60" name="Shape 48"/>
          <p:cNvSpPr/>
          <p:nvPr/>
        </p:nvSpPr>
        <p:spPr>
          <a:xfrm>
            <a:off x="6236208" y="382676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9601" y="3910157"/>
            <a:ext cx="180685" cy="18068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693408" y="365760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is slow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report spending 2 to 4 hours on a single alert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457200" y="4498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to 4 hour figure comes from practitioner reports, not our own measurement.</a:t>
            </a:r>
            <a:endParaRPr lang="en-US" sz="95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tools fall short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Three gaps make teams ignore alerts. Under each gap is how tellTale fixes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2710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09" y="1354409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169164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at a time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195681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 miss step order and slow theft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58568" y="1783080"/>
            <a:ext cx="32918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06040" y="11430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CE7F3"/>
          </a:solidFill>
          <a:ln/>
        </p:spPr>
      </p:sp>
      <p:sp>
        <p:nvSpPr>
          <p:cNvPr id="11" name="Shape 8"/>
          <p:cNvSpPr/>
          <p:nvPr/>
        </p:nvSpPr>
        <p:spPr>
          <a:xfrm>
            <a:off x="2734056" y="1271016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449" y="13544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34056" y="169164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see approvals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734056" y="195681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on-call shifts and HR records are never checked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407408" y="1783080"/>
            <a:ext cx="32918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1430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/>
        </p:spPr>
      </p:sp>
      <p:sp>
        <p:nvSpPr>
          <p:cNvPr id="17" name="Shape 13"/>
          <p:cNvSpPr/>
          <p:nvPr/>
        </p:nvSpPr>
        <p:spPr>
          <a:xfrm>
            <a:off x="4882896" y="127101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289" y="1354409"/>
            <a:ext cx="180685" cy="1806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82896" y="169164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reasons given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82896" y="195681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score like 87 means hours of manual digging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56248" y="1783080"/>
            <a:ext cx="32918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903720" y="11430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EA580C"/>
          </a:solidFill>
          <a:ln/>
        </p:spPr>
      </p:sp>
      <p:sp>
        <p:nvSpPr>
          <p:cNvPr id="23" name="Shape 18"/>
          <p:cNvSpPr/>
          <p:nvPr/>
        </p:nvSpPr>
        <p:spPr>
          <a:xfrm>
            <a:off x="7031736" y="127101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29" y="1354409"/>
            <a:ext cx="180685" cy="18068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31736" y="169164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get ignored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031736" y="195681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turn the tool down and real attacks slip through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348740" y="2423160"/>
            <a:ext cx="0" cy="2286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457200" y="265176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/>
        </p:spPr>
      </p:sp>
      <p:sp>
        <p:nvSpPr>
          <p:cNvPr id="29" name="Shape 23"/>
          <p:cNvSpPr/>
          <p:nvPr/>
        </p:nvSpPr>
        <p:spPr>
          <a:xfrm>
            <a:off x="585216" y="277977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09" y="2863169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85216" y="320040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look at patterns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85216" y="34655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step order and slow change over weeks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497580" y="2423160"/>
            <a:ext cx="0" cy="2286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2606040" y="265176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/>
        </p:spPr>
      </p:sp>
      <p:sp>
        <p:nvSpPr>
          <p:cNvPr id="35" name="Shape 28"/>
          <p:cNvSpPr/>
          <p:nvPr/>
        </p:nvSpPr>
        <p:spPr>
          <a:xfrm>
            <a:off x="2734056" y="277977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7449" y="2863169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2734056" y="320040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checks records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2734056" y="34655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tickets, on-call and HR status, and spots fakes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646420" y="2423160"/>
            <a:ext cx="0" cy="2286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4754880" y="265176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/>
        </p:spPr>
      </p:sp>
      <p:sp>
        <p:nvSpPr>
          <p:cNvPr id="41" name="Shape 33"/>
          <p:cNvSpPr/>
          <p:nvPr/>
        </p:nvSpPr>
        <p:spPr>
          <a:xfrm>
            <a:off x="4882896" y="277977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289" y="2863169"/>
            <a:ext cx="180685" cy="18068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882896" y="320040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explains alerts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4882896" y="34655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with every event, plus an AI assistant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556248" y="3291840"/>
            <a:ext cx="34747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6903720" y="265176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0891B2"/>
          </a:solidFill>
          <a:ln/>
        </p:spPr>
      </p:sp>
      <p:sp>
        <p:nvSpPr>
          <p:cNvPr id="47" name="Shape 38"/>
          <p:cNvSpPr/>
          <p:nvPr/>
        </p:nvSpPr>
        <p:spPr>
          <a:xfrm>
            <a:off x="7031736" y="27797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5129" y="2863169"/>
            <a:ext cx="180685" cy="18068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031736" y="320040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clearer alerts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7031736" y="34655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can be checked in minutes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7795260" y="39319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53" name="Shape 43"/>
          <p:cNvSpPr/>
          <p:nvPr/>
        </p:nvSpPr>
        <p:spPr>
          <a:xfrm>
            <a:off x="566928" y="4219956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54" y="4290182"/>
            <a:ext cx="152156" cy="15215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69264" y="4160520"/>
            <a:ext cx="7626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not yet measured: half a basic tool’s false alarms, while still catching 90% of attacks</a:t>
            </a:r>
            <a:endParaRPr lang="en-US" sz="11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and where tellTale differs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There are already products in this space. Here is where each one falls short.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tellTale does instead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43560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5" y="1501445"/>
            <a:ext cx="142646" cy="14264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50976" y="138988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15727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13441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71216" y="13898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Microsoft 365, weak on GitHub and AWS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96128" y="15727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06440" y="13441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34456" y="138988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Okta, Google, GitHub and AWS stacks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189280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198424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2050085"/>
            <a:ext cx="142646" cy="14264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50976" y="19385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Exabeam, Securonix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532888" y="212140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743200" y="189280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871216" y="19385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setup; often 45 to 90 days before it is useful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596128" y="212140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806440" y="189280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93445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90 days of past logs on day one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57200" y="244144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28" name="Shape 24"/>
          <p:cNvSpPr/>
          <p:nvPr/>
        </p:nvSpPr>
        <p:spPr>
          <a:xfrm>
            <a:off x="566928" y="253288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5" y="2598725"/>
            <a:ext cx="142646" cy="14264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50976" y="248716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DTEX, Proofpoint ITM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2532888" y="267004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2743200" y="244144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2871216" y="2487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software installed on every laptop first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96128" y="267004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5806440" y="244144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5934456" y="248716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part needs no laptop software at all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57200" y="299008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8" name="Shape 33"/>
          <p:cNvSpPr/>
          <p:nvPr/>
        </p:nvSpPr>
        <p:spPr>
          <a:xfrm>
            <a:off x="566928" y="308152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3147365"/>
            <a:ext cx="142646" cy="14264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50976" y="303580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ITP, CrowdStrike Identity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532888" y="321868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2743200" y="299008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2871216" y="30358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login, not what happens after it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596128" y="321868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5806440" y="299008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5934456" y="303580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actions that follow a login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57200" y="353872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48" name="Shape 42"/>
          <p:cNvSpPr/>
          <p:nvPr/>
        </p:nvSpPr>
        <p:spPr>
          <a:xfrm>
            <a:off x="566928" y="363016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5" y="3696005"/>
            <a:ext cx="142646" cy="142646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950976" y="358444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ActivTrak, Hubstaff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2532888" y="376732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2743200" y="353872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2871216" y="3584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 time but detect no threats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5596128" y="376732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48"/>
          <p:cNvSpPr/>
          <p:nvPr/>
        </p:nvSpPr>
        <p:spPr>
          <a:xfrm>
            <a:off x="5806440" y="353872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5934456" y="358444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time and threat detection from one app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457200" y="408736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58" name="Shape 51"/>
          <p:cNvSpPr/>
          <p:nvPr/>
        </p:nvSpPr>
        <p:spPr>
          <a:xfrm>
            <a:off x="566928" y="417880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5" y="4244645"/>
            <a:ext cx="142646" cy="142646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950976" y="413308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Varonis</a:t>
            </a:r>
            <a:endParaRPr lang="en-US" sz="1100" dirty="0"/>
          </a:p>
        </p:txBody>
      </p:sp>
      <p:sp>
        <p:nvSpPr>
          <p:cNvPr id="61" name="Shape 53"/>
          <p:cNvSpPr/>
          <p:nvPr/>
        </p:nvSpPr>
        <p:spPr>
          <a:xfrm>
            <a:off x="2532888" y="43159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2" name="Shape 54"/>
          <p:cNvSpPr/>
          <p:nvPr/>
        </p:nvSpPr>
        <p:spPr>
          <a:xfrm>
            <a:off x="2743200" y="40873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63" name="Text 55"/>
          <p:cNvSpPr txBox="1"/>
          <p:nvPr/>
        </p:nvSpPr>
        <p:spPr>
          <a:xfrm>
            <a:off x="2871216" y="41330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file permissions, weaker on accounts</a:t>
            </a:r>
            <a:endParaRPr lang="en-US" sz="1050" dirty="0"/>
          </a:p>
        </p:txBody>
      </p:sp>
      <p:sp>
        <p:nvSpPr>
          <p:cNvPr id="64" name="Shape 56"/>
          <p:cNvSpPr/>
          <p:nvPr/>
        </p:nvSpPr>
        <p:spPr>
          <a:xfrm>
            <a:off x="5596128" y="43159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5" name="Shape 57"/>
          <p:cNvSpPr/>
          <p:nvPr/>
        </p:nvSpPr>
        <p:spPr>
          <a:xfrm>
            <a:off x="5806440" y="40873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66" name="Text 58"/>
          <p:cNvSpPr txBox="1"/>
          <p:nvPr/>
        </p:nvSpPr>
        <p:spPr>
          <a:xfrm>
            <a:off x="5934456" y="413308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it as a partner, not a rival</a:t>
            </a:r>
            <a:endParaRPr lang="en-US" sz="1050" dirty="0"/>
          </a:p>
        </p:txBody>
      </p:sp>
      <p:sp>
        <p:nvSpPr>
          <p:cNvPr id="67" name="Text 59"/>
          <p:cNvSpPr txBox="1"/>
          <p:nvPr/>
        </p:nvSpPr>
        <p:spPr>
          <a:xfrm>
            <a:off x="457200" y="4572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vendor documentation and practitioner reports; setup times are estimates.</a:t>
            </a:r>
            <a:endParaRPr lang="en-US" sz="95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tellTale is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One system with two parts that share data but are kept apart.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33502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418417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1887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Okta, Google, GitHub, AWS audit logs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70048" y="1508760"/>
            <a:ext cx="34747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20116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6928" y="2203704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" y="2287097"/>
            <a:ext cx="180685" cy="1806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24128" y="20574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records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tickets, HR status, PagerDuty on-call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670048" y="2377440"/>
            <a:ext cx="34747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57200" y="28803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928" y="3072384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3155777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24128" y="292608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(optional)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idle time, apps, file activity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670048" y="3246120"/>
            <a:ext cx="34747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3017520" y="114300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009A65"/>
          </a:solidFill>
          <a:ln/>
        </p:spPr>
      </p:sp>
      <p:sp>
        <p:nvSpPr>
          <p:cNvPr id="20" name="Shape 15"/>
          <p:cNvSpPr/>
          <p:nvPr/>
        </p:nvSpPr>
        <p:spPr>
          <a:xfrm>
            <a:off x="3145536" y="127101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875" y="1376355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145536" y="178308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tellTale core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145536" y="2084832"/>
            <a:ext cx="1618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activity, puts it in one common format, swaps names for ID numbers and stores it all in one database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910328" y="1737360"/>
            <a:ext cx="3931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4910328" y="3017520"/>
            <a:ext cx="3931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5303520" y="123444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CFFAFE"/>
          </a:solidFill>
          <a:ln/>
        </p:spPr>
      </p:sp>
      <p:sp>
        <p:nvSpPr>
          <p:cNvPr id="27" name="Shape 21"/>
          <p:cNvSpPr/>
          <p:nvPr/>
        </p:nvSpPr>
        <p:spPr>
          <a:xfrm>
            <a:off x="5413248" y="15316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003" y="1630375"/>
            <a:ext cx="213970" cy="21397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934456" y="128016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part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security team: finds risky changes in behaviour and turns them into ranked cases with evidence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303520" y="251460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/>
        </p:spPr>
      </p:sp>
      <p:sp>
        <p:nvSpPr>
          <p:cNvPr id="31" name="Shape 24"/>
          <p:cNvSpPr/>
          <p:nvPr/>
        </p:nvSpPr>
        <p:spPr>
          <a:xfrm>
            <a:off x="5413248" y="281178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2003" y="2910535"/>
            <a:ext cx="213970" cy="21397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934456" y="256032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part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and operations: active time, idle time, app usage, attendance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995160" y="3520440"/>
            <a:ext cx="0" cy="2743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5303520" y="37947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36" name="Shape 28"/>
          <p:cNvSpPr/>
          <p:nvPr/>
        </p:nvSpPr>
        <p:spPr>
          <a:xfrm>
            <a:off x="5413248" y="3973068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252" y="4052072"/>
            <a:ext cx="171176" cy="17117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85216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apart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never sees risk scores. Security never sees names or productivity.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57200" y="379476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40" name="Shape 31"/>
          <p:cNvSpPr/>
          <p:nvPr/>
        </p:nvSpPr>
        <p:spPr>
          <a:xfrm>
            <a:off x="566928" y="3973068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932" y="4052072"/>
            <a:ext cx="171176" cy="17117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05840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tellTale connects with read-only permissions and never changes company systems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43" name="Logo Okta" descr="Okta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2223" y="1271016"/>
            <a:ext cx="146304" cy="146304"/>
          </a:xfrm>
          <a:prstGeom prst="rect">
            <a:avLst/>
          </a:prstGeom>
        </p:spPr>
      </p:pic>
      <p:pic>
        <p:nvPicPr>
          <p:cNvPr id="44" name="Logo Google Workspace" descr="Google Workspac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3391" y="1271016"/>
            <a:ext cx="146304" cy="146304"/>
          </a:xfrm>
          <a:prstGeom prst="rect">
            <a:avLst/>
          </a:prstGeom>
        </p:spPr>
      </p:pic>
      <p:pic>
        <p:nvPicPr>
          <p:cNvPr id="45" name="Logo GitHub" descr="GitHub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4560" y="1271016"/>
            <a:ext cx="146304" cy="146304"/>
          </a:xfrm>
          <a:prstGeom prst="rect">
            <a:avLst/>
          </a:prstGeom>
        </p:spPr>
      </p:pic>
      <p:pic>
        <p:nvPicPr>
          <p:cNvPr id="46" name="Logo AWS CloudTrail" descr="AWS CloudTrail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95728" y="1271016"/>
            <a:ext cx="146304" cy="146304"/>
          </a:xfrm>
          <a:prstGeom prst="rect">
            <a:avLst/>
          </a:prstGeom>
        </p:spPr>
      </p:pic>
      <p:pic>
        <p:nvPicPr>
          <p:cNvPr id="47" name="Logo Jira" descr="Jira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4560" y="2139696"/>
            <a:ext cx="146304" cy="146304"/>
          </a:xfrm>
          <a:prstGeom prst="rect">
            <a:avLst/>
          </a:prstGeom>
        </p:spPr>
      </p:pic>
      <p:pic>
        <p:nvPicPr>
          <p:cNvPr id="48" name="Logo PagerDuty" descr="PagerDuty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95728" y="2139696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security part works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Every action goes through four steps before anyone is alerted.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27101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09" y="1354409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16916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2103120"/>
            <a:ext cx="1207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downloads, shares and cloud actions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38528" y="19431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1143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/>
        </p:spPr>
      </p:sp>
      <p:sp>
        <p:nvSpPr>
          <p:cNvPr id="11" name="Shape 8"/>
          <p:cNvSpPr/>
          <p:nvPr/>
        </p:nvSpPr>
        <p:spPr>
          <a:xfrm>
            <a:off x="2276856" y="127101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49" y="13544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76856" y="16916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Unusual?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2103120"/>
            <a:ext cx="1207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its own past and with teammates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30168" y="19431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40480" y="1143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17" name="Shape 13"/>
          <p:cNvSpPr/>
          <p:nvPr/>
        </p:nvSpPr>
        <p:spPr>
          <a:xfrm>
            <a:off x="3968496" y="127101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889" y="1354409"/>
            <a:ext cx="180685" cy="1806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68496" y="16916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Approved?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68496" y="2103120"/>
            <a:ext cx="1207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a genuine ticket, on-call shift or HR record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21808" y="19431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32120" y="1143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/>
        </p:spPr>
      </p:sp>
      <p:sp>
        <p:nvSpPr>
          <p:cNvPr id="23" name="Shape 18"/>
          <p:cNvSpPr/>
          <p:nvPr/>
        </p:nvSpPr>
        <p:spPr>
          <a:xfrm>
            <a:off x="5660136" y="1271016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29" y="1354409"/>
            <a:ext cx="180685" cy="18068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60136" y="16916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How serious?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60136" y="2103120"/>
            <a:ext cx="1207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score, weighted by how important the system is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013448" y="19431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223760" y="1143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CFFAFE"/>
          </a:solidFill>
          <a:ln/>
        </p:spPr>
      </p:sp>
      <p:sp>
        <p:nvSpPr>
          <p:cNvPr id="29" name="Shape 23"/>
          <p:cNvSpPr/>
          <p:nvPr/>
        </p:nvSpPr>
        <p:spPr>
          <a:xfrm>
            <a:off x="7351776" y="127101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169" y="1354409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51776" y="16916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Explain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51776" y="2103120"/>
            <a:ext cx="1207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and AI assistant; a person decides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114800" y="2743200"/>
            <a:ext cx="0" cy="2286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2743200" y="297180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CFFAFE"/>
          </a:solidFill>
          <a:ln/>
        </p:spPr>
      </p:sp>
      <p:sp>
        <p:nvSpPr>
          <p:cNvPr id="35" name="Shape 28"/>
          <p:cNvSpPr/>
          <p:nvPr/>
        </p:nvSpPr>
        <p:spPr>
          <a:xfrm>
            <a:off x="2852928" y="309524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321" y="3178637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310128" y="301752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real work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for audit; no alert raised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955280" y="2743200"/>
            <a:ext cx="0" cy="2286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6035040" y="29718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EA580C"/>
          </a:solidFill>
          <a:ln/>
        </p:spPr>
      </p:sp>
      <p:sp>
        <p:nvSpPr>
          <p:cNvPr id="40" name="Shape 32"/>
          <p:cNvSpPr/>
          <p:nvPr/>
        </p:nvSpPr>
        <p:spPr>
          <a:xfrm>
            <a:off x="6144768" y="309524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161" y="3178637"/>
            <a:ext cx="180685" cy="18068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601968" y="30175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case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security team’s queue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457200" y="3730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queue stays manageable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457200" y="39776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45" name="Shape 36"/>
          <p:cNvSpPr/>
          <p:nvPr/>
        </p:nvSpPr>
        <p:spPr>
          <a:xfrm>
            <a:off x="566928" y="4151376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54" y="4221602"/>
            <a:ext cx="152156" cy="152156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69264" y="402336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every 1 to 5 minutes; scoring takes under a millisecond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3291840" y="39776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49" name="Shape 39"/>
          <p:cNvSpPr/>
          <p:nvPr/>
        </p:nvSpPr>
        <p:spPr>
          <a:xfrm>
            <a:off x="3401568" y="4151376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1794" y="4221602"/>
            <a:ext cx="152156" cy="15215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803904" y="402336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warnings become one case per account, not six alerts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6126480" y="39776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53" name="Shape 42"/>
          <p:cNvSpPr/>
          <p:nvPr/>
        </p:nvSpPr>
        <p:spPr>
          <a:xfrm>
            <a:off x="6236208" y="4151376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6434" y="4221602"/>
            <a:ext cx="152156" cy="152156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638544" y="402336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the team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shows what fits the team’s daily checking time</a:t>
            </a:r>
            <a:endParaRPr lang="en-US" sz="12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is the behaviour unusual?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Three separate checks, each catching a different kind of attack, plus three extra signals.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0436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2127077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activity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sessions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221742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95728" y="1463040"/>
            <a:ext cx="0" cy="166420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95728" y="146304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51760" y="1143000"/>
            <a:ext cx="315468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2" name="Shape 9"/>
          <p:cNvSpPr/>
          <p:nvPr/>
        </p:nvSpPr>
        <p:spPr>
          <a:xfrm>
            <a:off x="2761488" y="1289304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81" y="1372697"/>
            <a:ext cx="180685" cy="18068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18688" y="118872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the person’s own normal days; one busy day can’t skew it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06440" y="146304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95728" y="228600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651760" y="1965960"/>
            <a:ext cx="3154680" cy="640080"/>
          </a:xfrm>
          <a:prstGeom prst="roundRect">
            <a:avLst>
              <a:gd name="adj" fmla="val 11429"/>
            </a:avLst>
          </a:prstGeom>
          <a:solidFill>
            <a:srgbClr val="FCE7F3"/>
          </a:solidFill>
          <a:ln/>
        </p:spPr>
      </p:sp>
      <p:sp>
        <p:nvSpPr>
          <p:cNvPr id="18" name="Shape 14"/>
          <p:cNvSpPr/>
          <p:nvPr/>
        </p:nvSpPr>
        <p:spPr>
          <a:xfrm>
            <a:off x="2761488" y="2112264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81" y="2195657"/>
            <a:ext cx="180685" cy="18068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218688" y="201168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order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often one action follows another across the company; rare chains stand out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806440" y="228600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395728" y="310896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2651760" y="2788920"/>
            <a:ext cx="315468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24" name="Shape 19"/>
          <p:cNvSpPr/>
          <p:nvPr/>
        </p:nvSpPr>
        <p:spPr>
          <a:xfrm>
            <a:off x="2761488" y="293522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81" y="3018617"/>
            <a:ext cx="180685" cy="18068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218688" y="283464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from teammates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teammates and with a snapshot from months ago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806440" y="310896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53328" y="1463040"/>
            <a:ext cx="0" cy="166420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53328" y="221742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6309360" y="18288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/>
        </p:spPr>
      </p:sp>
      <p:sp>
        <p:nvSpPr>
          <p:cNvPr id="31" name="Shape 25"/>
          <p:cNvSpPr/>
          <p:nvPr/>
        </p:nvSpPr>
        <p:spPr>
          <a:xfrm>
            <a:off x="6419088" y="20436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81" y="2127077"/>
            <a:ext cx="180685" cy="18068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876288" y="1874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on to Step 2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498080" y="2834640"/>
            <a:ext cx="0" cy="-21031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6309360" y="283464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</p:sp>
      <p:sp>
        <p:nvSpPr>
          <p:cNvPr id="36" name="Shape 29"/>
          <p:cNvSpPr/>
          <p:nvPr/>
        </p:nvSpPr>
        <p:spPr>
          <a:xfrm>
            <a:off x="6419088" y="2880360"/>
            <a:ext cx="237744" cy="23774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147" y="2937419"/>
            <a:ext cx="123627" cy="12362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76656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files that no honest user opens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309360" y="321868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</p:sp>
      <p:sp>
        <p:nvSpPr>
          <p:cNvPr id="40" name="Shape 32"/>
          <p:cNvSpPr/>
          <p:nvPr/>
        </p:nvSpPr>
        <p:spPr>
          <a:xfrm>
            <a:off x="6419088" y="3264408"/>
            <a:ext cx="237744" cy="23774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147" y="3321467"/>
            <a:ext cx="123627" cy="12362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766560" y="3264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contacts outside the company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309360" y="3602736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</p:sp>
      <p:sp>
        <p:nvSpPr>
          <p:cNvPr id="44" name="Shape 35"/>
          <p:cNvSpPr/>
          <p:nvPr/>
        </p:nvSpPr>
        <p:spPr>
          <a:xfrm>
            <a:off x="6419088" y="3648456"/>
            <a:ext cx="237744" cy="23774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147" y="3705515"/>
            <a:ext cx="123627" cy="12362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766560" y="3648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compared with their peers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457200" y="3840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an unusual order (illustrative numbers)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>
            <a:off x="457200" y="4114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49" name="Text 39"/>
          <p:cNvSpPr txBox="1"/>
          <p:nvPr/>
        </p:nvSpPr>
        <p:spPr>
          <a:xfrm>
            <a:off x="585216" y="416052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code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1847088" y="4306824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2103120" y="4114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52" name="Text 42"/>
          <p:cNvSpPr txBox="1"/>
          <p:nvPr/>
        </p:nvSpPr>
        <p:spPr>
          <a:xfrm>
            <a:off x="2231136" y="416052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it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3493008" y="4306824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3749040" y="41148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EA580C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3877056" y="416052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outside</a:t>
            </a:r>
            <a:endParaRPr lang="en-US" sz="1150" dirty="0"/>
          </a:p>
        </p:txBody>
      </p:sp>
      <p:sp>
        <p:nvSpPr>
          <p:cNvPr id="56" name="Shape 46"/>
          <p:cNvSpPr/>
          <p:nvPr/>
        </p:nvSpPr>
        <p:spPr>
          <a:xfrm>
            <a:off x="5138928" y="4306824"/>
            <a:ext cx="23774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7" name="Shape 47"/>
          <p:cNvSpPr/>
          <p:nvPr/>
        </p:nvSpPr>
        <p:spPr>
          <a:xfrm>
            <a:off x="5394960" y="41148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/>
        </p:spPr>
      </p:sp>
      <p:sp>
        <p:nvSpPr>
          <p:cNvPr id="58" name="Text 48"/>
          <p:cNvSpPr txBox="1"/>
          <p:nvPr/>
        </p:nvSpPr>
        <p:spPr>
          <a:xfrm>
            <a:off x="5522976" y="41605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about 1 time in 2,500 in our example data</a:t>
            </a:r>
            <a:endParaRPr lang="en-US" sz="11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was it approved?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Most unusual activity is real work, so tellTale looks for an approval and checks it is genuine.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8074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464137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234440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activity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" y="229514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" y="2378537"/>
            <a:ext cx="180685" cy="18068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4128" y="2148840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on-call or HR record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48840" y="15544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48840" y="24688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31720" y="1554480"/>
            <a:ext cx="0" cy="9144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31720" y="20116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514600" y="118872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/>
        </p:spPr>
      </p:sp>
      <p:sp>
        <p:nvSpPr>
          <p:cNvPr id="17" name="Shape 13"/>
          <p:cNvSpPr/>
          <p:nvPr/>
        </p:nvSpPr>
        <p:spPr>
          <a:xfrm>
            <a:off x="2642616" y="131673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09" y="1400129"/>
            <a:ext cx="180685" cy="1806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42616" y="1737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before?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2642616" y="2148840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at least 30 minutes before the activity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895344" y="20116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087368" y="118872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CE7F3"/>
          </a:solidFill>
          <a:ln/>
        </p:spPr>
      </p:sp>
      <p:sp>
        <p:nvSpPr>
          <p:cNvPr id="23" name="Shape 18"/>
          <p:cNvSpPr/>
          <p:nvPr/>
        </p:nvSpPr>
        <p:spPr>
          <a:xfrm>
            <a:off x="4215384" y="1316736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777" y="1400129"/>
            <a:ext cx="180685" cy="18068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15384" y="1737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someone else?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215384" y="2148840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you wrote for yourself doesn’t count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68112" y="20116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660136" y="118872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/>
        </p:spPr>
      </p:sp>
      <p:sp>
        <p:nvSpPr>
          <p:cNvPr id="29" name="Shape 23"/>
          <p:cNvSpPr/>
          <p:nvPr/>
        </p:nvSpPr>
        <p:spPr>
          <a:xfrm>
            <a:off x="5788152" y="131673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545" y="1400129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788152" y="1737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this system?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5788152" y="2148840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for one project can’t cover another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7040880" y="201168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232904" y="118872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35" name="Shape 28"/>
          <p:cNvSpPr/>
          <p:nvPr/>
        </p:nvSpPr>
        <p:spPr>
          <a:xfrm>
            <a:off x="7360920" y="131673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313" y="1400129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360920" y="17373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amount?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7360920" y="2148840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task can’t explain copying 40 projects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550408" y="283464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657600" y="3017520"/>
            <a:ext cx="3749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657600" y="30175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7406640" y="30175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2514600" y="32004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/>
        </p:spPr>
      </p:sp>
      <p:sp>
        <p:nvSpPr>
          <p:cNvPr id="44" name="Shape 36"/>
          <p:cNvSpPr/>
          <p:nvPr/>
        </p:nvSpPr>
        <p:spPr>
          <a:xfrm>
            <a:off x="2624328" y="334670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7721" y="3430097"/>
            <a:ext cx="180685" cy="18068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3081528" y="32461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lowered and the reason saved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6217920" y="32004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/>
        </p:spPr>
      </p:sp>
      <p:sp>
        <p:nvSpPr>
          <p:cNvPr id="48" name="Shape 39"/>
          <p:cNvSpPr/>
          <p:nvPr/>
        </p:nvSpPr>
        <p:spPr>
          <a:xfrm>
            <a:off x="6327648" y="33467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041" y="3430097"/>
            <a:ext cx="180685" cy="18068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784848" y="32461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fake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ticket raises the score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457200" y="3977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the check honest</a:t>
            </a:r>
            <a:endParaRPr lang="en-US" sz="1150" dirty="0"/>
          </a:p>
        </p:txBody>
      </p:sp>
      <p:sp>
        <p:nvSpPr>
          <p:cNvPr id="52" name="Shape 42"/>
          <p:cNvSpPr/>
          <p:nvPr/>
        </p:nvSpPr>
        <p:spPr>
          <a:xfrm>
            <a:off x="457200" y="4224528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53" name="Shape 43"/>
          <p:cNvSpPr/>
          <p:nvPr/>
        </p:nvSpPr>
        <p:spPr>
          <a:xfrm>
            <a:off x="566928" y="429310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5" y="4358945"/>
            <a:ext cx="142646" cy="14264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50976" y="427024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lowered score is saved with its reason</a:t>
            </a:r>
            <a:endParaRPr lang="en-US" sz="1100" dirty="0"/>
          </a:p>
        </p:txBody>
      </p:sp>
      <p:sp>
        <p:nvSpPr>
          <p:cNvPr id="56" name="Shape 45"/>
          <p:cNvSpPr/>
          <p:nvPr/>
        </p:nvSpPr>
        <p:spPr>
          <a:xfrm>
            <a:off x="3291840" y="4224528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57" name="Shape 46"/>
          <p:cNvSpPr/>
          <p:nvPr/>
        </p:nvSpPr>
        <p:spPr>
          <a:xfrm>
            <a:off x="3401568" y="429310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405" y="4358945"/>
            <a:ext cx="142646" cy="142646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3785616" y="427024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can reduce risk, never erase it</a:t>
            </a:r>
            <a:endParaRPr lang="en-US" sz="1100" dirty="0"/>
          </a:p>
        </p:txBody>
      </p:sp>
      <p:sp>
        <p:nvSpPr>
          <p:cNvPr id="60" name="Shape 48"/>
          <p:cNvSpPr/>
          <p:nvPr/>
        </p:nvSpPr>
        <p:spPr>
          <a:xfrm>
            <a:off x="6126480" y="4224528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61" name="Shape 49"/>
          <p:cNvSpPr/>
          <p:nvPr/>
        </p:nvSpPr>
        <p:spPr>
          <a:xfrm>
            <a:off x="6236208" y="429310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2045" y="4358945"/>
            <a:ext cx="142646" cy="142646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6620256" y="427024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 decoy is never excused</a:t>
            </a:r>
            <a:endParaRPr lang="en-US" sz="11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three outcomes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Three people run the same command on code none of them has touched before.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9A65"/>
          </a:solidFill>
          <a:ln/>
        </p:spPr>
      </p:sp>
      <p:sp>
        <p:nvSpPr>
          <p:cNvPr id="5" name="Shape 3"/>
          <p:cNvSpPr/>
          <p:nvPr/>
        </p:nvSpPr>
        <p:spPr>
          <a:xfrm>
            <a:off x="2852928" y="115671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154" y="1226942"/>
            <a:ext cx="152156" cy="1521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55264" y="11430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payments-core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508760"/>
            <a:ext cx="0" cy="1188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1627632"/>
            <a:ext cx="56692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7360" y="1627632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175564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94767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" y="2031065"/>
            <a:ext cx="180685" cy="18068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180136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the code, then asked teammates to review a change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737360" y="2487168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57200" y="2615184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566928" y="2752344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5" y="2818181"/>
            <a:ext cx="142646" cy="1426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50976" y="266090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assigned by their team lead a day earlier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737360" y="3163824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57200" y="3291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85216" y="33375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14: no alert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3986784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4052621"/>
            <a:ext cx="142646" cy="14264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50976" y="38862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tool would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false alarm someone must check by hand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0" y="1627632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291840" y="175564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</p:sp>
      <p:sp>
        <p:nvSpPr>
          <p:cNvPr id="29" name="Shape 23"/>
          <p:cNvSpPr/>
          <p:nvPr/>
        </p:nvSpPr>
        <p:spPr>
          <a:xfrm>
            <a:off x="3401568" y="19476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961" y="2031065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858768" y="180136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at 1 a.m. from an unknown VPN and sent the code outside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0" y="2487168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291840" y="2615184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4" name="Shape 27"/>
          <p:cNvSpPr/>
          <p:nvPr/>
        </p:nvSpPr>
        <p:spPr>
          <a:xfrm>
            <a:off x="3401568" y="2752344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405" y="2818181"/>
            <a:ext cx="142646" cy="14264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785616" y="266090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ticket, and resigned four days ago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4572000" y="3163824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3291840" y="3291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DB2777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3419856" y="33375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93: urgent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3291840" y="384048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41" name="Shape 33"/>
          <p:cNvSpPr/>
          <p:nvPr/>
        </p:nvSpPr>
        <p:spPr>
          <a:xfrm>
            <a:off x="3401568" y="3986784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405" y="4052621"/>
            <a:ext cx="142646" cy="142646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785616" y="38862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tool would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alerts in three different tools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7406640" y="1627632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6126480" y="175564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46" name="Shape 37"/>
          <p:cNvSpPr/>
          <p:nvPr/>
        </p:nvSpPr>
        <p:spPr>
          <a:xfrm>
            <a:off x="6236208" y="1947672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601" y="2031065"/>
            <a:ext cx="180685" cy="18068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693408" y="180136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their own ticket, then copied and zipped the code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7406640" y="2487168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6126480" y="2615184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51" name="Shape 41"/>
          <p:cNvSpPr/>
          <p:nvPr/>
        </p:nvSpPr>
        <p:spPr>
          <a:xfrm>
            <a:off x="6236208" y="2752344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045" y="2818181"/>
            <a:ext cx="142646" cy="142646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6620256" y="266090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their own ticket 40 minutes before</a:t>
            </a:r>
            <a:endParaRPr lang="en-US" sz="1200" dirty="0"/>
          </a:p>
        </p:txBody>
      </p:sp>
      <p:sp>
        <p:nvSpPr>
          <p:cNvPr id="54" name="Shape 43"/>
          <p:cNvSpPr/>
          <p:nvPr/>
        </p:nvSpPr>
        <p:spPr>
          <a:xfrm>
            <a:off x="7406640" y="3163824"/>
            <a:ext cx="0" cy="12801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44"/>
          <p:cNvSpPr/>
          <p:nvPr/>
        </p:nvSpPr>
        <p:spPr>
          <a:xfrm>
            <a:off x="6126480" y="3291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/>
        </p:spPr>
      </p:sp>
      <p:sp>
        <p:nvSpPr>
          <p:cNvPr id="56" name="Text 45"/>
          <p:cNvSpPr txBox="1"/>
          <p:nvPr/>
        </p:nvSpPr>
        <p:spPr>
          <a:xfrm>
            <a:off x="6254496" y="33375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78: flagged</a:t>
            </a:r>
            <a:endParaRPr lang="en-US" sz="1250" dirty="0"/>
          </a:p>
        </p:txBody>
      </p:sp>
      <p:sp>
        <p:nvSpPr>
          <p:cNvPr id="57" name="Shape 46"/>
          <p:cNvSpPr/>
          <p:nvPr/>
        </p:nvSpPr>
        <p:spPr>
          <a:xfrm>
            <a:off x="6126480" y="384048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58" name="Shape 47"/>
          <p:cNvSpPr/>
          <p:nvPr/>
        </p:nvSpPr>
        <p:spPr>
          <a:xfrm>
            <a:off x="6236208" y="3986784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2045" y="4052621"/>
            <a:ext cx="142646" cy="142646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6620256" y="38862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tool would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silent: a ticket exists and the amount looks normal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457200" y="44988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scenario. Scores are illustrative.</a:t>
            </a:r>
            <a:endParaRPr lang="en-US" sz="95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4: score, explain, decide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 analyst gets evidence, not just a number. The same checks also cover AI agents.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security analyst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85950" cy="621792"/>
          </a:xfrm>
          <a:prstGeom prst="roundRect">
            <a:avLst>
              <a:gd name="adj" fmla="val 11765"/>
            </a:avLst>
          </a:prstGeom>
          <a:solidFill>
            <a:srgbClr val="FCE7F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17320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500713"/>
            <a:ext cx="180685" cy="18068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325880"/>
            <a:ext cx="12275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each signal added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61438" y="1591056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71750" y="1280160"/>
            <a:ext cx="188595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/>
        </p:spPr>
      </p:sp>
      <p:sp>
        <p:nvSpPr>
          <p:cNvPr id="11" name="Shape 8"/>
          <p:cNvSpPr/>
          <p:nvPr/>
        </p:nvSpPr>
        <p:spPr>
          <a:xfrm>
            <a:off x="2681478" y="14173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871" y="1500713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8678" y="1325880"/>
            <a:ext cx="12275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of every event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75988" y="1591056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686300" y="1280160"/>
            <a:ext cx="1885950" cy="621792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/>
        </p:spPr>
      </p:sp>
      <p:sp>
        <p:nvSpPr>
          <p:cNvPr id="16" name="Shape 12"/>
          <p:cNvSpPr/>
          <p:nvPr/>
        </p:nvSpPr>
        <p:spPr>
          <a:xfrm>
            <a:off x="4796028" y="1417320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421" y="1500713"/>
            <a:ext cx="180685" cy="18068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3228" y="1325880"/>
            <a:ext cx="12275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using only the case facts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90538" y="1591056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800850" y="1280160"/>
            <a:ext cx="1885950" cy="621792"/>
          </a:xfrm>
          <a:prstGeom prst="roundRect">
            <a:avLst>
              <a:gd name="adj" fmla="val 11765"/>
            </a:avLst>
          </a:prstGeom>
          <a:solidFill>
            <a:srgbClr val="CFFAFE"/>
          </a:solidFill>
          <a:ln/>
        </p:spPr>
      </p:sp>
      <p:sp>
        <p:nvSpPr>
          <p:cNvPr id="21" name="Shape 16"/>
          <p:cNvSpPr/>
          <p:nvPr/>
        </p:nvSpPr>
        <p:spPr>
          <a:xfrm>
            <a:off x="6910578" y="141732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971" y="1500713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7778" y="1325880"/>
            <a:ext cx="12275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decides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log the account out, with approval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2011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case file timeline for account #4912 (illustrative)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2240280"/>
            <a:ext cx="1506931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85216" y="2286000"/>
            <a:ext cx="128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01:14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from a new VPN in Zurich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1982419" y="2514600"/>
            <a:ext cx="1371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2137867" y="2240280"/>
            <a:ext cx="1506931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2265883" y="2286000"/>
            <a:ext cx="128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01:18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prompt approved on an unknown device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663086" y="2514600"/>
            <a:ext cx="1371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3818534" y="2240280"/>
            <a:ext cx="1506931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3946550" y="2286000"/>
            <a:ext cx="128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01:22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payments-core, first time ever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343754" y="2514600"/>
            <a:ext cx="1371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5499202" y="2240280"/>
            <a:ext cx="1506931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627218" y="2286000"/>
            <a:ext cx="128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01:35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Zips 410 files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024421" y="2514600"/>
            <a:ext cx="1371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7179869" y="2240280"/>
            <a:ext cx="1506931" cy="54864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307885" y="2286000"/>
            <a:ext cx="128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01:42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it to storage outside the company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457200" y="2898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agents: a hidden instruction in a file can hijack an agent that has valid access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457200" y="31272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41" name="Shape 35"/>
          <p:cNvSpPr/>
          <p:nvPr/>
        </p:nvSpPr>
        <p:spPr>
          <a:xfrm>
            <a:off x="566928" y="3323844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3394070"/>
            <a:ext cx="152156" cy="15215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969264" y="3172968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 files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938528" y="347014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2148840" y="31272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/>
        </p:spPr>
      </p:sp>
      <p:sp>
        <p:nvSpPr>
          <p:cNvPr id="46" name="Shape 39"/>
          <p:cNvSpPr/>
          <p:nvPr/>
        </p:nvSpPr>
        <p:spPr>
          <a:xfrm>
            <a:off x="2258568" y="3323844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8794" y="3394070"/>
            <a:ext cx="152156" cy="15215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2660904" y="3172968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file with a hidden instruction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3630168" y="347014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3840480" y="31272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51" name="Shape 43"/>
          <p:cNvSpPr/>
          <p:nvPr/>
        </p:nvSpPr>
        <p:spPr>
          <a:xfrm>
            <a:off x="3950208" y="332384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434" y="3394070"/>
            <a:ext cx="152156" cy="15215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352544" y="3172968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customer database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5321808" y="347014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5532120" y="31272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56" name="Shape 47"/>
          <p:cNvSpPr/>
          <p:nvPr/>
        </p:nvSpPr>
        <p:spPr>
          <a:xfrm>
            <a:off x="5641848" y="3323844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2074" y="3394070"/>
            <a:ext cx="152156" cy="15215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044184" y="3172968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outside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7013448" y="347014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0" name="Shape 50"/>
          <p:cNvSpPr/>
          <p:nvPr/>
        </p:nvSpPr>
        <p:spPr>
          <a:xfrm>
            <a:off x="7223760" y="31272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09A65"/>
          </a:solidFill>
          <a:ln/>
        </p:spPr>
      </p:sp>
      <p:sp>
        <p:nvSpPr>
          <p:cNvPr id="61" name="Shape 51"/>
          <p:cNvSpPr/>
          <p:nvPr/>
        </p:nvSpPr>
        <p:spPr>
          <a:xfrm>
            <a:off x="7333488" y="33238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3714" y="3394070"/>
            <a:ext cx="152156" cy="152156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7735824" y="3172968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tellTale alert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457200" y="3977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65" name="Shape 54"/>
          <p:cNvSpPr/>
          <p:nvPr/>
        </p:nvSpPr>
        <p:spPr>
          <a:xfrm>
            <a:off x="566928" y="411480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5" y="4180637"/>
            <a:ext cx="142646" cy="142646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950976" y="40233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hidden behind IDs; revealing one needs two approvals</a:t>
            </a:r>
            <a:endParaRPr lang="en-US" sz="1050" dirty="0"/>
          </a:p>
        </p:txBody>
      </p:sp>
      <p:sp>
        <p:nvSpPr>
          <p:cNvPr id="68" name="Shape 56"/>
          <p:cNvSpPr/>
          <p:nvPr/>
        </p:nvSpPr>
        <p:spPr>
          <a:xfrm>
            <a:off x="3291840" y="3977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69" name="Shape 57"/>
          <p:cNvSpPr/>
          <p:nvPr/>
        </p:nvSpPr>
        <p:spPr>
          <a:xfrm>
            <a:off x="3401568" y="411480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7405" y="4180637"/>
            <a:ext cx="142646" cy="142646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3785616" y="40233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rewords facts and never changes a score</a:t>
            </a:r>
            <a:endParaRPr lang="en-US" sz="1050" dirty="0"/>
          </a:p>
        </p:txBody>
      </p:sp>
      <p:sp>
        <p:nvSpPr>
          <p:cNvPr id="72" name="Shape 59"/>
          <p:cNvSpPr/>
          <p:nvPr/>
        </p:nvSpPr>
        <p:spPr>
          <a:xfrm>
            <a:off x="6126480" y="3977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73" name="Shape 60"/>
          <p:cNvSpPr/>
          <p:nvPr/>
        </p:nvSpPr>
        <p:spPr>
          <a:xfrm>
            <a:off x="6236208" y="411480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2045" y="4180637"/>
            <a:ext cx="142646" cy="142646"/>
          </a:xfrm>
          <a:prstGeom prst="rect">
            <a:avLst/>
          </a:prstGeom>
        </p:spPr>
      </p:pic>
      <p:sp>
        <p:nvSpPr>
          <p:cNvPr id="75" name="Text 61"/>
          <p:cNvSpPr txBox="1"/>
          <p:nvPr/>
        </p:nvSpPr>
        <p:spPr>
          <a:xfrm>
            <a:off x="6620256" y="40233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found in logs is never followed as an instruction</a:t>
            </a:r>
            <a:endParaRPr lang="en-US" sz="105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 part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For HR and operations teams, using the same optional desktop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B2777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9751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2058497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7373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Linux; uses under 1% of the processor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94560" y="2148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23160" y="1417320"/>
            <a:ext cx="0" cy="1463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141732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51760" y="11430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</p:sp>
      <p:sp>
        <p:nvSpPr>
          <p:cNvPr id="12" name="Shape 9"/>
          <p:cNvSpPr/>
          <p:nvPr/>
        </p:nvSpPr>
        <p:spPr>
          <a:xfrm>
            <a:off x="2761488" y="12801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714" y="1350386"/>
            <a:ext cx="152156" cy="1521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63824" y="11887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idle time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each person’s own pattern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76088" y="1417320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486400" y="11430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/>
        </p:spPr>
      </p:sp>
      <p:sp>
        <p:nvSpPr>
          <p:cNvPr id="17" name="Shape 13"/>
          <p:cNvSpPr/>
          <p:nvPr/>
        </p:nvSpPr>
        <p:spPr>
          <a:xfrm>
            <a:off x="5596128" y="1280160"/>
            <a:ext cx="292608" cy="292608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354" y="1350386"/>
            <a:ext cx="152156" cy="1521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98464" y="11887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and attendance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idle hours, with a 24-hour activity strip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423160" y="2148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2651760" y="18745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sp>
        <p:nvSpPr>
          <p:cNvPr id="22" name="Shape 17"/>
          <p:cNvSpPr/>
          <p:nvPr/>
        </p:nvSpPr>
        <p:spPr>
          <a:xfrm>
            <a:off x="2761488" y="201168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714" y="2081906"/>
            <a:ext cx="152156" cy="1521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163824" y="192024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websites used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six categories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276088" y="2148840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5486400" y="187452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sp>
        <p:nvSpPr>
          <p:cNvPr id="27" name="Shape 21"/>
          <p:cNvSpPr/>
          <p:nvPr/>
        </p:nvSpPr>
        <p:spPr>
          <a:xfrm>
            <a:off x="5596128" y="201168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354" y="2081906"/>
            <a:ext cx="152156" cy="1521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998464" y="19202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usage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app and category, searchable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423160" y="288036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2651760" y="260604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32" name="Shape 25"/>
          <p:cNvSpPr/>
          <p:nvPr/>
        </p:nvSpPr>
        <p:spPr>
          <a:xfrm>
            <a:off x="2761488" y="2743200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714" y="2813426"/>
            <a:ext cx="152156" cy="1521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163824" y="265176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(optional)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minutes in work hours, or only around a serious alert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276088" y="2880360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5486400" y="26060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CE7F3"/>
          </a:solidFill>
          <a:ln/>
        </p:spPr>
      </p:sp>
      <p:sp>
        <p:nvSpPr>
          <p:cNvPr id="37" name="Shape 29"/>
          <p:cNvSpPr/>
          <p:nvPr/>
        </p:nvSpPr>
        <p:spPr>
          <a:xfrm>
            <a:off x="5596128" y="2743200"/>
            <a:ext cx="292608" cy="292608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6354" y="2813426"/>
            <a:ext cx="152156" cy="1521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998464" y="265176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gallery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Encrypted; can be flagged for review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3429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built in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457200" y="3675888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42" name="Shape 33"/>
          <p:cNvSpPr/>
          <p:nvPr/>
        </p:nvSpPr>
        <p:spPr>
          <a:xfrm>
            <a:off x="566928" y="385876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5" y="3924605"/>
            <a:ext cx="142646" cy="14264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50976" y="3721608"/>
            <a:ext cx="1321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told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at onboarding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2382012" y="399592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2564892" y="3675888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2674620" y="385876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0457" y="3924605"/>
            <a:ext cx="142646" cy="14264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3058668" y="3721608"/>
            <a:ext cx="1321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for HR only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sees IDs, not names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4489704" y="399592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4672584" y="3675888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52" name="Shape 41"/>
          <p:cNvSpPr/>
          <p:nvPr/>
        </p:nvSpPr>
        <p:spPr>
          <a:xfrm>
            <a:off x="4782312" y="385876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8149" y="3924605"/>
            <a:ext cx="142646" cy="142646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5166360" y="3721608"/>
            <a:ext cx="1321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kept out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in risk scores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6597396" y="399592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44"/>
          <p:cNvSpPr/>
          <p:nvPr/>
        </p:nvSpPr>
        <p:spPr>
          <a:xfrm>
            <a:off x="6780276" y="3675888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57" name="Shape 45"/>
          <p:cNvSpPr/>
          <p:nvPr/>
        </p:nvSpPr>
        <p:spPr>
          <a:xfrm>
            <a:off x="6890004" y="3858768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5841" y="3924605"/>
            <a:ext cx="142646" cy="142646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274052" y="3721608"/>
            <a:ext cx="1321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local law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off where not allowed</a:t>
            </a:r>
            <a:endParaRPr lang="en-US" sz="1100" dirty="0"/>
          </a:p>
        </p:txBody>
      </p:sp>
      <p:sp>
        <p:nvSpPr>
          <p:cNvPr id="60" name="Text 47"/>
          <p:cNvSpPr txBox="1"/>
          <p:nvPr/>
        </p:nvSpPr>
        <p:spPr>
          <a:xfrm>
            <a:off x="457200" y="44348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collected: keystrokes, message or email text, file contents, source code.</a:t>
            </a:r>
            <a:endParaRPr lang="en-US" sz="105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 whole system starts with one command and runs on a single laptop.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12710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09" y="1354409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16916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19568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Okta, Google, GitHub, AWS CloudTrail, Jira, HR, PagerDuty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38528" y="18288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1143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/>
        </p:spPr>
      </p:sp>
      <p:sp>
        <p:nvSpPr>
          <p:cNvPr id="11" name="Shape 8"/>
          <p:cNvSpPr/>
          <p:nvPr/>
        </p:nvSpPr>
        <p:spPr>
          <a:xfrm>
            <a:off x="2276856" y="1271016"/>
            <a:ext cx="347472" cy="34747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49" y="13544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76856" y="16916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568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3.12; checks every incoming event is well formed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30168" y="18288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40480" y="1143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/>
        </p:spPr>
      </p:sp>
      <p:sp>
        <p:nvSpPr>
          <p:cNvPr id="17" name="Shape 13"/>
          <p:cNvSpPr/>
          <p:nvPr/>
        </p:nvSpPr>
        <p:spPr>
          <a:xfrm>
            <a:off x="3968496" y="127101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889" y="1354409"/>
            <a:ext cx="180685" cy="1806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68496" y="16916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68496" y="19568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records and baselines in one place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21808" y="18288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32120" y="1143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</p:sp>
      <p:sp>
        <p:nvSpPr>
          <p:cNvPr id="23" name="Shape 18"/>
          <p:cNvSpPr/>
          <p:nvPr/>
        </p:nvSpPr>
        <p:spPr>
          <a:xfrm>
            <a:off x="5660136" y="127101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29" y="1354409"/>
            <a:ext cx="180685" cy="18068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60136" y="16916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SciPy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60136" y="19568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sequence model and scoring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013448" y="1828800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223760" y="1143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CE7F3"/>
          </a:solidFill>
          <a:ln/>
        </p:spPr>
      </p:sp>
      <p:sp>
        <p:nvSpPr>
          <p:cNvPr id="29" name="Shape 23"/>
          <p:cNvSpPr/>
          <p:nvPr/>
        </p:nvSpPr>
        <p:spPr>
          <a:xfrm>
            <a:off x="7351776" y="1271016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169" y="1354409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51776" y="16916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51776" y="19568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Tailwind, shadcn/ui, Recharts, React Flow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2880360" y="2880360"/>
            <a:ext cx="0" cy="-3474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2057400" y="28803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35" name="Shape 28"/>
          <p:cNvSpPr/>
          <p:nvPr/>
        </p:nvSpPr>
        <p:spPr>
          <a:xfrm>
            <a:off x="2167128" y="3076956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354" y="3147182"/>
            <a:ext cx="152156" cy="1521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2569464" y="292608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Python; keeps data while offline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572000" y="2880360"/>
            <a:ext cx="0" cy="-3474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3749040" y="28803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40" name="Shape 32"/>
          <p:cNvSpPr/>
          <p:nvPr/>
        </p:nvSpPr>
        <p:spPr>
          <a:xfrm>
            <a:off x="3858768" y="3076956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8994" y="3147182"/>
            <a:ext cx="152156" cy="15215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4261104" y="292608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100-person company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7955280" y="2880360"/>
            <a:ext cx="0" cy="-3474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7132320" y="28803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/>
        </p:spPr>
      </p:sp>
      <p:sp>
        <p:nvSpPr>
          <p:cNvPr id="45" name="Shape 36"/>
          <p:cNvSpPr/>
          <p:nvPr/>
        </p:nvSpPr>
        <p:spPr>
          <a:xfrm>
            <a:off x="7242048" y="3076956"/>
            <a:ext cx="292608" cy="292608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274" y="3147182"/>
            <a:ext cx="152156" cy="152156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644384" y="292608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model, with offline fallback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45720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/>
        </p:spPr>
      </p:sp>
      <p:sp>
        <p:nvSpPr>
          <p:cNvPr id="49" name="Shape 39"/>
          <p:cNvSpPr/>
          <p:nvPr/>
        </p:nvSpPr>
        <p:spPr>
          <a:xfrm>
            <a:off x="566928" y="397306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32" y="4052072"/>
            <a:ext cx="171176" cy="17117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00584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everything together, so the demo needs no internet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466344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53" name="Shape 42"/>
          <p:cNvSpPr/>
          <p:nvPr/>
        </p:nvSpPr>
        <p:spPr>
          <a:xfrm>
            <a:off x="4773168" y="3973068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2172" y="4052072"/>
            <a:ext cx="171176" cy="171176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21208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on purpose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ClickHouse, Redis and deep learning: not needed at this scale</a:t>
            </a:r>
            <a:endParaRPr lang="en-US" sz="12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56" name="Logo Okta" descr="Okta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3584" y="1280160"/>
            <a:ext cx="146304" cy="146304"/>
          </a:xfrm>
          <a:prstGeom prst="rect">
            <a:avLst/>
          </a:prstGeom>
        </p:spPr>
      </p:pic>
      <p:pic>
        <p:nvPicPr>
          <p:cNvPr id="57" name="Logo Google Workspace" descr="Google Workspace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4751" y="1280160"/>
            <a:ext cx="146304" cy="146304"/>
          </a:xfrm>
          <a:prstGeom prst="rect">
            <a:avLst/>
          </a:prstGeom>
        </p:spPr>
      </p:pic>
      <p:pic>
        <p:nvPicPr>
          <p:cNvPr id="58" name="Logo GitHub" descr="GitHub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5919" y="1280160"/>
            <a:ext cx="146304" cy="146304"/>
          </a:xfrm>
          <a:prstGeom prst="rect">
            <a:avLst/>
          </a:prstGeom>
        </p:spPr>
      </p:pic>
      <p:pic>
        <p:nvPicPr>
          <p:cNvPr id="59" name="Logo AWS CloudTrail" descr="AWS CloudTrail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3584" y="1463039"/>
            <a:ext cx="146304" cy="146304"/>
          </a:xfrm>
          <a:prstGeom prst="rect">
            <a:avLst/>
          </a:prstGeom>
        </p:spPr>
      </p:pic>
      <p:pic>
        <p:nvPicPr>
          <p:cNvPr id="60" name="Logo Jira" descr="Jira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4751" y="1463039"/>
            <a:ext cx="146304" cy="146304"/>
          </a:xfrm>
          <a:prstGeom prst="rect">
            <a:avLst/>
          </a:prstGeom>
        </p:spPr>
      </p:pic>
      <p:pic>
        <p:nvPicPr>
          <p:cNvPr id="61" name="Logo PagerDuty" descr="PagerDuty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45919" y="1463039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What we will build, how we will test it, and what it costs to run.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3075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company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38528" y="1490472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26187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76856" y="13075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0168" y="1490472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26187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68496" y="13075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works end to 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21808" y="1490472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126187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CE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0136" y="13075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and AI assistant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13448" y="1490472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26187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51776" y="13075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and backup video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066544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" y="2112264"/>
            <a:ext cx="1666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company with normal and unusual-but-genuine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61438" y="234086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71750" y="2066544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99766" y="2112264"/>
            <a:ext cx="1666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written by the teammate who didn’t build the detector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75988" y="234086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86300" y="2066544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14316" y="2112264"/>
            <a:ext cx="1666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attack type kept secret until the final run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90538" y="2340864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00850" y="2066544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CFFA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8866" y="2112264"/>
            <a:ext cx="1666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basic tool; publish the numbers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7249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realistic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2962656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3076956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5" y="3142793"/>
            <a:ext cx="142646" cy="142646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50976" y="3008376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or model training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571750" y="2962656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37" name="Shape 34"/>
          <p:cNvSpPr/>
          <p:nvPr/>
        </p:nvSpPr>
        <p:spPr>
          <a:xfrm>
            <a:off x="2681478" y="3076956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15" y="3142793"/>
            <a:ext cx="142646" cy="14264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3065526" y="3008376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database to run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686300" y="2962656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41" name="Shape 37"/>
          <p:cNvSpPr/>
          <p:nvPr/>
        </p:nvSpPr>
        <p:spPr>
          <a:xfrm>
            <a:off x="4796028" y="3076956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865" y="3142793"/>
            <a:ext cx="142646" cy="142646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5180076" y="3008376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simulated with their real data formats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800850" y="2962656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45" name="Shape 40"/>
          <p:cNvSpPr/>
          <p:nvPr/>
        </p:nvSpPr>
        <p:spPr>
          <a:xfrm>
            <a:off x="6910578" y="3076956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415" y="3142793"/>
            <a:ext cx="142646" cy="142646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294626" y="3008376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75% of the code is reusable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457200" y="3575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cost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457200" y="3813048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50" name="Shape 44"/>
          <p:cNvSpPr/>
          <p:nvPr/>
        </p:nvSpPr>
        <p:spPr>
          <a:xfrm>
            <a:off x="566928" y="3927348"/>
            <a:ext cx="274320" cy="274320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5" y="3993185"/>
            <a:ext cx="142646" cy="142646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950976" y="3858768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about 5,000 accounts per server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2571750" y="3813048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54" name="Shape 47"/>
          <p:cNvSpPr/>
          <p:nvPr/>
        </p:nvSpPr>
        <p:spPr>
          <a:xfrm>
            <a:off x="2681478" y="3927348"/>
            <a:ext cx="274320" cy="274320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315" y="3993185"/>
            <a:ext cx="142646" cy="142646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3065526" y="3858768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accounts scored in under a second</a:t>
            </a:r>
            <a:endParaRPr lang="en-US" sz="1050" dirty="0"/>
          </a:p>
        </p:txBody>
      </p:sp>
      <p:sp>
        <p:nvSpPr>
          <p:cNvPr id="57" name="Shape 49"/>
          <p:cNvSpPr/>
          <p:nvPr/>
        </p:nvSpPr>
        <p:spPr>
          <a:xfrm>
            <a:off x="4686300" y="3813048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58" name="Shape 50"/>
          <p:cNvSpPr/>
          <p:nvPr/>
        </p:nvSpPr>
        <p:spPr>
          <a:xfrm>
            <a:off x="4796028" y="3927348"/>
            <a:ext cx="274320" cy="274320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865" y="3993185"/>
            <a:ext cx="142646" cy="142646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5180076" y="3858768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14 GB of data a month for 2,000 staff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6800850" y="3813048"/>
            <a:ext cx="188595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62" name="Shape 53"/>
          <p:cNvSpPr/>
          <p:nvPr/>
        </p:nvSpPr>
        <p:spPr>
          <a:xfrm>
            <a:off x="6910578" y="3927348"/>
            <a:ext cx="274320" cy="274320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415" y="3993185"/>
            <a:ext cx="142646" cy="142646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7294626" y="3858768"/>
            <a:ext cx="1300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₹350–420 per account a year to run</a:t>
            </a:r>
            <a:endParaRPr lang="en-US" sz="1050" dirty="0"/>
          </a:p>
        </p:txBody>
      </p:sp>
      <p:sp>
        <p:nvSpPr>
          <p:cNvPr id="65" name="Text 55"/>
          <p:cNvSpPr txBox="1"/>
          <p:nvPr/>
        </p:nvSpPr>
        <p:spPr>
          <a:xfrm>
            <a:off x="457200" y="44348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cost figures are estimates from our design, not measurements.</a:t>
            </a:r>
            <a:endParaRPr lang="en-US" sz="95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how we handle them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Each risk on the left is handled by the design choice on the right.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4874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5" y="1414577"/>
            <a:ext cx="142646" cy="1426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118872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from normal job changes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58568" y="148590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14600" y="1143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10" name="Shape 7"/>
          <p:cNvSpPr/>
          <p:nvPr/>
        </p:nvSpPr>
        <p:spPr>
          <a:xfrm>
            <a:off x="2624328" y="13487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65" y="1414577"/>
            <a:ext cx="142646" cy="1426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08376" y="11887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approvals and each person’s normal hours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1430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14" name="Shape 10"/>
          <p:cNvSpPr/>
          <p:nvPr/>
        </p:nvSpPr>
        <p:spPr>
          <a:xfrm>
            <a:off x="4773168" y="134874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5" y="1414577"/>
            <a:ext cx="142646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57216" y="118872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insider fakes a ticket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64808" y="148590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720840" y="1143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19" name="Shape 14"/>
          <p:cNvSpPr/>
          <p:nvPr/>
        </p:nvSpPr>
        <p:spPr>
          <a:xfrm>
            <a:off x="6830568" y="13487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405" y="1414577"/>
            <a:ext cx="142646" cy="14264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14616" y="11887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checks; a fake ticket is itself a warning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1984248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23" name="Shape 17"/>
          <p:cNvSpPr/>
          <p:nvPr/>
        </p:nvSpPr>
        <p:spPr>
          <a:xfrm>
            <a:off x="566928" y="218998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5" y="2255825"/>
            <a:ext cx="142646" cy="14264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50976" y="202996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theft becomes the new normal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258568" y="2327148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2514600" y="19842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28" name="Shape 21"/>
          <p:cNvSpPr/>
          <p:nvPr/>
        </p:nvSpPr>
        <p:spPr>
          <a:xfrm>
            <a:off x="2624328" y="21899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0165" y="2255825"/>
            <a:ext cx="142646" cy="14264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008376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snapshot from months ago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63440" y="1984248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32" name="Shape 24"/>
          <p:cNvSpPr/>
          <p:nvPr/>
        </p:nvSpPr>
        <p:spPr>
          <a:xfrm>
            <a:off x="4773168" y="218998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005" y="2255825"/>
            <a:ext cx="142646" cy="14264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157216" y="202996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switches off a data feed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464808" y="2327148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6720840" y="19842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37" name="Shape 28"/>
          <p:cNvSpPr/>
          <p:nvPr/>
        </p:nvSpPr>
        <p:spPr>
          <a:xfrm>
            <a:off x="6830568" y="21899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405" y="2255825"/>
            <a:ext cx="142646" cy="14264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214616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raises an alert within 15 minutes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2825496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41" name="Shape 31"/>
          <p:cNvSpPr/>
          <p:nvPr/>
        </p:nvSpPr>
        <p:spPr>
          <a:xfrm>
            <a:off x="566928" y="303123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5" y="3097073"/>
            <a:ext cx="142646" cy="14264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50976" y="2871216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makes something up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2258568" y="3168396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34"/>
          <p:cNvSpPr/>
          <p:nvPr/>
        </p:nvSpPr>
        <p:spPr>
          <a:xfrm>
            <a:off x="2514600" y="2825496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46" name="Shape 35"/>
          <p:cNvSpPr/>
          <p:nvPr/>
        </p:nvSpPr>
        <p:spPr>
          <a:xfrm>
            <a:off x="2624328" y="303123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0165" y="3097073"/>
            <a:ext cx="142646" cy="142646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3008376" y="2871216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rewords facts and never edits scores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4663440" y="2825496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50" name="Shape 38"/>
          <p:cNvSpPr/>
          <p:nvPr/>
        </p:nvSpPr>
        <p:spPr>
          <a:xfrm>
            <a:off x="4773168" y="303123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9005" y="3097073"/>
            <a:ext cx="142646" cy="14264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5157216" y="2871216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Work-time data gets misused</a:t>
            </a:r>
            <a:endParaRPr lang="en-US" sz="1100" dirty="0"/>
          </a:p>
        </p:txBody>
      </p:sp>
      <p:sp>
        <p:nvSpPr>
          <p:cNvPr id="53" name="Shape 40"/>
          <p:cNvSpPr/>
          <p:nvPr/>
        </p:nvSpPr>
        <p:spPr>
          <a:xfrm>
            <a:off x="6464808" y="3168396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41"/>
          <p:cNvSpPr/>
          <p:nvPr/>
        </p:nvSpPr>
        <p:spPr>
          <a:xfrm>
            <a:off x="6720840" y="2825496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55" name="Shape 42"/>
          <p:cNvSpPr/>
          <p:nvPr/>
        </p:nvSpPr>
        <p:spPr>
          <a:xfrm>
            <a:off x="6830568" y="303123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6405" y="3097073"/>
            <a:ext cx="142646" cy="14264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214616" y="2871216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roles, logged access, two-person approval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457200" y="3666744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59" name="Shape 45"/>
          <p:cNvSpPr/>
          <p:nvPr/>
        </p:nvSpPr>
        <p:spPr>
          <a:xfrm>
            <a:off x="566928" y="3872484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5" y="3938321"/>
            <a:ext cx="142646" cy="142646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950976" y="3712464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is cleaner than real data</a:t>
            </a:r>
            <a:endParaRPr lang="en-US" sz="1100" dirty="0"/>
          </a:p>
        </p:txBody>
      </p:sp>
      <p:sp>
        <p:nvSpPr>
          <p:cNvPr id="62" name="Shape 47"/>
          <p:cNvSpPr/>
          <p:nvPr/>
        </p:nvSpPr>
        <p:spPr>
          <a:xfrm>
            <a:off x="2258568" y="4009644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3" name="Shape 48"/>
          <p:cNvSpPr/>
          <p:nvPr/>
        </p:nvSpPr>
        <p:spPr>
          <a:xfrm>
            <a:off x="2514600" y="3666744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64" name="Shape 49"/>
          <p:cNvSpPr/>
          <p:nvPr/>
        </p:nvSpPr>
        <p:spPr>
          <a:xfrm>
            <a:off x="2624328" y="387248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0165" y="3938321"/>
            <a:ext cx="142646" cy="142646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3008376" y="3712464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partner’s past logs before going live</a:t>
            </a:r>
            <a:endParaRPr lang="en-US" sz="1100" dirty="0"/>
          </a:p>
        </p:txBody>
      </p:sp>
      <p:sp>
        <p:nvSpPr>
          <p:cNvPr id="67" name="Shape 51"/>
          <p:cNvSpPr/>
          <p:nvPr/>
        </p:nvSpPr>
        <p:spPr>
          <a:xfrm>
            <a:off x="4663440" y="3666744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68" name="Shape 52"/>
          <p:cNvSpPr/>
          <p:nvPr/>
        </p:nvSpPr>
        <p:spPr>
          <a:xfrm>
            <a:off x="4773168" y="3872484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9005" y="3938321"/>
            <a:ext cx="142646" cy="142646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5157216" y="3712464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fails on the day</a:t>
            </a:r>
            <a:endParaRPr lang="en-US" sz="1100" dirty="0"/>
          </a:p>
        </p:txBody>
      </p:sp>
      <p:sp>
        <p:nvSpPr>
          <p:cNvPr id="71" name="Shape 54"/>
          <p:cNvSpPr/>
          <p:nvPr/>
        </p:nvSpPr>
        <p:spPr>
          <a:xfrm>
            <a:off x="6464808" y="4009644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2" name="Shape 55"/>
          <p:cNvSpPr/>
          <p:nvPr/>
        </p:nvSpPr>
        <p:spPr>
          <a:xfrm>
            <a:off x="6720840" y="3666744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sp>
        <p:nvSpPr>
          <p:cNvPr id="73" name="Shape 56"/>
          <p:cNvSpPr/>
          <p:nvPr/>
        </p:nvSpPr>
        <p:spPr>
          <a:xfrm>
            <a:off x="6830568" y="387248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405" y="3938321"/>
            <a:ext cx="142646" cy="142646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7214616" y="3712464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setup and a recorded backup video</a:t>
            </a:r>
            <a:endParaRPr lang="en-US" sz="11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Legality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Our reading of the main laws. A lawyer would review this before any real deployment.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tellTale does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38074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6" y="1442192"/>
            <a:ext cx="133137" cy="1331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13258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Act, s.7(i)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1508760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12801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71216" y="132588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processing for employment and to stop corporate spying, without consent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87568" y="1508760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97880" y="128016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25896" y="132588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on company devices, with notice to staff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181051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191109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6" y="1972544"/>
            <a:ext cx="133137" cy="13313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32688" y="1856232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Act, s.8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532888" y="2039112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743200" y="181051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871216" y="185623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security and deletion once the purpose ends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687568" y="2039112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897880" y="181051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025896" y="1856232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retention limits and automatic deletion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57200" y="2340864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28" name="Shape 24"/>
          <p:cNvSpPr/>
          <p:nvPr/>
        </p:nvSpPr>
        <p:spPr>
          <a:xfrm>
            <a:off x="566928" y="244144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2502896"/>
            <a:ext cx="133137" cy="13313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32688" y="238658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2532888" y="2569464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2743200" y="234086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2871216" y="238658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and proportionate; strict on biometrics and automated decisions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687568" y="2569464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5897880" y="2340864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025896" y="2386584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details only, no biometrics, a person decides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57200" y="2871216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8" name="Shape 33"/>
          <p:cNvSpPr/>
          <p:nvPr/>
        </p:nvSpPr>
        <p:spPr>
          <a:xfrm>
            <a:off x="566928" y="29718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6" y="3033248"/>
            <a:ext cx="133137" cy="13313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32688" y="2916936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works councils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532888" y="3099816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2743200" y="2871216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2871216" y="291693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need agreement with employee representatives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687568" y="3099816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5897880" y="2871216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6025896" y="2916936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a draft agreement and a list of apps to exclude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57200" y="340156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48" name="Shape 42"/>
          <p:cNvSpPr/>
          <p:nvPr/>
        </p:nvSpPr>
        <p:spPr>
          <a:xfrm>
            <a:off x="566928" y="350215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6" y="3563600"/>
            <a:ext cx="133137" cy="133137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932688" y="34472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2532888" y="36301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2743200" y="340156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2871216" y="344728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Company-device monitoring with notice and acknowledgement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5687568" y="3630168"/>
            <a:ext cx="21031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48"/>
          <p:cNvSpPr/>
          <p:nvPr/>
        </p:nvSpPr>
        <p:spPr>
          <a:xfrm>
            <a:off x="5897880" y="340156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6025896" y="344728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at onboarding, policy kept on record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457200" y="39593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per country, chosen at setup and changed only with two approvals</a:t>
            </a:r>
            <a:endParaRPr lang="en-US" sz="1150" dirty="0"/>
          </a:p>
        </p:txBody>
      </p:sp>
      <p:sp>
        <p:nvSpPr>
          <p:cNvPr id="58" name="Shape 51"/>
          <p:cNvSpPr/>
          <p:nvPr/>
        </p:nvSpPr>
        <p:spPr>
          <a:xfrm>
            <a:off x="45720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/>
        </p:spPr>
      </p:sp>
      <p:sp>
        <p:nvSpPr>
          <p:cNvPr id="59" name="Shape 52"/>
          <p:cNvSpPr/>
          <p:nvPr/>
        </p:nvSpPr>
        <p:spPr>
          <a:xfrm>
            <a:off x="566928" y="4306824"/>
            <a:ext cx="256032" cy="256032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76" y="4368272"/>
            <a:ext cx="133137" cy="133137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932688" y="42519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and US</a:t>
            </a:r>
            <a:endParaRPr lang="en-US" sz="11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256032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63" name="Shape 55"/>
          <p:cNvSpPr/>
          <p:nvPr/>
        </p:nvSpPr>
        <p:spPr>
          <a:xfrm>
            <a:off x="2670048" y="430682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1496" y="4368272"/>
            <a:ext cx="133137" cy="133137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3035808" y="42519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1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regular screenshots</a:t>
            </a:r>
            <a:endParaRPr lang="en-US" sz="1100" dirty="0"/>
          </a:p>
        </p:txBody>
      </p:sp>
      <p:sp>
        <p:nvSpPr>
          <p:cNvPr id="66" name="Shape 57"/>
          <p:cNvSpPr/>
          <p:nvPr/>
        </p:nvSpPr>
        <p:spPr>
          <a:xfrm>
            <a:off x="466344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67" name="Shape 58"/>
          <p:cNvSpPr/>
          <p:nvPr/>
        </p:nvSpPr>
        <p:spPr>
          <a:xfrm>
            <a:off x="4773168" y="4306824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4616" y="4368272"/>
            <a:ext cx="133137" cy="133137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138928" y="42519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agreement</a:t>
            </a:r>
            <a:endParaRPr lang="en-US" sz="1100" dirty="0"/>
          </a:p>
        </p:txBody>
      </p:sp>
      <p:sp>
        <p:nvSpPr>
          <p:cNvPr id="70" name="Shape 60"/>
          <p:cNvSpPr/>
          <p:nvPr/>
        </p:nvSpPr>
        <p:spPr>
          <a:xfrm>
            <a:off x="676656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71" name="Shape 61"/>
          <p:cNvSpPr/>
          <p:nvPr/>
        </p:nvSpPr>
        <p:spPr>
          <a:xfrm>
            <a:off x="6876288" y="4306824"/>
            <a:ext cx="256032" cy="256032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7736" y="4368272"/>
            <a:ext cx="133137" cy="133137"/>
          </a:xfrm>
          <a:prstGeom prst="rect">
            <a:avLst/>
          </a:prstGeom>
        </p:spPr>
      </p:pic>
      <p:sp>
        <p:nvSpPr>
          <p:cNvPr id="73" name="Text 62"/>
          <p:cNvSpPr txBox="1"/>
          <p:nvPr/>
        </p:nvSpPr>
        <p:spPr>
          <a:xfrm>
            <a:off x="7242048" y="42519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only</a:t>
            </a:r>
            <a:endParaRPr lang="en-US" sz="11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workforce part</a:t>
            </a:r>
            <a:endParaRPr lang="en-US" sz="110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Mitigata, and what comes next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One case file serves three of Mitigata’s business areas.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194560" cy="1783080"/>
          </a:xfrm>
          <a:prstGeom prst="roundRect">
            <a:avLst>
              <a:gd name="adj" fmla="val 4103"/>
            </a:avLst>
          </a:prstGeom>
          <a:solidFill>
            <a:srgbClr val="009A65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27101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66" y="1371966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17647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tellTale case file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2066544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timeline, score breakdown and actions taken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51760" y="20345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80360" y="1371600"/>
            <a:ext cx="0" cy="1325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80360" y="137160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108960" y="114300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218688" y="12344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525" y="1300277"/>
            <a:ext cx="142646" cy="1426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02736" y="1188720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operations:  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120640" y="1143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case per account instead of many alerts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880360" y="2029968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108960" y="180136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19" name="Shape 15"/>
          <p:cNvSpPr/>
          <p:nvPr/>
        </p:nvSpPr>
        <p:spPr>
          <a:xfrm>
            <a:off x="3218688" y="189280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25" y="1958645"/>
            <a:ext cx="142646" cy="14264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602736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insurance:  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120640" y="1801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record that can support a claim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880360" y="2688336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3108960" y="245973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5" name="Shape 20"/>
          <p:cNvSpPr/>
          <p:nvPr/>
        </p:nvSpPr>
        <p:spPr>
          <a:xfrm>
            <a:off x="3218688" y="25511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525" y="2617013"/>
            <a:ext cx="142646" cy="14264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602736" y="250545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 India:  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120640" y="24597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only activity details, in line with the DPDP Act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3108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3355848"/>
            <a:ext cx="1906524" cy="731520"/>
          </a:xfrm>
          <a:prstGeom prst="roundRect">
            <a:avLst>
              <a:gd name="adj" fmla="val 10000"/>
            </a:avLst>
          </a:prstGeom>
          <a:solidFill>
            <a:srgbClr val="009A65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85216" y="3401568"/>
            <a:ext cx="16870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competition build</a:t>
            </a:r>
            <a:endParaRPr lang="en-US" sz="11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engine, console, AI assistant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2382012" y="372160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2564892" y="3355848"/>
            <a:ext cx="1906524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2692908" y="3401568"/>
            <a:ext cx="16870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1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 and five pilot audits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489704" y="372160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4672584" y="3355848"/>
            <a:ext cx="1906524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800600" y="3401568"/>
            <a:ext cx="16870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1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app, workforce part, SOC 2 audit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6597396" y="3721608"/>
            <a:ext cx="16459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6780276" y="3355848"/>
            <a:ext cx="1906524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908292" y="3401568"/>
            <a:ext cx="16870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13–24</a:t>
            </a:r>
            <a:endParaRPr lang="en-US" sz="11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service accounts, EU launch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457200" y="4224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plan: release the sequence-scoring library and the company simulator.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09A6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984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" y="9601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Purple Crocs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41732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1143000"/>
            <a:ext cx="0" cy="5486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14300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46120" y="16916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74720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CE7F3"/>
          </a:solidFill>
          <a:ln/>
        </p:spPr>
      </p:sp>
      <p:sp>
        <p:nvSpPr>
          <p:cNvPr id="12" name="Shape 9"/>
          <p:cNvSpPr/>
          <p:nvPr/>
        </p:nvSpPr>
        <p:spPr>
          <a:xfrm>
            <a:off x="3584448" y="996696"/>
            <a:ext cx="292608" cy="292608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674" y="1066922"/>
            <a:ext cx="152156" cy="1521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86784" y="9601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Gupta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474720" y="14630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16" name="Shape 12"/>
          <p:cNvSpPr/>
          <p:nvPr/>
        </p:nvSpPr>
        <p:spPr>
          <a:xfrm>
            <a:off x="3584448" y="1545336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674" y="1615562"/>
            <a:ext cx="152156" cy="1521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86784" y="1508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Aankhi Roy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2103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235915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24505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2516429"/>
            <a:ext cx="142646" cy="14264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400" y="2359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sei.cmu.edu/library/insider-threat-test-datase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CMU CERT Insider Threat Test Dataset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35915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25" name="Shape 19"/>
          <p:cNvSpPr/>
          <p:nvPr/>
        </p:nvSpPr>
        <p:spPr>
          <a:xfrm>
            <a:off x="4754880" y="24505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717" y="2516429"/>
            <a:ext cx="142646" cy="14264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0640" y="2359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www.ieee-security.org/TC/SPW2013/papers/data/5017a098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Glasser and Lindauer, insider threat data, 2013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57200" y="290779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/>
        </p:spPr>
      </p:sp>
      <p:sp>
        <p:nvSpPr>
          <p:cNvPr id="29" name="Shape 22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rgbClr val="009A6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7" y="3065069"/>
            <a:ext cx="142646" cy="1426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" y="2907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users.cs.utah.edu/~lifeifei/papers/deeplog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 et al., DeepLog log anomaly detection, 2017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4663440" y="290779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CE7F3"/>
          </a:solidFill>
          <a:ln/>
        </p:spPr>
      </p:sp>
      <p:sp>
        <p:nvSpPr>
          <p:cNvPr id="33" name="Shape 25"/>
          <p:cNvSpPr/>
          <p:nvPr/>
        </p:nvSpPr>
        <p:spPr>
          <a:xfrm>
            <a:off x="4754880" y="2999232"/>
            <a:ext cx="274320" cy="27432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0717" y="3065069"/>
            <a:ext cx="142646" cy="14264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120640" y="2907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arxiv.org/abs/2302.1217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Greshake et al., indirect prompt injection, 2023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457200" y="345643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</p:sp>
      <p:sp>
        <p:nvSpPr>
          <p:cNvPr id="37" name="Shape 28"/>
          <p:cNvSpPr/>
          <p:nvPr/>
        </p:nvSpPr>
        <p:spPr>
          <a:xfrm>
            <a:off x="548640" y="354787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7" y="3613709"/>
            <a:ext cx="142646" cy="14264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14400" y="3456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arxiv.org/abs/2005.124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Survey of deep learning for insider threat, 2020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4663440" y="345643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</p:sp>
      <p:sp>
        <p:nvSpPr>
          <p:cNvPr id="41" name="Shape 31"/>
          <p:cNvSpPr/>
          <p:nvPr/>
        </p:nvSpPr>
        <p:spPr>
          <a:xfrm>
            <a:off x="4754880" y="354787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0717" y="3613709"/>
            <a:ext cx="142646" cy="14264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5120640" y="3456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https://attack.mitre.or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MITRE ATT&amp;CK, attacker techniques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457200" y="400507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45" name="Shape 34"/>
          <p:cNvSpPr/>
          <p:nvPr/>
        </p:nvSpPr>
        <p:spPr>
          <a:xfrm>
            <a:off x="548640" y="40965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477" y="4162349"/>
            <a:ext cx="142646" cy="142646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14400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https://schema.ocsf.i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OCSF, open event schema</a:t>
            </a:r>
            <a:endParaRPr lang="en-US" sz="1150" dirty="0"/>
          </a:p>
        </p:txBody>
      </p:sp>
      <p:sp>
        <p:nvSpPr>
          <p:cNvPr id="48" name="Shape 36"/>
          <p:cNvSpPr/>
          <p:nvPr/>
        </p:nvSpPr>
        <p:spPr>
          <a:xfrm>
            <a:off x="4663440" y="400507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49" name="Shape 37"/>
          <p:cNvSpPr/>
          <p:nvPr/>
        </p:nvSpPr>
        <p:spPr>
          <a:xfrm>
            <a:off x="4754880" y="4096512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20717" y="4162349"/>
            <a:ext cx="142646" cy="142646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5120640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 link on the submission form</a:t>
            </a:r>
            <a:endParaRPr lang="en-US" sz="1150" dirty="0"/>
          </a:p>
        </p:txBody>
      </p:sp>
      <p:sp>
        <p:nvSpPr>
          <p:cNvPr id="52" name="Text 1"/>
          <p:cNvSpPr/>
          <p:nvPr>
            <p:ph idx="103" type="body" hasCustomPrompt="1"/>
          </p:nvPr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llTale Purple Crocs">
  <a:themeElements>
    <a:clrScheme name="tellTale Purple Crocs">
      <a:dk1>
        <a:srgbClr val="1E1B4B"/>
      </a:dk1>
      <a:lt1>
        <a:srgbClr val="FFFFFF"/>
      </a:lt1>
      <a:dk2>
        <a:srgbClr val="334155"/>
      </a:dk2>
      <a:lt2>
        <a:srgbClr val="ECFDF5"/>
      </a:lt2>
      <a:accent1>
        <a:srgbClr val="009A65"/>
      </a:accent1>
      <a:accent2>
        <a:srgbClr val="0D9488"/>
      </a:accent2>
      <a:accent3>
        <a:srgbClr val="EA580C"/>
      </a:accent3>
      <a:accent4>
        <a:srgbClr val="DB2777"/>
      </a:accent4>
      <a:accent5>
        <a:srgbClr val="2563EB"/>
      </a:accent5>
      <a:accent6>
        <a:srgbClr val="D97706"/>
      </a:accent6>
      <a:hlink>
        <a:srgbClr val="2563EB"/>
      </a:hlink>
      <a:folHlink>
        <a:srgbClr val="047857"/>
      </a:folHlink>
    </a:clrScheme>
    <a:fontScheme name="tellTale Purple Cro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tellTale - Team Purple Crocs - CyberForge</dc:title>
  <dc:subject>PptxGenJS Presentation</dc:subject>
  <dc:creator>Team Purple Crocs</dc:creator>
  <cp:lastModifiedBy>Team Purple Crocs</cp:lastModifiedBy>
  <cp:revision>1</cp:revision>
  <dcterms:created xsi:type="dcterms:W3CDTF">2026-10-17T06:20:33Z</dcterms:created>
  <dcterms:modified xsi:type="dcterms:W3CDTF">2026-10-17T06:20:33Z</dcterms:modified>
</cp:coreProperties>
</file>